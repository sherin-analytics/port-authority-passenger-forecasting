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media/image10.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2.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8.svg" ContentType="image/svg+xml"/>
  <Override PartName="/ppt/media/image9.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67" r:id="rId3"/>
    <p:sldId id="265" r:id="rId4"/>
    <p:sldId id="275" r:id="rId5"/>
    <p:sldId id="264" r:id="rId6"/>
    <p:sldId id="273" r:id="rId7"/>
    <p:sldId id="268" r:id="rId8"/>
    <p:sldId id="276" r:id="rId9"/>
    <p:sldId id="274" r:id="rId10"/>
    <p:sldId id="269" r:id="rId11"/>
    <p:sldId id="270" r:id="rId12"/>
    <p:sldId id="263" r:id="rId13"/>
    <p:sldId id="271" r:id="rId14"/>
    <p:sldId id="272" r:id="rId15"/>
  </p:sldIdLst>
  <p:sldSz cx="12192000" cy="6858000"/>
  <p:notesSz cx="6858000" cy="9144000"/>
  <p:custDataLst>
    <p:tags r:id="rId1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C8B47D-9BEC-02BA-FA74-CBA8E7B9E158}" v="242" dt="2026-05-07T00:24:05.961"/>
    <p1510:client id="{4A45EA27-3A28-CD1B-2169-E1FE2000919A}" v="4" dt="2026-05-07T01:05:48.416"/>
    <p1510:client id="{8F78BEE4-403A-4FBC-E33F-B92B1EB25648}" v="312" dt="2026-05-06T23:27:53.81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tags" Target="tags/tag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microsoft.com/office/2015/10/relationships/revisionInfo" Target="revisionInfo.xml"/></Relationships>
</file>

<file path=ppt/diagrams/_rels/data1.xml.rels><?xml version='1.0' encoding='UTF-8' standalone='yes'?>
<Relationships xmlns="http://schemas.openxmlformats.org/package/2006/relationships"><Relationship Id="rId1" Type="http://schemas.openxmlformats.org/officeDocument/2006/relationships/image" Target="../media/image2.svg"/><Relationship Id="rId2" Type="http://schemas.openxmlformats.org/officeDocument/2006/relationships/image" Target="../media/image3.svg"/><Relationship Id="rId3" Type="http://schemas.openxmlformats.org/officeDocument/2006/relationships/image" Target="../media/image4.svg"/><Relationship Id="rId4" Type="http://schemas.openxmlformats.org/officeDocument/2006/relationships/image" Target="../media/image5.svg"/><Relationship Id="rId5" Type="http://schemas.openxmlformats.org/officeDocument/2006/relationships/image" Target="../media/image6.svg"/></Relationships>
</file>

<file path=ppt/diagrams/_rels/data3.xml.rels><?xml version='1.0' encoding='UTF-8' standalone='yes'?>
<Relationships xmlns="http://schemas.openxmlformats.org/package/2006/relationships"><Relationship Id="rId1" Type="http://schemas.openxmlformats.org/officeDocument/2006/relationships/image" Target="../media/image8.svg"/><Relationship Id="rId2" Type="http://schemas.openxmlformats.org/officeDocument/2006/relationships/image" Target="../media/image9.svg"/><Relationship Id="rId3" Type="http://schemas.openxmlformats.org/officeDocument/2006/relationships/image" Target="../media/image10.svg"/></Relationships>
</file>

<file path=ppt/diagrams/_rels/data4.xml.rels><?xml version='1.0' encoding='UTF-8' standalone='yes'?>
<Relationships xmlns="http://schemas.openxmlformats.org/package/2006/relationships"><Relationship Id="rId1" Type="http://schemas.openxmlformats.org/officeDocument/2006/relationships/image" Target="../media/image14.svg"/><Relationship Id="rId2" Type="http://schemas.openxmlformats.org/officeDocument/2006/relationships/image" Target="../media/image15.svg"/><Relationship Id="rId3" Type="http://schemas.openxmlformats.org/officeDocument/2006/relationships/image" Target="../media/image16.svg"/><Relationship Id="rId4" Type="http://schemas.openxmlformats.org/officeDocument/2006/relationships/image" Target="../media/image17.svg"/></Relationships>
</file>

<file path=ppt/diagrams/_rels/drawing1.xml.rels><?xml version='1.0' encoding='UTF-8' standalone='yes'?>
<Relationships xmlns="http://schemas.openxmlformats.org/package/2006/relationships"><Relationship Id="rId1" Type="http://schemas.openxmlformats.org/officeDocument/2006/relationships/image" Target="../media/image2.svg"/><Relationship Id="rId2" Type="http://schemas.openxmlformats.org/officeDocument/2006/relationships/image" Target="../media/image3.svg"/><Relationship Id="rId3" Type="http://schemas.openxmlformats.org/officeDocument/2006/relationships/image" Target="../media/image4.svg"/><Relationship Id="rId4" Type="http://schemas.openxmlformats.org/officeDocument/2006/relationships/image" Target="../media/image5.svg"/><Relationship Id="rId5" Type="http://schemas.openxmlformats.org/officeDocument/2006/relationships/image" Target="../media/image6.svg"/></Relationships>
</file>

<file path=ppt/diagrams/_rels/drawing3.xml.rels><?xml version='1.0' encoding='UTF-8' standalone='yes'?>
<Relationships xmlns="http://schemas.openxmlformats.org/package/2006/relationships"><Relationship Id="rId1" Type="http://schemas.openxmlformats.org/officeDocument/2006/relationships/image" Target="../media/image8.svg"/><Relationship Id="rId2" Type="http://schemas.openxmlformats.org/officeDocument/2006/relationships/image" Target="../media/image9.svg"/><Relationship Id="rId3" Type="http://schemas.openxmlformats.org/officeDocument/2006/relationships/image" Target="../media/image10.svg"/></Relationships>
</file>

<file path=ppt/diagrams/_rels/drawing4.xml.rels><?xml version='1.0' encoding='UTF-8' standalone='yes'?>
<Relationships xmlns="http://schemas.openxmlformats.org/package/2006/relationships"><Relationship Id="rId1" Type="http://schemas.openxmlformats.org/officeDocument/2006/relationships/image" Target="../media/image14.svg"/><Relationship Id="rId2" Type="http://schemas.openxmlformats.org/officeDocument/2006/relationships/image" Target="../media/image15.svg"/><Relationship Id="rId3" Type="http://schemas.openxmlformats.org/officeDocument/2006/relationships/image" Target="../media/image16.svg"/><Relationship Id="rId4" Type="http://schemas.openxmlformats.org/officeDocument/2006/relationships/image" Target="../media/image17.svg"/></Relationships>
</file>

<file path=ppt/diagrams/colors1.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4_1">
  <dgm:title val=""/>
  <dgm:desc val=""/>
  <dgm:catLst>
    <dgm:cat type="accent4" pri="11100"/>
  </dgm:catLst>
  <dgm:styleLbl name="node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4">
        <a:shade val="80000"/>
      </a:schemeClr>
    </dgm:linClrLst>
    <dgm:effectClrLst/>
    <dgm:txLinClrLst/>
    <dgm:txFillClrLst/>
    <dgm:txEffectClrLst/>
  </dgm:styleLbl>
  <dgm:styleLbl name="node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f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align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b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dgm:txEffectClrLst/>
  </dgm:styleLbl>
  <dgm:styleLbl name="parChTrans2D2">
    <dgm:fillClrLst meth="repeat">
      <a:schemeClr val="accent4"/>
    </dgm:fillClrLst>
    <dgm:linClrLst meth="repeat">
      <a:schemeClr val="accent4"/>
    </dgm:linClrLst>
    <dgm:effectClrLst/>
    <dgm:txLinClrLst/>
    <dgm:txFillClrLst/>
    <dgm:txEffectClrLst/>
  </dgm:styleLbl>
  <dgm:styleLbl name="parChTrans2D3">
    <dgm:fillClrLst meth="repeat">
      <a:schemeClr val="accent4"/>
    </dgm:fillClrLst>
    <dgm:linClrLst meth="repeat">
      <a:schemeClr val="accent4"/>
    </dgm:linClrLst>
    <dgm:effectClrLst/>
    <dgm:txLinClrLst/>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con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align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trAlignAcc1">
    <dgm:fillClrLst meth="repeat">
      <a:schemeClr val="accent4">
        <a:alpha val="40000"/>
        <a:tint val="40000"/>
      </a:schemeClr>
    </dgm:fillClrLst>
    <dgm:linClrLst meth="repeat">
      <a:schemeClr val="accent4"/>
    </dgm:linClrLst>
    <dgm:effectClrLst/>
    <dgm:txLinClrLst/>
    <dgm:txFillClrLst meth="repeat">
      <a:schemeClr val="dk1"/>
    </dgm:txFillClrLst>
    <dgm:txEffectClrLst/>
  </dgm:styleLbl>
  <dgm:styleLbl name="b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fgAcc0">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2">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3">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4">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64B094B-E96A-4D7E-A981-EF5AB8D51131}" type="doc">
      <dgm:prSet loTypeId="urn:microsoft.com/office/officeart/2018/2/layout/IconVerticalSolidList" loCatId="icon" qsTypeId="urn:microsoft.com/office/officeart/2005/8/quickstyle/simple1" qsCatId="simple" csTypeId="urn:microsoft.com/office/officeart/2005/8/colors/accent4_2" csCatId="accent4" phldr="1"/>
      <dgm:spPr/>
      <dgm:t>
        <a:bodyPr/>
        <a:lstStyle/>
        <a:p>
          <a:endParaRPr lang="en-US"/>
        </a:p>
      </dgm:t>
    </dgm:pt>
    <dgm:pt modelId="{D6C3AE73-8367-4FF1-B477-27A0F741F90C}">
      <dgm:prSet/>
      <dgm:spPr/>
      <dgm:t>
        <a:bodyPr/>
        <a:lstStyle/>
        <a:p>
          <a:pPr>
            <a:lnSpc>
              <a:spcPct val="100000"/>
            </a:lnSpc>
          </a:pPr>
          <a:r>
            <a:rPr lang="en-US"/>
            <a:t>Passenger Forecast 2026 – 2030</a:t>
          </a:r>
        </a:p>
      </dgm:t>
    </dgm:pt>
    <dgm:pt modelId="{D19646DD-1F23-4962-BA87-8ED0B6F6036C}" type="parTrans" cxnId="{F2879FA3-0AED-49C0-A5A6-ED20B3D01FE3}">
      <dgm:prSet/>
      <dgm:spPr/>
      <dgm:t>
        <a:bodyPr/>
        <a:lstStyle/>
        <a:p>
          <a:endParaRPr lang="en-US"/>
        </a:p>
      </dgm:t>
    </dgm:pt>
    <dgm:pt modelId="{BB9674D8-61EC-492D-BB1B-A717C27395B6}" type="sibTrans" cxnId="{F2879FA3-0AED-49C0-A5A6-ED20B3D01FE3}">
      <dgm:prSet/>
      <dgm:spPr/>
      <dgm:t>
        <a:bodyPr/>
        <a:lstStyle/>
        <a:p>
          <a:endParaRPr lang="en-US"/>
        </a:p>
      </dgm:t>
    </dgm:pt>
    <dgm:pt modelId="{15A1E278-C8CB-4131-8912-9F0A57B6A950}">
      <dgm:prSet/>
      <dgm:spPr/>
      <dgm:t>
        <a:bodyPr/>
        <a:lstStyle/>
        <a:p>
          <a:pPr rtl="0">
            <a:lnSpc>
              <a:spcPct val="100000"/>
            </a:lnSpc>
          </a:pPr>
          <a:r>
            <a:rPr lang="en-US">
              <a:latin typeface="Bierstadt"/>
            </a:rPr>
            <a:t>Terminal</a:t>
          </a:r>
          <a:r>
            <a:rPr lang="en-US"/>
            <a:t> level weekly annual passenger demand using SARIMAX, ETS, and </a:t>
          </a:r>
          <a:r>
            <a:rPr lang="en-US">
              <a:latin typeface="Bierstadt"/>
            </a:rPr>
            <a:t>Prophet</a:t>
          </a:r>
          <a:endParaRPr lang="en-US"/>
        </a:p>
      </dgm:t>
    </dgm:pt>
    <dgm:pt modelId="{709820FC-6FAC-489F-98E4-F7F9FC3CDCD5}" type="parTrans" cxnId="{28A341FE-93E5-4BFD-93BE-B33D82192AED}">
      <dgm:prSet/>
      <dgm:spPr/>
      <dgm:t>
        <a:bodyPr/>
        <a:lstStyle/>
        <a:p>
          <a:endParaRPr lang="en-US"/>
        </a:p>
      </dgm:t>
    </dgm:pt>
    <dgm:pt modelId="{069F6463-0A71-4A0F-9BDA-BD8D0C74BEFB}" type="sibTrans" cxnId="{28A341FE-93E5-4BFD-93BE-B33D82192AED}">
      <dgm:prSet/>
      <dgm:spPr/>
      <dgm:t>
        <a:bodyPr/>
        <a:lstStyle/>
        <a:p>
          <a:endParaRPr lang="en-US"/>
        </a:p>
      </dgm:t>
    </dgm:pt>
    <dgm:pt modelId="{8CD89CF4-F629-403A-BBD7-6BD3687162B5}">
      <dgm:prSet/>
      <dgm:spPr/>
      <dgm:t>
        <a:bodyPr/>
        <a:lstStyle/>
        <a:p>
          <a:pPr>
            <a:lnSpc>
              <a:spcPct val="100000"/>
            </a:lnSpc>
          </a:pPr>
          <a:r>
            <a:rPr lang="en-US"/>
            <a:t>Key Drivers of Ridership</a:t>
          </a:r>
        </a:p>
      </dgm:t>
    </dgm:pt>
    <dgm:pt modelId="{12C4B4E9-291A-4BD3-ABDF-E84AB7A50F81}" type="parTrans" cxnId="{3230AE58-A203-4E47-A176-3C21AE1807C4}">
      <dgm:prSet/>
      <dgm:spPr/>
      <dgm:t>
        <a:bodyPr/>
        <a:lstStyle/>
        <a:p>
          <a:endParaRPr lang="en-US"/>
        </a:p>
      </dgm:t>
    </dgm:pt>
    <dgm:pt modelId="{909DDD14-D47A-4EAF-8D55-60BC278C7465}" type="sibTrans" cxnId="{3230AE58-A203-4E47-A176-3C21AE1807C4}">
      <dgm:prSet/>
      <dgm:spPr/>
      <dgm:t>
        <a:bodyPr/>
        <a:lstStyle/>
        <a:p>
          <a:endParaRPr lang="en-US"/>
        </a:p>
      </dgm:t>
    </dgm:pt>
    <dgm:pt modelId="{3D2CF57E-19A3-4068-A77F-7C32DA441C50}">
      <dgm:prSet/>
      <dgm:spPr/>
      <dgm:t>
        <a:bodyPr/>
        <a:lstStyle/>
        <a:p>
          <a:pPr rtl="0">
            <a:lnSpc>
              <a:spcPct val="100000"/>
            </a:lnSpc>
          </a:pPr>
          <a:r>
            <a:rPr lang="en-US">
              <a:latin typeface="Bierstadt"/>
            </a:rPr>
            <a:t>Multiple</a:t>
          </a:r>
          <a:r>
            <a:rPr lang="en-US"/>
            <a:t> Linear Regression  identifies </a:t>
          </a:r>
          <a:r>
            <a:rPr lang="en-US">
              <a:latin typeface="Bierstadt"/>
            </a:rPr>
            <a:t>Bus Count</a:t>
          </a:r>
          <a:r>
            <a:rPr lang="en-US"/>
            <a:t>, Temperature, and Snowfall as primary factors</a:t>
          </a:r>
        </a:p>
      </dgm:t>
    </dgm:pt>
    <dgm:pt modelId="{A3E8AD46-17B0-4AB8-BEB0-D0F0E9BDE191}" type="parTrans" cxnId="{65302AA6-7605-492B-85A9-C24B72770A5B}">
      <dgm:prSet/>
      <dgm:spPr/>
      <dgm:t>
        <a:bodyPr/>
        <a:lstStyle/>
        <a:p>
          <a:endParaRPr lang="en-US"/>
        </a:p>
      </dgm:t>
    </dgm:pt>
    <dgm:pt modelId="{C13A0DEB-1379-45FF-AA54-A4508C492C51}" type="sibTrans" cxnId="{65302AA6-7605-492B-85A9-C24B72770A5B}">
      <dgm:prSet/>
      <dgm:spPr/>
      <dgm:t>
        <a:bodyPr/>
        <a:lstStyle/>
        <a:p>
          <a:endParaRPr lang="en-US"/>
        </a:p>
      </dgm:t>
    </dgm:pt>
    <dgm:pt modelId="{44B1BA0A-4FA4-4AC0-9BE1-CB71118CCB89}">
      <dgm:prSet/>
      <dgm:spPr/>
      <dgm:t>
        <a:bodyPr/>
        <a:lstStyle/>
        <a:p>
          <a:pPr>
            <a:lnSpc>
              <a:spcPct val="100000"/>
            </a:lnSpc>
          </a:pPr>
          <a:r>
            <a:rPr lang="en-US"/>
            <a:t>Carrier Level Projections</a:t>
          </a:r>
        </a:p>
      </dgm:t>
    </dgm:pt>
    <dgm:pt modelId="{C3D10528-BE80-47F4-B643-76F6749B1F4C}" type="parTrans" cxnId="{D89C6C46-9E44-4820-8552-30BA5FCAED19}">
      <dgm:prSet/>
      <dgm:spPr/>
      <dgm:t>
        <a:bodyPr/>
        <a:lstStyle/>
        <a:p>
          <a:endParaRPr lang="en-US"/>
        </a:p>
      </dgm:t>
    </dgm:pt>
    <dgm:pt modelId="{3558EBE4-81A6-425B-830C-4CB666D959BF}" type="sibTrans" cxnId="{D89C6C46-9E44-4820-8552-30BA5FCAED19}">
      <dgm:prSet/>
      <dgm:spPr/>
      <dgm:t>
        <a:bodyPr/>
        <a:lstStyle/>
        <a:p>
          <a:endParaRPr lang="en-US"/>
        </a:p>
      </dgm:t>
    </dgm:pt>
    <dgm:pt modelId="{1C7086E7-21EE-4B58-A5A7-A8985457B466}">
      <dgm:prSet/>
      <dgm:spPr/>
      <dgm:t>
        <a:bodyPr/>
        <a:lstStyle/>
        <a:p>
          <a:pPr>
            <a:lnSpc>
              <a:spcPct val="100000"/>
            </a:lnSpc>
          </a:pPr>
          <a:r>
            <a:rPr lang="en-US"/>
            <a:t>Individual forecasts for 10 carriers using best-fit model per carrier</a:t>
          </a:r>
        </a:p>
      </dgm:t>
    </dgm:pt>
    <dgm:pt modelId="{E82DC00C-A9FB-4428-88AA-DC38B8088AB4}" type="parTrans" cxnId="{1223D56B-6D28-436D-8AEA-DF61DD21569D}">
      <dgm:prSet/>
      <dgm:spPr/>
      <dgm:t>
        <a:bodyPr/>
        <a:lstStyle/>
        <a:p>
          <a:endParaRPr lang="en-US"/>
        </a:p>
      </dgm:t>
    </dgm:pt>
    <dgm:pt modelId="{7312D333-7653-4BBE-ABCE-A9AAAE2FF980}" type="sibTrans" cxnId="{1223D56B-6D28-436D-8AEA-DF61DD21569D}">
      <dgm:prSet/>
      <dgm:spPr/>
      <dgm:t>
        <a:bodyPr/>
        <a:lstStyle/>
        <a:p>
          <a:endParaRPr lang="en-US"/>
        </a:p>
      </dgm:t>
    </dgm:pt>
    <dgm:pt modelId="{5A4E1244-3304-43F3-895D-0D131ECEBDF7}">
      <dgm:prSet/>
      <dgm:spPr/>
      <dgm:t>
        <a:bodyPr/>
        <a:lstStyle/>
        <a:p>
          <a:pPr>
            <a:lnSpc>
              <a:spcPct val="100000"/>
            </a:lnSpc>
          </a:pPr>
          <a:r>
            <a:rPr lang="en-US"/>
            <a:t>Busiest Weeks, Months, and Years</a:t>
          </a:r>
        </a:p>
      </dgm:t>
    </dgm:pt>
    <dgm:pt modelId="{2DD553FC-5A3F-49C4-994D-BC514EDF5FFE}" type="parTrans" cxnId="{AF21806E-28E1-4CFD-B1EC-7202D7993EFE}">
      <dgm:prSet/>
      <dgm:spPr/>
      <dgm:t>
        <a:bodyPr/>
        <a:lstStyle/>
        <a:p>
          <a:endParaRPr lang="en-US"/>
        </a:p>
      </dgm:t>
    </dgm:pt>
    <dgm:pt modelId="{EA0AC096-62E1-4123-860C-1B7058D6B2B7}" type="sibTrans" cxnId="{AF21806E-28E1-4CFD-B1EC-7202D7993EFE}">
      <dgm:prSet/>
      <dgm:spPr/>
      <dgm:t>
        <a:bodyPr/>
        <a:lstStyle/>
        <a:p>
          <a:endParaRPr lang="en-US"/>
        </a:p>
      </dgm:t>
    </dgm:pt>
    <dgm:pt modelId="{683439FF-51B7-4BC1-809C-F50AE61F5496}">
      <dgm:prSet/>
      <dgm:spPr/>
      <dgm:t>
        <a:bodyPr/>
        <a:lstStyle/>
        <a:p>
          <a:pPr>
            <a:lnSpc>
              <a:spcPct val="100000"/>
            </a:lnSpc>
          </a:pPr>
          <a:r>
            <a:rPr lang="en-US"/>
            <a:t>Peak Periods Identified</a:t>
          </a:r>
        </a:p>
      </dgm:t>
    </dgm:pt>
    <dgm:pt modelId="{67E09128-5FA2-4209-A0AC-F05EC5A02209}" type="parTrans" cxnId="{D98367FA-3EF5-41DE-9950-D6F352727C5C}">
      <dgm:prSet/>
      <dgm:spPr/>
      <dgm:t>
        <a:bodyPr/>
        <a:lstStyle/>
        <a:p>
          <a:endParaRPr lang="en-US"/>
        </a:p>
      </dgm:t>
    </dgm:pt>
    <dgm:pt modelId="{27C5C1CC-B010-4B18-97A9-3D3389261D4F}" type="sibTrans" cxnId="{D98367FA-3EF5-41DE-9950-D6F352727C5C}">
      <dgm:prSet/>
      <dgm:spPr/>
      <dgm:t>
        <a:bodyPr/>
        <a:lstStyle/>
        <a:p>
          <a:endParaRPr lang="en-US"/>
        </a:p>
      </dgm:t>
    </dgm:pt>
    <dgm:pt modelId="{35E3405F-0483-43A9-803D-CEB541E66231}">
      <dgm:prSet/>
      <dgm:spPr/>
      <dgm:t>
        <a:bodyPr/>
        <a:lstStyle/>
        <a:p>
          <a:pPr>
            <a:lnSpc>
              <a:spcPct val="100000"/>
            </a:lnSpc>
          </a:pPr>
          <a:r>
            <a:rPr lang="en-US"/>
            <a:t>Recovery vs 2019 Pre-Covid Baseline</a:t>
          </a:r>
        </a:p>
      </dgm:t>
    </dgm:pt>
    <dgm:pt modelId="{6C953A8A-BF9A-4F07-A0E4-0835E743DDD8}" type="parTrans" cxnId="{F82F2235-689D-4901-8A43-B4C8ADAFD293}">
      <dgm:prSet/>
      <dgm:spPr/>
      <dgm:t>
        <a:bodyPr/>
        <a:lstStyle/>
        <a:p>
          <a:endParaRPr lang="en-US"/>
        </a:p>
      </dgm:t>
    </dgm:pt>
    <dgm:pt modelId="{B734F768-00DD-4129-9490-E40167DE3EEA}" type="sibTrans" cxnId="{F82F2235-689D-4901-8A43-B4C8ADAFD293}">
      <dgm:prSet/>
      <dgm:spPr/>
      <dgm:t>
        <a:bodyPr/>
        <a:lstStyle/>
        <a:p>
          <a:endParaRPr lang="en-US"/>
        </a:p>
      </dgm:t>
    </dgm:pt>
    <dgm:pt modelId="{39D2852D-FF32-4989-8342-C9604F844F0F}">
      <dgm:prSet/>
      <dgm:spPr/>
      <dgm:t>
        <a:bodyPr/>
        <a:lstStyle/>
        <a:p>
          <a:pPr>
            <a:lnSpc>
              <a:spcPct val="100000"/>
            </a:lnSpc>
          </a:pPr>
          <a:r>
            <a:rPr lang="en-US"/>
            <a:t>Terminal reached 89% recovery in 2026, projected to fully surpass by 2029</a:t>
          </a:r>
        </a:p>
      </dgm:t>
    </dgm:pt>
    <dgm:pt modelId="{637F9F6F-FE48-415F-8AFC-4A641F9CA928}" type="parTrans" cxnId="{71504167-61E6-4C63-8A7C-18E43499D599}">
      <dgm:prSet/>
      <dgm:spPr/>
      <dgm:t>
        <a:bodyPr/>
        <a:lstStyle/>
        <a:p>
          <a:endParaRPr lang="en-US"/>
        </a:p>
      </dgm:t>
    </dgm:pt>
    <dgm:pt modelId="{C3F9FF35-2BB9-45C6-8CEF-B87A72517179}" type="sibTrans" cxnId="{71504167-61E6-4C63-8A7C-18E43499D599}">
      <dgm:prSet/>
      <dgm:spPr/>
      <dgm:t>
        <a:bodyPr/>
        <a:lstStyle/>
        <a:p>
          <a:endParaRPr lang="en-US"/>
        </a:p>
      </dgm:t>
    </dgm:pt>
    <dgm:pt modelId="{4931CD3A-615C-4E10-94DE-DF43AA5FF2E2}" type="pres">
      <dgm:prSet presAssocID="{164B094B-E96A-4D7E-A981-EF5AB8D51131}" presName="root" presStyleCnt="0">
        <dgm:presLayoutVars>
          <dgm:dir/>
          <dgm:resizeHandles val="exact"/>
        </dgm:presLayoutVars>
      </dgm:prSet>
      <dgm:spPr/>
    </dgm:pt>
    <dgm:pt modelId="{D9D62517-270C-45BE-8AC1-41D2812E6E39}" type="pres">
      <dgm:prSet presAssocID="{D6C3AE73-8367-4FF1-B477-27A0F741F90C}" presName="compNode" presStyleCnt="0"/>
      <dgm:spPr/>
    </dgm:pt>
    <dgm:pt modelId="{671DC003-99BB-4576-8BE9-74BB4E2E5394}" type="pres">
      <dgm:prSet presAssocID="{D6C3AE73-8367-4FF1-B477-27A0F741F90C}" presName="bgRect" presStyleLbl="bgShp" presStyleIdx="0" presStyleCnt="5"/>
      <dgm:spPr/>
    </dgm:pt>
    <dgm:pt modelId="{723C3F81-B1FA-4D81-88E7-15C1636BDD20}" type="pres">
      <dgm:prSet presAssocID="{D6C3AE73-8367-4FF1-B477-27A0F741F90C}"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Electric Car"/>
        </a:ext>
      </dgm:extLst>
    </dgm:pt>
    <dgm:pt modelId="{8BAA183E-9447-44CE-9925-D3BD1D867AA0}" type="pres">
      <dgm:prSet presAssocID="{D6C3AE73-8367-4FF1-B477-27A0F741F90C}" presName="spaceRect" presStyleCnt="0"/>
      <dgm:spPr/>
    </dgm:pt>
    <dgm:pt modelId="{1B6013A6-BFC7-442A-8008-64CDD25DEC92}" type="pres">
      <dgm:prSet presAssocID="{D6C3AE73-8367-4FF1-B477-27A0F741F90C}" presName="parTx" presStyleLbl="revTx" presStyleIdx="0" presStyleCnt="10">
        <dgm:presLayoutVars>
          <dgm:chMax val="0"/>
          <dgm:chPref val="0"/>
        </dgm:presLayoutVars>
      </dgm:prSet>
      <dgm:spPr/>
    </dgm:pt>
    <dgm:pt modelId="{7385BE4A-09C1-4422-820F-FB506D05B7B5}" type="pres">
      <dgm:prSet presAssocID="{D6C3AE73-8367-4FF1-B477-27A0F741F90C}" presName="desTx" presStyleLbl="revTx" presStyleIdx="1" presStyleCnt="10">
        <dgm:presLayoutVars/>
      </dgm:prSet>
      <dgm:spPr/>
    </dgm:pt>
    <dgm:pt modelId="{696B7AC7-0A06-46CF-B0BF-5EC0ECD323A1}" type="pres">
      <dgm:prSet presAssocID="{BB9674D8-61EC-492D-BB1B-A717C27395B6}" presName="sibTrans" presStyleCnt="0"/>
      <dgm:spPr/>
    </dgm:pt>
    <dgm:pt modelId="{FE27EF82-9BC4-4C91-90C6-E7C8EF46F2D8}" type="pres">
      <dgm:prSet presAssocID="{8CD89CF4-F629-403A-BBD7-6BD3687162B5}" presName="compNode" presStyleCnt="0"/>
      <dgm:spPr/>
    </dgm:pt>
    <dgm:pt modelId="{00B91081-0261-4735-B8DF-DADB391CDAC3}" type="pres">
      <dgm:prSet presAssocID="{8CD89CF4-F629-403A-BBD7-6BD3687162B5}" presName="bgRect" presStyleLbl="bgShp" presStyleIdx="1" presStyleCnt="5"/>
      <dgm:spPr/>
    </dgm:pt>
    <dgm:pt modelId="{ED6EDC87-DAA5-40AB-A2BB-84EC992BBB18}" type="pres">
      <dgm:prSet presAssocID="{8CD89CF4-F629-403A-BBD7-6BD3687162B5}"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Waterfall scene"/>
        </a:ext>
      </dgm:extLst>
    </dgm:pt>
    <dgm:pt modelId="{E472484E-7BE7-437E-8F31-941B1F38E7BE}" type="pres">
      <dgm:prSet presAssocID="{8CD89CF4-F629-403A-BBD7-6BD3687162B5}" presName="spaceRect" presStyleCnt="0"/>
      <dgm:spPr/>
    </dgm:pt>
    <dgm:pt modelId="{F834E9DE-0B6F-44F4-8B06-7AD0529A9F35}" type="pres">
      <dgm:prSet presAssocID="{8CD89CF4-F629-403A-BBD7-6BD3687162B5}" presName="parTx" presStyleLbl="revTx" presStyleIdx="2" presStyleCnt="10">
        <dgm:presLayoutVars>
          <dgm:chMax val="0"/>
          <dgm:chPref val="0"/>
        </dgm:presLayoutVars>
      </dgm:prSet>
      <dgm:spPr/>
    </dgm:pt>
    <dgm:pt modelId="{F2AA8D22-5544-4FEB-9F29-2525DF5439AA}" type="pres">
      <dgm:prSet presAssocID="{8CD89CF4-F629-403A-BBD7-6BD3687162B5}" presName="desTx" presStyleLbl="revTx" presStyleIdx="3" presStyleCnt="10">
        <dgm:presLayoutVars/>
      </dgm:prSet>
      <dgm:spPr/>
    </dgm:pt>
    <dgm:pt modelId="{82D28086-A09F-40AF-B3F5-DE6FDB8C951E}" type="pres">
      <dgm:prSet presAssocID="{909DDD14-D47A-4EAF-8D55-60BC278C7465}" presName="sibTrans" presStyleCnt="0"/>
      <dgm:spPr/>
    </dgm:pt>
    <dgm:pt modelId="{56D16A77-54DA-432B-8818-A95B2BA318DA}" type="pres">
      <dgm:prSet presAssocID="{44B1BA0A-4FA4-4AC0-9BE1-CB71118CCB89}" presName="compNode" presStyleCnt="0"/>
      <dgm:spPr/>
    </dgm:pt>
    <dgm:pt modelId="{941FAC42-6EC2-4A17-8CE3-1CA4200A84F4}" type="pres">
      <dgm:prSet presAssocID="{44B1BA0A-4FA4-4AC0-9BE1-CB71118CCB89}" presName="bgRect" presStyleLbl="bgShp" presStyleIdx="2" presStyleCnt="5"/>
      <dgm:spPr/>
    </dgm:pt>
    <dgm:pt modelId="{E0E2B36A-38D6-47D9-98D2-CC3BEC460D3F}" type="pres">
      <dgm:prSet presAssocID="{44B1BA0A-4FA4-4AC0-9BE1-CB71118CCB89}"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Truck"/>
        </a:ext>
      </dgm:extLst>
    </dgm:pt>
    <dgm:pt modelId="{A4A92167-C7A9-49D5-AF1C-007AFB83665E}" type="pres">
      <dgm:prSet presAssocID="{44B1BA0A-4FA4-4AC0-9BE1-CB71118CCB89}" presName="spaceRect" presStyleCnt="0"/>
      <dgm:spPr/>
    </dgm:pt>
    <dgm:pt modelId="{AD454728-89D8-48DC-9676-D85D7363CB7A}" type="pres">
      <dgm:prSet presAssocID="{44B1BA0A-4FA4-4AC0-9BE1-CB71118CCB89}" presName="parTx" presStyleLbl="revTx" presStyleIdx="4" presStyleCnt="10">
        <dgm:presLayoutVars>
          <dgm:chMax val="0"/>
          <dgm:chPref val="0"/>
        </dgm:presLayoutVars>
      </dgm:prSet>
      <dgm:spPr/>
    </dgm:pt>
    <dgm:pt modelId="{6966BCA5-18BE-4658-BC1F-487EC54CA464}" type="pres">
      <dgm:prSet presAssocID="{44B1BA0A-4FA4-4AC0-9BE1-CB71118CCB89}" presName="desTx" presStyleLbl="revTx" presStyleIdx="5" presStyleCnt="10">
        <dgm:presLayoutVars/>
      </dgm:prSet>
      <dgm:spPr/>
    </dgm:pt>
    <dgm:pt modelId="{3DFFC7F0-E449-4239-BF4E-7D54B0D525E9}" type="pres">
      <dgm:prSet presAssocID="{3558EBE4-81A6-425B-830C-4CB666D959BF}" presName="sibTrans" presStyleCnt="0"/>
      <dgm:spPr/>
    </dgm:pt>
    <dgm:pt modelId="{4213ECF0-150A-46AF-B11E-39C1AE035A0F}" type="pres">
      <dgm:prSet presAssocID="{5A4E1244-3304-43F3-895D-0D131ECEBDF7}" presName="compNode" presStyleCnt="0"/>
      <dgm:spPr/>
    </dgm:pt>
    <dgm:pt modelId="{AB00DB06-E7AA-40B1-B89C-E8DE9DE8AC5B}" type="pres">
      <dgm:prSet presAssocID="{5A4E1244-3304-43F3-895D-0D131ECEBDF7}" presName="bgRect" presStyleLbl="bgShp" presStyleIdx="3" presStyleCnt="5"/>
      <dgm:spPr/>
    </dgm:pt>
    <dgm:pt modelId="{BCDFB2B0-B96D-43D6-BF50-08F97F911DFB}" type="pres">
      <dgm:prSet presAssocID="{5A4E1244-3304-43F3-895D-0D131ECEBDF7}"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Highway scene"/>
        </a:ext>
      </dgm:extLst>
    </dgm:pt>
    <dgm:pt modelId="{238E7BF8-5BC5-46CF-B303-518A32055D36}" type="pres">
      <dgm:prSet presAssocID="{5A4E1244-3304-43F3-895D-0D131ECEBDF7}" presName="spaceRect" presStyleCnt="0"/>
      <dgm:spPr/>
    </dgm:pt>
    <dgm:pt modelId="{335A8BE1-A664-4279-A801-EECCEBEDBC36}" type="pres">
      <dgm:prSet presAssocID="{5A4E1244-3304-43F3-895D-0D131ECEBDF7}" presName="parTx" presStyleLbl="revTx" presStyleIdx="6" presStyleCnt="10">
        <dgm:presLayoutVars>
          <dgm:chMax val="0"/>
          <dgm:chPref val="0"/>
        </dgm:presLayoutVars>
      </dgm:prSet>
      <dgm:spPr/>
    </dgm:pt>
    <dgm:pt modelId="{3D4AC71D-AA96-4E18-AE72-84D5CB362ED4}" type="pres">
      <dgm:prSet presAssocID="{5A4E1244-3304-43F3-895D-0D131ECEBDF7}" presName="desTx" presStyleLbl="revTx" presStyleIdx="7" presStyleCnt="10">
        <dgm:presLayoutVars/>
      </dgm:prSet>
      <dgm:spPr/>
    </dgm:pt>
    <dgm:pt modelId="{652BA25B-6D38-4445-9DE0-E9A7AA4789A7}" type="pres">
      <dgm:prSet presAssocID="{EA0AC096-62E1-4123-860C-1B7058D6B2B7}" presName="sibTrans" presStyleCnt="0"/>
      <dgm:spPr/>
    </dgm:pt>
    <dgm:pt modelId="{EF5ACDF8-1E2A-4055-AD9A-CAC56E9F349D}" type="pres">
      <dgm:prSet presAssocID="{35E3405F-0483-43A9-803D-CEB541E66231}" presName="compNode" presStyleCnt="0"/>
      <dgm:spPr/>
    </dgm:pt>
    <dgm:pt modelId="{A4C12138-A116-4D08-BE9D-B792BAA48A98}" type="pres">
      <dgm:prSet presAssocID="{35E3405F-0483-43A9-803D-CEB541E66231}" presName="bgRect" presStyleLbl="bgShp" presStyleIdx="4" presStyleCnt="5"/>
      <dgm:spPr/>
    </dgm:pt>
    <dgm:pt modelId="{EC5EB741-8856-46AC-A453-CDD12A209CB2}" type="pres">
      <dgm:prSet presAssocID="{35E3405F-0483-43A9-803D-CEB541E66231}"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Checkmark"/>
        </a:ext>
      </dgm:extLst>
    </dgm:pt>
    <dgm:pt modelId="{035E69BD-978C-411D-AE89-0D78FA4EF83F}" type="pres">
      <dgm:prSet presAssocID="{35E3405F-0483-43A9-803D-CEB541E66231}" presName="spaceRect" presStyleCnt="0"/>
      <dgm:spPr/>
    </dgm:pt>
    <dgm:pt modelId="{CC56C6B6-AB33-4E6B-A7E4-CFBF6D08FC3D}" type="pres">
      <dgm:prSet presAssocID="{35E3405F-0483-43A9-803D-CEB541E66231}" presName="parTx" presStyleLbl="revTx" presStyleIdx="8" presStyleCnt="10">
        <dgm:presLayoutVars>
          <dgm:chMax val="0"/>
          <dgm:chPref val="0"/>
        </dgm:presLayoutVars>
      </dgm:prSet>
      <dgm:spPr/>
    </dgm:pt>
    <dgm:pt modelId="{508CC7F7-7E09-4F35-BAF3-476C6CFBF706}" type="pres">
      <dgm:prSet presAssocID="{35E3405F-0483-43A9-803D-CEB541E66231}" presName="desTx" presStyleLbl="revTx" presStyleIdx="9" presStyleCnt="10">
        <dgm:presLayoutVars/>
      </dgm:prSet>
      <dgm:spPr/>
    </dgm:pt>
  </dgm:ptLst>
  <dgm:cxnLst>
    <dgm:cxn modelId="{4BD50215-3D99-4E04-9BAE-14EA7339A03E}" type="presOf" srcId="{3D2CF57E-19A3-4068-A77F-7C32DA441C50}" destId="{F2AA8D22-5544-4FEB-9F29-2525DF5439AA}" srcOrd="0" destOrd="0" presId="urn:microsoft.com/office/officeart/2018/2/layout/IconVerticalSolidList"/>
    <dgm:cxn modelId="{5256632D-3783-4235-8D21-9765BB19FD65}" type="presOf" srcId="{39D2852D-FF32-4989-8342-C9604F844F0F}" destId="{508CC7F7-7E09-4F35-BAF3-476C6CFBF706}" srcOrd="0" destOrd="0" presId="urn:microsoft.com/office/officeart/2018/2/layout/IconVerticalSolidList"/>
    <dgm:cxn modelId="{46C1122E-7FC9-45F7-A493-13BFFA3D97D6}" type="presOf" srcId="{164B094B-E96A-4D7E-A981-EF5AB8D51131}" destId="{4931CD3A-615C-4E10-94DE-DF43AA5FF2E2}" srcOrd="0" destOrd="0" presId="urn:microsoft.com/office/officeart/2018/2/layout/IconVerticalSolidList"/>
    <dgm:cxn modelId="{F82F2235-689D-4901-8A43-B4C8ADAFD293}" srcId="{164B094B-E96A-4D7E-A981-EF5AB8D51131}" destId="{35E3405F-0483-43A9-803D-CEB541E66231}" srcOrd="4" destOrd="0" parTransId="{6C953A8A-BF9A-4F07-A0E4-0835E743DDD8}" sibTransId="{B734F768-00DD-4129-9490-E40167DE3EEA}"/>
    <dgm:cxn modelId="{C0C9C43C-ED6C-4D42-B73D-6869E0C55941}" type="presOf" srcId="{D6C3AE73-8367-4FF1-B477-27A0F741F90C}" destId="{1B6013A6-BFC7-442A-8008-64CDD25DEC92}" srcOrd="0" destOrd="0" presId="urn:microsoft.com/office/officeart/2018/2/layout/IconVerticalSolidList"/>
    <dgm:cxn modelId="{D89C6C46-9E44-4820-8552-30BA5FCAED19}" srcId="{164B094B-E96A-4D7E-A981-EF5AB8D51131}" destId="{44B1BA0A-4FA4-4AC0-9BE1-CB71118CCB89}" srcOrd="2" destOrd="0" parTransId="{C3D10528-BE80-47F4-B643-76F6749B1F4C}" sibTransId="{3558EBE4-81A6-425B-830C-4CB666D959BF}"/>
    <dgm:cxn modelId="{71504167-61E6-4C63-8A7C-18E43499D599}" srcId="{35E3405F-0483-43A9-803D-CEB541E66231}" destId="{39D2852D-FF32-4989-8342-C9604F844F0F}" srcOrd="0" destOrd="0" parTransId="{637F9F6F-FE48-415F-8AFC-4A641F9CA928}" sibTransId="{C3F9FF35-2BB9-45C6-8CEF-B87A72517179}"/>
    <dgm:cxn modelId="{E20BB749-2F2E-4F4F-915B-1477DDC80277}" type="presOf" srcId="{5A4E1244-3304-43F3-895D-0D131ECEBDF7}" destId="{335A8BE1-A664-4279-A801-EECCEBEDBC36}" srcOrd="0" destOrd="0" presId="urn:microsoft.com/office/officeart/2018/2/layout/IconVerticalSolidList"/>
    <dgm:cxn modelId="{1223D56B-6D28-436D-8AEA-DF61DD21569D}" srcId="{44B1BA0A-4FA4-4AC0-9BE1-CB71118CCB89}" destId="{1C7086E7-21EE-4B58-A5A7-A8985457B466}" srcOrd="0" destOrd="0" parTransId="{E82DC00C-A9FB-4428-88AA-DC38B8088AB4}" sibTransId="{7312D333-7653-4BBE-ABCE-A9AAAE2FF980}"/>
    <dgm:cxn modelId="{AF21806E-28E1-4CFD-B1EC-7202D7993EFE}" srcId="{164B094B-E96A-4D7E-A981-EF5AB8D51131}" destId="{5A4E1244-3304-43F3-895D-0D131ECEBDF7}" srcOrd="3" destOrd="0" parTransId="{2DD553FC-5A3F-49C4-994D-BC514EDF5FFE}" sibTransId="{EA0AC096-62E1-4123-860C-1B7058D6B2B7}"/>
    <dgm:cxn modelId="{1473C54F-7867-45F5-9E84-455E94678F26}" type="presOf" srcId="{683439FF-51B7-4BC1-809C-F50AE61F5496}" destId="{3D4AC71D-AA96-4E18-AE72-84D5CB362ED4}" srcOrd="0" destOrd="0" presId="urn:microsoft.com/office/officeart/2018/2/layout/IconVerticalSolidList"/>
    <dgm:cxn modelId="{6AC55278-3850-47A3-9D5A-F20376B94762}" type="presOf" srcId="{15A1E278-C8CB-4131-8912-9F0A57B6A950}" destId="{7385BE4A-09C1-4422-820F-FB506D05B7B5}" srcOrd="0" destOrd="0" presId="urn:microsoft.com/office/officeart/2018/2/layout/IconVerticalSolidList"/>
    <dgm:cxn modelId="{3230AE58-A203-4E47-A176-3C21AE1807C4}" srcId="{164B094B-E96A-4D7E-A981-EF5AB8D51131}" destId="{8CD89CF4-F629-403A-BBD7-6BD3687162B5}" srcOrd="1" destOrd="0" parTransId="{12C4B4E9-291A-4BD3-ABDF-E84AB7A50F81}" sibTransId="{909DDD14-D47A-4EAF-8D55-60BC278C7465}"/>
    <dgm:cxn modelId="{00E93F80-5A0F-43B2-B2F6-AF708F29042A}" type="presOf" srcId="{44B1BA0A-4FA4-4AC0-9BE1-CB71118CCB89}" destId="{AD454728-89D8-48DC-9676-D85D7363CB7A}" srcOrd="0" destOrd="0" presId="urn:microsoft.com/office/officeart/2018/2/layout/IconVerticalSolidList"/>
    <dgm:cxn modelId="{7D8CF3A1-9271-4830-8D3D-40976F74C6D4}" type="presOf" srcId="{8CD89CF4-F629-403A-BBD7-6BD3687162B5}" destId="{F834E9DE-0B6F-44F4-8B06-7AD0529A9F35}" srcOrd="0" destOrd="0" presId="urn:microsoft.com/office/officeart/2018/2/layout/IconVerticalSolidList"/>
    <dgm:cxn modelId="{F2879FA3-0AED-49C0-A5A6-ED20B3D01FE3}" srcId="{164B094B-E96A-4D7E-A981-EF5AB8D51131}" destId="{D6C3AE73-8367-4FF1-B477-27A0F741F90C}" srcOrd="0" destOrd="0" parTransId="{D19646DD-1F23-4962-BA87-8ED0B6F6036C}" sibTransId="{BB9674D8-61EC-492D-BB1B-A717C27395B6}"/>
    <dgm:cxn modelId="{65302AA6-7605-492B-85A9-C24B72770A5B}" srcId="{8CD89CF4-F629-403A-BBD7-6BD3687162B5}" destId="{3D2CF57E-19A3-4068-A77F-7C32DA441C50}" srcOrd="0" destOrd="0" parTransId="{A3E8AD46-17B0-4AB8-BEB0-D0F0E9BDE191}" sibTransId="{C13A0DEB-1379-45FF-AA54-A4508C492C51}"/>
    <dgm:cxn modelId="{2E369CE2-5800-4179-96F3-9E46EE528CB6}" type="presOf" srcId="{1C7086E7-21EE-4B58-A5A7-A8985457B466}" destId="{6966BCA5-18BE-4658-BC1F-487EC54CA464}" srcOrd="0" destOrd="0" presId="urn:microsoft.com/office/officeart/2018/2/layout/IconVerticalSolidList"/>
    <dgm:cxn modelId="{D98367FA-3EF5-41DE-9950-D6F352727C5C}" srcId="{5A4E1244-3304-43F3-895D-0D131ECEBDF7}" destId="{683439FF-51B7-4BC1-809C-F50AE61F5496}" srcOrd="0" destOrd="0" parTransId="{67E09128-5FA2-4209-A0AC-F05EC5A02209}" sibTransId="{27C5C1CC-B010-4B18-97A9-3D3389261D4F}"/>
    <dgm:cxn modelId="{DD9110FB-8B45-43A9-9DB1-9C8E657B1069}" type="presOf" srcId="{35E3405F-0483-43A9-803D-CEB541E66231}" destId="{CC56C6B6-AB33-4E6B-A7E4-CFBF6D08FC3D}" srcOrd="0" destOrd="0" presId="urn:microsoft.com/office/officeart/2018/2/layout/IconVerticalSolidList"/>
    <dgm:cxn modelId="{28A341FE-93E5-4BFD-93BE-B33D82192AED}" srcId="{D6C3AE73-8367-4FF1-B477-27A0F741F90C}" destId="{15A1E278-C8CB-4131-8912-9F0A57B6A950}" srcOrd="0" destOrd="0" parTransId="{709820FC-6FAC-489F-98E4-F7F9FC3CDCD5}" sibTransId="{069F6463-0A71-4A0F-9BDA-BD8D0C74BEFB}"/>
    <dgm:cxn modelId="{FF579F12-0802-4243-8E6C-59B441DD09F1}" type="presParOf" srcId="{4931CD3A-615C-4E10-94DE-DF43AA5FF2E2}" destId="{D9D62517-270C-45BE-8AC1-41D2812E6E39}" srcOrd="0" destOrd="0" presId="urn:microsoft.com/office/officeart/2018/2/layout/IconVerticalSolidList"/>
    <dgm:cxn modelId="{06969235-0147-4825-AD92-6F39892BE624}" type="presParOf" srcId="{D9D62517-270C-45BE-8AC1-41D2812E6E39}" destId="{671DC003-99BB-4576-8BE9-74BB4E2E5394}" srcOrd="0" destOrd="0" presId="urn:microsoft.com/office/officeart/2018/2/layout/IconVerticalSolidList"/>
    <dgm:cxn modelId="{74F96C9D-40C6-4EAE-8F9D-60AED81467CC}" type="presParOf" srcId="{D9D62517-270C-45BE-8AC1-41D2812E6E39}" destId="{723C3F81-B1FA-4D81-88E7-15C1636BDD20}" srcOrd="1" destOrd="0" presId="urn:microsoft.com/office/officeart/2018/2/layout/IconVerticalSolidList"/>
    <dgm:cxn modelId="{FED17F3D-28AC-48B1-A54D-5BB0A42545E3}" type="presParOf" srcId="{D9D62517-270C-45BE-8AC1-41D2812E6E39}" destId="{8BAA183E-9447-44CE-9925-D3BD1D867AA0}" srcOrd="2" destOrd="0" presId="urn:microsoft.com/office/officeart/2018/2/layout/IconVerticalSolidList"/>
    <dgm:cxn modelId="{AC6809CB-D7FD-4939-BF76-526AFE45602B}" type="presParOf" srcId="{D9D62517-270C-45BE-8AC1-41D2812E6E39}" destId="{1B6013A6-BFC7-442A-8008-64CDD25DEC92}" srcOrd="3" destOrd="0" presId="urn:microsoft.com/office/officeart/2018/2/layout/IconVerticalSolidList"/>
    <dgm:cxn modelId="{36E10524-0E4B-4CB8-8B46-2AE67EE67A70}" type="presParOf" srcId="{D9D62517-270C-45BE-8AC1-41D2812E6E39}" destId="{7385BE4A-09C1-4422-820F-FB506D05B7B5}" srcOrd="4" destOrd="0" presId="urn:microsoft.com/office/officeart/2018/2/layout/IconVerticalSolidList"/>
    <dgm:cxn modelId="{BD340901-9E89-4B72-9108-0783832DF7FE}" type="presParOf" srcId="{4931CD3A-615C-4E10-94DE-DF43AA5FF2E2}" destId="{696B7AC7-0A06-46CF-B0BF-5EC0ECD323A1}" srcOrd="1" destOrd="0" presId="urn:microsoft.com/office/officeart/2018/2/layout/IconVerticalSolidList"/>
    <dgm:cxn modelId="{535989B9-2188-4909-BAAF-E7C2C769E6DC}" type="presParOf" srcId="{4931CD3A-615C-4E10-94DE-DF43AA5FF2E2}" destId="{FE27EF82-9BC4-4C91-90C6-E7C8EF46F2D8}" srcOrd="2" destOrd="0" presId="urn:microsoft.com/office/officeart/2018/2/layout/IconVerticalSolidList"/>
    <dgm:cxn modelId="{15CA74FD-065C-4651-81F6-EFA19DBAC3AE}" type="presParOf" srcId="{FE27EF82-9BC4-4C91-90C6-E7C8EF46F2D8}" destId="{00B91081-0261-4735-B8DF-DADB391CDAC3}" srcOrd="0" destOrd="0" presId="urn:microsoft.com/office/officeart/2018/2/layout/IconVerticalSolidList"/>
    <dgm:cxn modelId="{53BB92BB-43D1-48B7-A50B-6A12CA796506}" type="presParOf" srcId="{FE27EF82-9BC4-4C91-90C6-E7C8EF46F2D8}" destId="{ED6EDC87-DAA5-40AB-A2BB-84EC992BBB18}" srcOrd="1" destOrd="0" presId="urn:microsoft.com/office/officeart/2018/2/layout/IconVerticalSolidList"/>
    <dgm:cxn modelId="{71A83C7C-3667-419F-B4DF-C572D34B4229}" type="presParOf" srcId="{FE27EF82-9BC4-4C91-90C6-E7C8EF46F2D8}" destId="{E472484E-7BE7-437E-8F31-941B1F38E7BE}" srcOrd="2" destOrd="0" presId="urn:microsoft.com/office/officeart/2018/2/layout/IconVerticalSolidList"/>
    <dgm:cxn modelId="{D3EC9258-EC68-4D82-9181-93CC946F5FEC}" type="presParOf" srcId="{FE27EF82-9BC4-4C91-90C6-E7C8EF46F2D8}" destId="{F834E9DE-0B6F-44F4-8B06-7AD0529A9F35}" srcOrd="3" destOrd="0" presId="urn:microsoft.com/office/officeart/2018/2/layout/IconVerticalSolidList"/>
    <dgm:cxn modelId="{D4D14CE0-FCF5-43BD-8752-A5264AA85053}" type="presParOf" srcId="{FE27EF82-9BC4-4C91-90C6-E7C8EF46F2D8}" destId="{F2AA8D22-5544-4FEB-9F29-2525DF5439AA}" srcOrd="4" destOrd="0" presId="urn:microsoft.com/office/officeart/2018/2/layout/IconVerticalSolidList"/>
    <dgm:cxn modelId="{85D6427F-F945-4A48-8E56-3D06F1049C6E}" type="presParOf" srcId="{4931CD3A-615C-4E10-94DE-DF43AA5FF2E2}" destId="{82D28086-A09F-40AF-B3F5-DE6FDB8C951E}" srcOrd="3" destOrd="0" presId="urn:microsoft.com/office/officeart/2018/2/layout/IconVerticalSolidList"/>
    <dgm:cxn modelId="{EF3CAFC4-B237-431D-9A53-C75F72821A79}" type="presParOf" srcId="{4931CD3A-615C-4E10-94DE-DF43AA5FF2E2}" destId="{56D16A77-54DA-432B-8818-A95B2BA318DA}" srcOrd="4" destOrd="0" presId="urn:microsoft.com/office/officeart/2018/2/layout/IconVerticalSolidList"/>
    <dgm:cxn modelId="{6AB70FB1-EDF9-493F-A5BF-CE51BC0390C5}" type="presParOf" srcId="{56D16A77-54DA-432B-8818-A95B2BA318DA}" destId="{941FAC42-6EC2-4A17-8CE3-1CA4200A84F4}" srcOrd="0" destOrd="0" presId="urn:microsoft.com/office/officeart/2018/2/layout/IconVerticalSolidList"/>
    <dgm:cxn modelId="{EE62E606-B1A3-4880-BE44-F7C444B6DF56}" type="presParOf" srcId="{56D16A77-54DA-432B-8818-A95B2BA318DA}" destId="{E0E2B36A-38D6-47D9-98D2-CC3BEC460D3F}" srcOrd="1" destOrd="0" presId="urn:microsoft.com/office/officeart/2018/2/layout/IconVerticalSolidList"/>
    <dgm:cxn modelId="{8560E3E0-6652-4160-8652-66BEAE01E3E2}" type="presParOf" srcId="{56D16A77-54DA-432B-8818-A95B2BA318DA}" destId="{A4A92167-C7A9-49D5-AF1C-007AFB83665E}" srcOrd="2" destOrd="0" presId="urn:microsoft.com/office/officeart/2018/2/layout/IconVerticalSolidList"/>
    <dgm:cxn modelId="{1F26DB51-E5FE-4112-84D0-E3F5A1F1ED21}" type="presParOf" srcId="{56D16A77-54DA-432B-8818-A95B2BA318DA}" destId="{AD454728-89D8-48DC-9676-D85D7363CB7A}" srcOrd="3" destOrd="0" presId="urn:microsoft.com/office/officeart/2018/2/layout/IconVerticalSolidList"/>
    <dgm:cxn modelId="{7EE0EE3E-8090-4F82-A5E3-FAA0D4FF511B}" type="presParOf" srcId="{56D16A77-54DA-432B-8818-A95B2BA318DA}" destId="{6966BCA5-18BE-4658-BC1F-487EC54CA464}" srcOrd="4" destOrd="0" presId="urn:microsoft.com/office/officeart/2018/2/layout/IconVerticalSolidList"/>
    <dgm:cxn modelId="{099A96A7-887D-482C-9915-B575F56FA163}" type="presParOf" srcId="{4931CD3A-615C-4E10-94DE-DF43AA5FF2E2}" destId="{3DFFC7F0-E449-4239-BF4E-7D54B0D525E9}" srcOrd="5" destOrd="0" presId="urn:microsoft.com/office/officeart/2018/2/layout/IconVerticalSolidList"/>
    <dgm:cxn modelId="{962DC815-CCCC-496E-A0CA-286E34630AFF}" type="presParOf" srcId="{4931CD3A-615C-4E10-94DE-DF43AA5FF2E2}" destId="{4213ECF0-150A-46AF-B11E-39C1AE035A0F}" srcOrd="6" destOrd="0" presId="urn:microsoft.com/office/officeart/2018/2/layout/IconVerticalSolidList"/>
    <dgm:cxn modelId="{B7B40690-0BAB-427B-B73B-CE1732CDDA86}" type="presParOf" srcId="{4213ECF0-150A-46AF-B11E-39C1AE035A0F}" destId="{AB00DB06-E7AA-40B1-B89C-E8DE9DE8AC5B}" srcOrd="0" destOrd="0" presId="urn:microsoft.com/office/officeart/2018/2/layout/IconVerticalSolidList"/>
    <dgm:cxn modelId="{ACC017ED-DC9E-471F-B087-8F93488FA97C}" type="presParOf" srcId="{4213ECF0-150A-46AF-B11E-39C1AE035A0F}" destId="{BCDFB2B0-B96D-43D6-BF50-08F97F911DFB}" srcOrd="1" destOrd="0" presId="urn:microsoft.com/office/officeart/2018/2/layout/IconVerticalSolidList"/>
    <dgm:cxn modelId="{07EA5F12-4BFF-4817-AEE2-B5210EBE07B1}" type="presParOf" srcId="{4213ECF0-150A-46AF-B11E-39C1AE035A0F}" destId="{238E7BF8-5BC5-46CF-B303-518A32055D36}" srcOrd="2" destOrd="0" presId="urn:microsoft.com/office/officeart/2018/2/layout/IconVerticalSolidList"/>
    <dgm:cxn modelId="{219B1826-6DE6-44A2-8ED3-1C0402965D66}" type="presParOf" srcId="{4213ECF0-150A-46AF-B11E-39C1AE035A0F}" destId="{335A8BE1-A664-4279-A801-EECCEBEDBC36}" srcOrd="3" destOrd="0" presId="urn:microsoft.com/office/officeart/2018/2/layout/IconVerticalSolidList"/>
    <dgm:cxn modelId="{5A5264FA-C712-4331-8814-B6AD8AB1155A}" type="presParOf" srcId="{4213ECF0-150A-46AF-B11E-39C1AE035A0F}" destId="{3D4AC71D-AA96-4E18-AE72-84D5CB362ED4}" srcOrd="4" destOrd="0" presId="urn:microsoft.com/office/officeart/2018/2/layout/IconVerticalSolidList"/>
    <dgm:cxn modelId="{8884D840-B372-46B8-A467-9C41FB3502A3}" type="presParOf" srcId="{4931CD3A-615C-4E10-94DE-DF43AA5FF2E2}" destId="{652BA25B-6D38-4445-9DE0-E9A7AA4789A7}" srcOrd="7" destOrd="0" presId="urn:microsoft.com/office/officeart/2018/2/layout/IconVerticalSolidList"/>
    <dgm:cxn modelId="{FC31237E-91DB-4EE2-B523-C28252EFDA76}" type="presParOf" srcId="{4931CD3A-615C-4E10-94DE-DF43AA5FF2E2}" destId="{EF5ACDF8-1E2A-4055-AD9A-CAC56E9F349D}" srcOrd="8" destOrd="0" presId="urn:microsoft.com/office/officeart/2018/2/layout/IconVerticalSolidList"/>
    <dgm:cxn modelId="{21B5301B-4A0C-40B3-8E60-E51122193D74}" type="presParOf" srcId="{EF5ACDF8-1E2A-4055-AD9A-CAC56E9F349D}" destId="{A4C12138-A116-4D08-BE9D-B792BAA48A98}" srcOrd="0" destOrd="0" presId="urn:microsoft.com/office/officeart/2018/2/layout/IconVerticalSolidList"/>
    <dgm:cxn modelId="{1EE4A5E1-CAD1-49C9-B5A3-1577D58CEF29}" type="presParOf" srcId="{EF5ACDF8-1E2A-4055-AD9A-CAC56E9F349D}" destId="{EC5EB741-8856-46AC-A453-CDD12A209CB2}" srcOrd="1" destOrd="0" presId="urn:microsoft.com/office/officeart/2018/2/layout/IconVerticalSolidList"/>
    <dgm:cxn modelId="{D68CD291-A1E1-4915-9C44-60C4AC07534E}" type="presParOf" srcId="{EF5ACDF8-1E2A-4055-AD9A-CAC56E9F349D}" destId="{035E69BD-978C-411D-AE89-0D78FA4EF83F}" srcOrd="2" destOrd="0" presId="urn:microsoft.com/office/officeart/2018/2/layout/IconVerticalSolidList"/>
    <dgm:cxn modelId="{0E41FB3D-1B47-4782-8014-37451F1E97AF}" type="presParOf" srcId="{EF5ACDF8-1E2A-4055-AD9A-CAC56E9F349D}" destId="{CC56C6B6-AB33-4E6B-A7E4-CFBF6D08FC3D}" srcOrd="3" destOrd="0" presId="urn:microsoft.com/office/officeart/2018/2/layout/IconVerticalSolidList"/>
    <dgm:cxn modelId="{5223CA91-66F1-41A2-8F9C-FF98DF9A9D45}" type="presParOf" srcId="{EF5ACDF8-1E2A-4055-AD9A-CAC56E9F349D}" destId="{508CC7F7-7E09-4F35-BAF3-476C6CFBF706}"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CB519BC-0E78-4AA7-A585-DE7449F851E9}" type="doc">
      <dgm:prSet loTypeId="urn:microsoft.com/office/officeart/2005/8/layout/vList2" loCatId="list" qsTypeId="urn:microsoft.com/office/officeart/2005/8/quickstyle/simple1" qsCatId="simple" csTypeId="urn:microsoft.com/office/officeart/2005/8/colors/accent4_1" csCatId="accent4" phldr="1"/>
      <dgm:spPr/>
      <dgm:t>
        <a:bodyPr/>
        <a:lstStyle/>
        <a:p>
          <a:endParaRPr lang="en-US"/>
        </a:p>
      </dgm:t>
    </dgm:pt>
    <dgm:pt modelId="{C7AA22AD-EE9A-49C7-B4B5-455E9F11E1E3}">
      <dgm:prSet phldrT="[Text]" phldr="0"/>
      <dgm:spPr/>
      <dgm:t>
        <a:bodyPr/>
        <a:lstStyle/>
        <a:p>
          <a:pPr algn="l" rtl="0"/>
          <a:r>
            <a:rPr lang="en-US"/>
            <a:t>Designed for real-world business forecasting</a:t>
          </a:r>
          <a:endParaRPr lang="en-US">
            <a:latin typeface="Bierstadt"/>
          </a:endParaRPr>
        </a:p>
      </dgm:t>
    </dgm:pt>
    <dgm:pt modelId="{CD2A532A-59C9-4722-8931-9FFF633A3FD5}" type="parTrans" cxnId="{BC153956-9DBB-4694-9B33-0C076CA39C5A}">
      <dgm:prSet/>
      <dgm:spPr/>
    </dgm:pt>
    <dgm:pt modelId="{A494593C-8E2C-4C2B-8FBF-63A2841219CA}" type="sibTrans" cxnId="{BC153956-9DBB-4694-9B33-0C076CA39C5A}">
      <dgm:prSet/>
      <dgm:spPr/>
    </dgm:pt>
    <dgm:pt modelId="{FBB6C9F9-8909-491D-9085-6A8BE3CA3890}">
      <dgm:prSet phldrT="[Text]" phldr="0"/>
      <dgm:spPr/>
      <dgm:t>
        <a:bodyPr/>
        <a:lstStyle/>
        <a:p>
          <a:pPr algn="l"/>
          <a:r>
            <a:rPr lang="en-US" sz="1400"/>
            <a:t>Captures seasonality, holidays, and trend shifts </a:t>
          </a:r>
        </a:p>
      </dgm:t>
    </dgm:pt>
    <dgm:pt modelId="{525A408C-8CB6-47B3-B9AA-B3370696724F}" type="parTrans" cxnId="{F421BE31-7454-4BDD-9D39-899B57D1D12B}">
      <dgm:prSet/>
      <dgm:spPr/>
    </dgm:pt>
    <dgm:pt modelId="{1DB041C3-7A95-427C-8667-FF420F8A9993}" type="sibTrans" cxnId="{F421BE31-7454-4BDD-9D39-899B57D1D12B}">
      <dgm:prSet/>
      <dgm:spPr/>
    </dgm:pt>
    <dgm:pt modelId="{7B6C645E-77DB-4121-AF9E-D087ED04FB78}">
      <dgm:prSet phldrT="[Text]" phldr="0"/>
      <dgm:spPr/>
      <dgm:t>
        <a:bodyPr/>
        <a:lstStyle/>
        <a:p>
          <a:pPr algn="l"/>
          <a:r>
            <a:rPr lang="en-US" sz="1400"/>
            <a:t>Handles post-COVID recovery patterns effectively </a:t>
          </a:r>
        </a:p>
      </dgm:t>
    </dgm:pt>
    <dgm:pt modelId="{02D969C3-0FD8-4F41-9525-C68988719A2F}" type="parTrans" cxnId="{7AA22558-F2D5-4CA6-94CC-E1C718339D45}">
      <dgm:prSet/>
      <dgm:spPr/>
    </dgm:pt>
    <dgm:pt modelId="{415EF18D-DB1A-4550-8544-B70A20DF0C7E}" type="sibTrans" cxnId="{7AA22558-F2D5-4CA6-94CC-E1C718339D45}">
      <dgm:prSet/>
      <dgm:spPr/>
    </dgm:pt>
    <dgm:pt modelId="{74972B3D-1D46-4431-854E-CA1AFCA7335A}">
      <dgm:prSet phldrT="[Text]" phldr="0"/>
      <dgm:spPr/>
      <dgm:t>
        <a:bodyPr/>
        <a:lstStyle/>
        <a:p>
          <a:pPr algn="l"/>
          <a:r>
            <a:rPr lang="en-US" sz="1400"/>
            <a:t>Generates prediction intervals for planning uncertainty </a:t>
          </a:r>
        </a:p>
      </dgm:t>
    </dgm:pt>
    <dgm:pt modelId="{A210171C-7891-42B2-A51B-BAB4606C91D3}" type="parTrans" cxnId="{3CD664EE-5C09-4D5C-984D-5FD320F0E1D1}">
      <dgm:prSet/>
      <dgm:spPr/>
    </dgm:pt>
    <dgm:pt modelId="{BBA6B98B-89EF-42C3-BE2D-2E8633F8F5E2}" type="sibTrans" cxnId="{3CD664EE-5C09-4D5C-984D-5FD320F0E1D1}">
      <dgm:prSet/>
      <dgm:spPr/>
    </dgm:pt>
    <dgm:pt modelId="{7F455935-46AD-416E-9411-E309C749DEC6}">
      <dgm:prSet phldrT="[Text]" phldr="0"/>
      <dgm:spPr/>
      <dgm:t>
        <a:bodyPr/>
        <a:lstStyle/>
        <a:p>
          <a:pPr algn="l"/>
          <a:r>
            <a:rPr lang="en-US"/>
            <a:t>Strong performance on terminal-driving demand</a:t>
          </a:r>
        </a:p>
      </dgm:t>
    </dgm:pt>
    <dgm:pt modelId="{D3191812-2512-454C-8C14-24A75CF9B808}" type="parTrans" cxnId="{6F4BAC00-F06E-4912-8CE8-BA042C0F9C01}">
      <dgm:prSet/>
      <dgm:spPr/>
    </dgm:pt>
    <dgm:pt modelId="{B575F088-F5BD-4425-BB60-BB51733166E4}" type="sibTrans" cxnId="{6F4BAC00-F06E-4912-8CE8-BA042C0F9C01}">
      <dgm:prSet/>
      <dgm:spPr/>
    </dgm:pt>
    <dgm:pt modelId="{ECE6137D-3B21-49AC-9513-789BF2C4DC26}">
      <dgm:prSet phldrT="[Text]" phldr="0"/>
      <dgm:spPr/>
      <dgm:t>
        <a:bodyPr/>
        <a:lstStyle/>
        <a:p>
          <a:pPr algn="l"/>
          <a:r>
            <a:rPr lang="en-US" sz="1400"/>
            <a:t>NJ Transit represents ~75% of total terminal volume </a:t>
          </a:r>
        </a:p>
      </dgm:t>
    </dgm:pt>
    <dgm:pt modelId="{BE0D09A9-74DD-466E-9F59-EBCC915C5E85}" type="parTrans" cxnId="{DABC24B8-0950-4FFA-B81A-A8D1EE9980CF}">
      <dgm:prSet/>
      <dgm:spPr/>
    </dgm:pt>
    <dgm:pt modelId="{15983540-C635-45CF-BD54-F0781037AB9C}" type="sibTrans" cxnId="{DABC24B8-0950-4FFA-B81A-A8D1EE9980CF}">
      <dgm:prSet/>
      <dgm:spPr/>
    </dgm:pt>
    <dgm:pt modelId="{08D71387-9C83-4A22-861C-2156E6E2236C}">
      <dgm:prSet phldrT="[Text]" phldr="0"/>
      <dgm:spPr/>
      <dgm:t>
        <a:bodyPr/>
        <a:lstStyle/>
        <a:p>
          <a:pPr algn="l"/>
          <a:r>
            <a:rPr lang="en-US" sz="1400"/>
            <a:t>Prophet achieved very high fit for NJ Transit (R² = 0.987) </a:t>
          </a:r>
        </a:p>
      </dgm:t>
    </dgm:pt>
    <dgm:pt modelId="{ADF70457-60B8-45FC-B3E6-6C1247CB2DC5}" type="parTrans" cxnId="{4FDA2F4A-03C1-4BF5-899A-72932255B56F}">
      <dgm:prSet/>
      <dgm:spPr/>
    </dgm:pt>
    <dgm:pt modelId="{E1C0EF01-7913-4233-B364-9A754C676C8C}" type="sibTrans" cxnId="{4FDA2F4A-03C1-4BF5-899A-72932255B56F}">
      <dgm:prSet/>
      <dgm:spPr/>
    </dgm:pt>
    <dgm:pt modelId="{72ADB84D-36E1-4C24-9778-BCE24915EDE5}" type="pres">
      <dgm:prSet presAssocID="{9CB519BC-0E78-4AA7-A585-DE7449F851E9}" presName="linear" presStyleCnt="0">
        <dgm:presLayoutVars>
          <dgm:animLvl val="lvl"/>
          <dgm:resizeHandles val="exact"/>
        </dgm:presLayoutVars>
      </dgm:prSet>
      <dgm:spPr/>
    </dgm:pt>
    <dgm:pt modelId="{499E2DB0-04D5-4351-B4E3-8F4579CEEEB0}" type="pres">
      <dgm:prSet presAssocID="{C7AA22AD-EE9A-49C7-B4B5-455E9F11E1E3}" presName="parentText" presStyleLbl="node1" presStyleIdx="0" presStyleCnt="2">
        <dgm:presLayoutVars>
          <dgm:chMax val="0"/>
          <dgm:bulletEnabled val="1"/>
        </dgm:presLayoutVars>
      </dgm:prSet>
      <dgm:spPr/>
    </dgm:pt>
    <dgm:pt modelId="{C3449623-6241-4D77-94B7-440F8B4811A5}" type="pres">
      <dgm:prSet presAssocID="{C7AA22AD-EE9A-49C7-B4B5-455E9F11E1E3}" presName="childText" presStyleLbl="revTx" presStyleIdx="0" presStyleCnt="2">
        <dgm:presLayoutVars>
          <dgm:bulletEnabled val="1"/>
        </dgm:presLayoutVars>
      </dgm:prSet>
      <dgm:spPr/>
    </dgm:pt>
    <dgm:pt modelId="{633EA737-509A-48D7-A306-1295AAA42DE4}" type="pres">
      <dgm:prSet presAssocID="{7F455935-46AD-416E-9411-E309C749DEC6}" presName="parentText" presStyleLbl="node1" presStyleIdx="1" presStyleCnt="2">
        <dgm:presLayoutVars>
          <dgm:chMax val="0"/>
          <dgm:bulletEnabled val="1"/>
        </dgm:presLayoutVars>
      </dgm:prSet>
      <dgm:spPr/>
    </dgm:pt>
    <dgm:pt modelId="{B9416F2A-93E0-4E4F-8DEB-F87FE369F2ED}" type="pres">
      <dgm:prSet presAssocID="{7F455935-46AD-416E-9411-E309C749DEC6}" presName="childText" presStyleLbl="revTx" presStyleIdx="1" presStyleCnt="2">
        <dgm:presLayoutVars>
          <dgm:bulletEnabled val="1"/>
        </dgm:presLayoutVars>
      </dgm:prSet>
      <dgm:spPr/>
    </dgm:pt>
  </dgm:ptLst>
  <dgm:cxnLst>
    <dgm:cxn modelId="{6F4BAC00-F06E-4912-8CE8-BA042C0F9C01}" srcId="{9CB519BC-0E78-4AA7-A585-DE7449F851E9}" destId="{7F455935-46AD-416E-9411-E309C749DEC6}" srcOrd="1" destOrd="0" parTransId="{D3191812-2512-454C-8C14-24A75CF9B808}" sibTransId="{B575F088-F5BD-4425-BB60-BB51733166E4}"/>
    <dgm:cxn modelId="{32B7DC08-DE33-4277-AA20-799A0D0E0777}" type="presOf" srcId="{C7AA22AD-EE9A-49C7-B4B5-455E9F11E1E3}" destId="{499E2DB0-04D5-4351-B4E3-8F4579CEEEB0}" srcOrd="0" destOrd="0" presId="urn:microsoft.com/office/officeart/2005/8/layout/vList2"/>
    <dgm:cxn modelId="{F421BE31-7454-4BDD-9D39-899B57D1D12B}" srcId="{C7AA22AD-EE9A-49C7-B4B5-455E9F11E1E3}" destId="{FBB6C9F9-8909-491D-9085-6A8BE3CA3890}" srcOrd="0" destOrd="0" parTransId="{525A408C-8CB6-47B3-B9AA-B3370696724F}" sibTransId="{1DB041C3-7A95-427C-8667-FF420F8A9993}"/>
    <dgm:cxn modelId="{625B3532-A85C-4361-BAE4-9E0491CAB6A9}" type="presOf" srcId="{9CB519BC-0E78-4AA7-A585-DE7449F851E9}" destId="{72ADB84D-36E1-4C24-9778-BCE24915EDE5}" srcOrd="0" destOrd="0" presId="urn:microsoft.com/office/officeart/2005/8/layout/vList2"/>
    <dgm:cxn modelId="{4FDA2F4A-03C1-4BF5-899A-72932255B56F}" srcId="{7F455935-46AD-416E-9411-E309C749DEC6}" destId="{08D71387-9C83-4A22-861C-2156E6E2236C}" srcOrd="1" destOrd="0" parTransId="{ADF70457-60B8-45FC-B3E6-6C1247CB2DC5}" sibTransId="{E1C0EF01-7913-4233-B364-9A754C676C8C}"/>
    <dgm:cxn modelId="{EE040C74-D9C2-408B-84ED-DCECA768786F}" type="presOf" srcId="{ECE6137D-3B21-49AC-9513-789BF2C4DC26}" destId="{B9416F2A-93E0-4E4F-8DEB-F87FE369F2ED}" srcOrd="0" destOrd="0" presId="urn:microsoft.com/office/officeart/2005/8/layout/vList2"/>
    <dgm:cxn modelId="{BC153956-9DBB-4694-9B33-0C076CA39C5A}" srcId="{9CB519BC-0E78-4AA7-A585-DE7449F851E9}" destId="{C7AA22AD-EE9A-49C7-B4B5-455E9F11E1E3}" srcOrd="0" destOrd="0" parTransId="{CD2A532A-59C9-4722-8931-9FFF633A3FD5}" sibTransId="{A494593C-8E2C-4C2B-8FBF-63A2841219CA}"/>
    <dgm:cxn modelId="{7AA22558-F2D5-4CA6-94CC-E1C718339D45}" srcId="{C7AA22AD-EE9A-49C7-B4B5-455E9F11E1E3}" destId="{7B6C645E-77DB-4121-AF9E-D087ED04FB78}" srcOrd="1" destOrd="0" parTransId="{02D969C3-0FD8-4F41-9525-C68988719A2F}" sibTransId="{415EF18D-DB1A-4550-8544-B70A20DF0C7E}"/>
    <dgm:cxn modelId="{F5B1B183-E9D6-4D89-8B74-1942BB1C3295}" type="presOf" srcId="{FBB6C9F9-8909-491D-9085-6A8BE3CA3890}" destId="{C3449623-6241-4D77-94B7-440F8B4811A5}" srcOrd="0" destOrd="0" presId="urn:microsoft.com/office/officeart/2005/8/layout/vList2"/>
    <dgm:cxn modelId="{3C46AE85-DDD6-40BF-B325-A57029EC13B4}" type="presOf" srcId="{7F455935-46AD-416E-9411-E309C749DEC6}" destId="{633EA737-509A-48D7-A306-1295AAA42DE4}" srcOrd="0" destOrd="0" presId="urn:microsoft.com/office/officeart/2005/8/layout/vList2"/>
    <dgm:cxn modelId="{B78CC393-CDF7-425A-80F6-DC9A35A6C705}" type="presOf" srcId="{74972B3D-1D46-4431-854E-CA1AFCA7335A}" destId="{C3449623-6241-4D77-94B7-440F8B4811A5}" srcOrd="0" destOrd="2" presId="urn:microsoft.com/office/officeart/2005/8/layout/vList2"/>
    <dgm:cxn modelId="{16A312A2-418D-49A5-ABBD-6145216D2A62}" type="presOf" srcId="{7B6C645E-77DB-4121-AF9E-D087ED04FB78}" destId="{C3449623-6241-4D77-94B7-440F8B4811A5}" srcOrd="0" destOrd="1" presId="urn:microsoft.com/office/officeart/2005/8/layout/vList2"/>
    <dgm:cxn modelId="{DABC24B8-0950-4FFA-B81A-A8D1EE9980CF}" srcId="{7F455935-46AD-416E-9411-E309C749DEC6}" destId="{ECE6137D-3B21-49AC-9513-789BF2C4DC26}" srcOrd="0" destOrd="0" parTransId="{BE0D09A9-74DD-466E-9F59-EBCC915C5E85}" sibTransId="{15983540-C635-45CF-BD54-F0781037AB9C}"/>
    <dgm:cxn modelId="{703219C8-C891-4EC1-B565-F81B7C6FF8AC}" type="presOf" srcId="{08D71387-9C83-4A22-861C-2156E6E2236C}" destId="{B9416F2A-93E0-4E4F-8DEB-F87FE369F2ED}" srcOrd="0" destOrd="1" presId="urn:microsoft.com/office/officeart/2005/8/layout/vList2"/>
    <dgm:cxn modelId="{3CD664EE-5C09-4D5C-984D-5FD320F0E1D1}" srcId="{C7AA22AD-EE9A-49C7-B4B5-455E9F11E1E3}" destId="{74972B3D-1D46-4431-854E-CA1AFCA7335A}" srcOrd="2" destOrd="0" parTransId="{A210171C-7891-42B2-A51B-BAB4606C91D3}" sibTransId="{BBA6B98B-89EF-42C3-BE2D-2E8633F8F5E2}"/>
    <dgm:cxn modelId="{EE5A4691-0A50-4B85-BFFB-6446B1B4CA77}" type="presParOf" srcId="{72ADB84D-36E1-4C24-9778-BCE24915EDE5}" destId="{499E2DB0-04D5-4351-B4E3-8F4579CEEEB0}" srcOrd="0" destOrd="0" presId="urn:microsoft.com/office/officeart/2005/8/layout/vList2"/>
    <dgm:cxn modelId="{9FE66EF0-BB83-4F60-AF9B-FB4625860DFD}" type="presParOf" srcId="{72ADB84D-36E1-4C24-9778-BCE24915EDE5}" destId="{C3449623-6241-4D77-94B7-440F8B4811A5}" srcOrd="1" destOrd="0" presId="urn:microsoft.com/office/officeart/2005/8/layout/vList2"/>
    <dgm:cxn modelId="{D3D7EFDA-2A03-4EE6-9067-E13046E3ECF6}" type="presParOf" srcId="{72ADB84D-36E1-4C24-9778-BCE24915EDE5}" destId="{633EA737-509A-48D7-A306-1295AAA42DE4}" srcOrd="2" destOrd="0" presId="urn:microsoft.com/office/officeart/2005/8/layout/vList2"/>
    <dgm:cxn modelId="{F0281DE5-6CFB-473C-8EE8-A014A6AF7437}" type="presParOf" srcId="{72ADB84D-36E1-4C24-9778-BCE24915EDE5}" destId="{B9416F2A-93E0-4E4F-8DEB-F87FE369F2ED}"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07FF3F3-CDD1-43F3-A6B8-75F20652290F}" type="doc">
      <dgm:prSet loTypeId="urn:microsoft.com/office/officeart/2018/2/layout/IconCircleList" loCatId="icon" qsTypeId="urn:microsoft.com/office/officeart/2005/8/quickstyle/simple1" qsCatId="simple" csTypeId="urn:microsoft.com/office/officeart/2005/8/colors/accent4_2" csCatId="accent4" phldr="1"/>
      <dgm:spPr/>
      <dgm:t>
        <a:bodyPr/>
        <a:lstStyle/>
        <a:p>
          <a:endParaRPr lang="en-US"/>
        </a:p>
      </dgm:t>
    </dgm:pt>
    <dgm:pt modelId="{E8C8C2AA-8ADE-49DB-8986-14D025C2A664}">
      <dgm:prSet/>
      <dgm:spPr/>
      <dgm:t>
        <a:bodyPr/>
        <a:lstStyle/>
        <a:p>
          <a:pPr>
            <a:lnSpc>
              <a:spcPct val="100000"/>
            </a:lnSpc>
          </a:pPr>
          <a:r>
            <a:rPr lang="en-US"/>
            <a:t>Bus Count</a:t>
          </a:r>
        </a:p>
      </dgm:t>
    </dgm:pt>
    <dgm:pt modelId="{F644A5C4-AE5F-49F7-A194-76AE56AC31BA}" type="parTrans" cxnId="{848D8CB7-E015-4965-A5BA-B8508F5BCDEE}">
      <dgm:prSet/>
      <dgm:spPr/>
      <dgm:t>
        <a:bodyPr/>
        <a:lstStyle/>
        <a:p>
          <a:endParaRPr lang="en-US"/>
        </a:p>
      </dgm:t>
    </dgm:pt>
    <dgm:pt modelId="{8240C194-9BC0-4676-A789-5447CB35D352}" type="sibTrans" cxnId="{848D8CB7-E015-4965-A5BA-B8508F5BCDEE}">
      <dgm:prSet/>
      <dgm:spPr/>
      <dgm:t>
        <a:bodyPr/>
        <a:lstStyle/>
        <a:p>
          <a:pPr>
            <a:lnSpc>
              <a:spcPct val="100000"/>
            </a:lnSpc>
          </a:pPr>
          <a:endParaRPr lang="en-US"/>
        </a:p>
      </dgm:t>
    </dgm:pt>
    <dgm:pt modelId="{81394356-A220-4FA7-9615-A3239C730C0D}">
      <dgm:prSet/>
      <dgm:spPr/>
      <dgm:t>
        <a:bodyPr/>
        <a:lstStyle/>
        <a:p>
          <a:pPr>
            <a:lnSpc>
              <a:spcPct val="100000"/>
            </a:lnSpc>
          </a:pPr>
          <a:r>
            <a:rPr lang="en-US"/>
            <a:t>Temperature</a:t>
          </a:r>
        </a:p>
      </dgm:t>
    </dgm:pt>
    <dgm:pt modelId="{2ACF1671-4320-4ABE-871A-B9C6A2312D86}" type="parTrans" cxnId="{7F09433A-3646-412D-B6C1-AE3AB94FF345}">
      <dgm:prSet/>
      <dgm:spPr/>
      <dgm:t>
        <a:bodyPr/>
        <a:lstStyle/>
        <a:p>
          <a:endParaRPr lang="en-US"/>
        </a:p>
      </dgm:t>
    </dgm:pt>
    <dgm:pt modelId="{39FEFE1D-C370-4A7F-97C4-9A4A10411F4D}" type="sibTrans" cxnId="{7F09433A-3646-412D-B6C1-AE3AB94FF345}">
      <dgm:prSet/>
      <dgm:spPr/>
      <dgm:t>
        <a:bodyPr/>
        <a:lstStyle/>
        <a:p>
          <a:pPr>
            <a:lnSpc>
              <a:spcPct val="100000"/>
            </a:lnSpc>
          </a:pPr>
          <a:endParaRPr lang="en-US"/>
        </a:p>
      </dgm:t>
    </dgm:pt>
    <dgm:pt modelId="{40FFB8E5-6B63-4215-8154-9CFA92D9D957}">
      <dgm:prSet/>
      <dgm:spPr/>
      <dgm:t>
        <a:bodyPr/>
        <a:lstStyle/>
        <a:p>
          <a:pPr>
            <a:lnSpc>
              <a:spcPct val="100000"/>
            </a:lnSpc>
          </a:pPr>
          <a:r>
            <a:rPr lang="en-US"/>
            <a:t>Snowfall</a:t>
          </a:r>
        </a:p>
      </dgm:t>
    </dgm:pt>
    <dgm:pt modelId="{966CDA0B-6D6D-4959-A105-1AA1927E7952}" type="parTrans" cxnId="{9808D905-A4EC-4716-83A1-7DC796A47831}">
      <dgm:prSet/>
      <dgm:spPr/>
      <dgm:t>
        <a:bodyPr/>
        <a:lstStyle/>
        <a:p>
          <a:endParaRPr lang="en-US"/>
        </a:p>
      </dgm:t>
    </dgm:pt>
    <dgm:pt modelId="{D5C5D7B6-7700-4030-927A-DADD38E9576C}" type="sibTrans" cxnId="{9808D905-A4EC-4716-83A1-7DC796A47831}">
      <dgm:prSet/>
      <dgm:spPr/>
      <dgm:t>
        <a:bodyPr/>
        <a:lstStyle/>
        <a:p>
          <a:endParaRPr lang="en-US"/>
        </a:p>
      </dgm:t>
    </dgm:pt>
    <dgm:pt modelId="{68C45C65-5020-4E5B-B99F-780749576C2D}">
      <dgm:prSet phldr="0"/>
      <dgm:spPr/>
      <dgm:t>
        <a:bodyPr/>
        <a:lstStyle/>
        <a:p>
          <a:pPr>
            <a:lnSpc>
              <a:spcPct val="100000"/>
            </a:lnSpc>
          </a:pPr>
          <a:endParaRPr lang="en-US" sz="1400">
            <a:latin typeface="Bierstadt"/>
          </a:endParaRPr>
        </a:p>
      </dgm:t>
    </dgm:pt>
    <dgm:pt modelId="{4E4B674A-D780-43FF-B0E9-58AD2CEC6F93}" type="parTrans" cxnId="{DFFDF7A3-C768-4A59-8CEE-DDDB8F9F54A4}">
      <dgm:prSet/>
      <dgm:spPr/>
    </dgm:pt>
    <dgm:pt modelId="{0F25B60E-A68F-4FAF-80AF-2B84B750F5A9}" type="sibTrans" cxnId="{DFFDF7A3-C768-4A59-8CEE-DDDB8F9F54A4}">
      <dgm:prSet/>
      <dgm:spPr/>
      <dgm:t>
        <a:bodyPr/>
        <a:lstStyle/>
        <a:p>
          <a:pPr>
            <a:lnSpc>
              <a:spcPct val="100000"/>
            </a:lnSpc>
          </a:pPr>
          <a:endParaRPr lang="en-US"/>
        </a:p>
      </dgm:t>
    </dgm:pt>
    <dgm:pt modelId="{CEE880BC-7742-46EB-925B-BE254AAC9BB2}">
      <dgm:prSet phldr="0"/>
      <dgm:spPr/>
      <dgm:t>
        <a:bodyPr/>
        <a:lstStyle/>
        <a:p>
          <a:pPr rtl="0">
            <a:lnSpc>
              <a:spcPct val="100000"/>
            </a:lnSpc>
          </a:pPr>
          <a:endParaRPr lang="en-US" sz="1400">
            <a:latin typeface="Bierstadt"/>
          </a:endParaRPr>
        </a:p>
      </dgm:t>
    </dgm:pt>
    <dgm:pt modelId="{188DCE8E-112F-4F54-8AF1-065C97BD227F}" type="parTrans" cxnId="{3E6AE8ED-FA7C-4635-B0A0-9E7D171E9D83}">
      <dgm:prSet/>
      <dgm:spPr/>
    </dgm:pt>
    <dgm:pt modelId="{86D59F46-801D-4F70-B05A-F676CBB749AF}" type="sibTrans" cxnId="{3E6AE8ED-FA7C-4635-B0A0-9E7D171E9D83}">
      <dgm:prSet/>
      <dgm:spPr/>
      <dgm:t>
        <a:bodyPr/>
        <a:lstStyle/>
        <a:p>
          <a:pPr>
            <a:lnSpc>
              <a:spcPct val="100000"/>
            </a:lnSpc>
          </a:pPr>
          <a:endParaRPr lang="en-US"/>
        </a:p>
      </dgm:t>
    </dgm:pt>
    <dgm:pt modelId="{A5AAD4AF-6EE0-4C52-891A-57F58873FB59}">
      <dgm:prSet phldr="0"/>
      <dgm:spPr/>
      <dgm:t>
        <a:bodyPr/>
        <a:lstStyle/>
        <a:p>
          <a:pPr rtl="0">
            <a:lnSpc>
              <a:spcPct val="100000"/>
            </a:lnSpc>
          </a:pPr>
          <a:endParaRPr lang="en-US" sz="1400">
            <a:latin typeface="Bierstadt"/>
          </a:endParaRPr>
        </a:p>
      </dgm:t>
    </dgm:pt>
    <dgm:pt modelId="{C3AF9AB0-CD30-4898-B9F8-6D564D4C4A3D}" type="parTrans" cxnId="{3821E7FF-BAEB-43C9-8318-2B0865343DBB}">
      <dgm:prSet/>
      <dgm:spPr/>
    </dgm:pt>
    <dgm:pt modelId="{A01C4CAB-E7FF-4263-93E3-C5E4D9B3DAB1}" type="sibTrans" cxnId="{3821E7FF-BAEB-43C9-8318-2B0865343DBB}">
      <dgm:prSet/>
      <dgm:spPr/>
    </dgm:pt>
    <dgm:pt modelId="{8E768E6E-B777-4A11-AC47-71E292F61BBE}" type="pres">
      <dgm:prSet presAssocID="{307FF3F3-CDD1-43F3-A6B8-75F20652290F}" presName="root" presStyleCnt="0">
        <dgm:presLayoutVars>
          <dgm:dir/>
          <dgm:resizeHandles val="exact"/>
        </dgm:presLayoutVars>
      </dgm:prSet>
      <dgm:spPr/>
    </dgm:pt>
    <dgm:pt modelId="{AD02B503-E025-4D5D-A4AD-0AAE84923A35}" type="pres">
      <dgm:prSet presAssocID="{307FF3F3-CDD1-43F3-A6B8-75F20652290F}" presName="container" presStyleCnt="0">
        <dgm:presLayoutVars>
          <dgm:dir/>
          <dgm:resizeHandles val="exact"/>
        </dgm:presLayoutVars>
      </dgm:prSet>
      <dgm:spPr/>
    </dgm:pt>
    <dgm:pt modelId="{A7D0151F-1E6F-4B9B-8C0B-58675ABC11E5}" type="pres">
      <dgm:prSet presAssocID="{E8C8C2AA-8ADE-49DB-8986-14D025C2A664}" presName="compNode" presStyleCnt="0"/>
      <dgm:spPr/>
    </dgm:pt>
    <dgm:pt modelId="{ACC0DC97-6DD1-406E-9C33-CC827D76E9A1}" type="pres">
      <dgm:prSet presAssocID="{E8C8C2AA-8ADE-49DB-8986-14D025C2A664}" presName="iconBgRect" presStyleLbl="bgShp" presStyleIdx="0" presStyleCnt="3"/>
      <dgm:spPr/>
    </dgm:pt>
    <dgm:pt modelId="{E4A37C29-C9C1-433D-8D25-11DBA748913D}" type="pres">
      <dgm:prSet presAssocID="{E8C8C2AA-8ADE-49DB-8986-14D025C2A664}"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Bus"/>
        </a:ext>
      </dgm:extLst>
    </dgm:pt>
    <dgm:pt modelId="{B1F45B8F-F5A3-451E-AED2-82440AD24C47}" type="pres">
      <dgm:prSet presAssocID="{E8C8C2AA-8ADE-49DB-8986-14D025C2A664}" presName="spaceRect" presStyleCnt="0"/>
      <dgm:spPr/>
    </dgm:pt>
    <dgm:pt modelId="{358DD58E-F32E-4FAA-89AD-ADDDD2D6E54F}" type="pres">
      <dgm:prSet presAssocID="{E8C8C2AA-8ADE-49DB-8986-14D025C2A664}" presName="textRect" presStyleLbl="revTx" presStyleIdx="0" presStyleCnt="3">
        <dgm:presLayoutVars>
          <dgm:chMax val="1"/>
          <dgm:chPref val="1"/>
        </dgm:presLayoutVars>
      </dgm:prSet>
      <dgm:spPr/>
    </dgm:pt>
    <dgm:pt modelId="{0600FC97-3A22-42A0-9872-EB60C5ECFD80}" type="pres">
      <dgm:prSet presAssocID="{8240C194-9BC0-4676-A789-5447CB35D352}" presName="sibTrans" presStyleLbl="sibTrans2D1" presStyleIdx="0" presStyleCnt="0"/>
      <dgm:spPr/>
    </dgm:pt>
    <dgm:pt modelId="{E2A5B564-6393-4DB8-8AEB-54CE8D77914B}" type="pres">
      <dgm:prSet presAssocID="{81394356-A220-4FA7-9615-A3239C730C0D}" presName="compNode" presStyleCnt="0"/>
      <dgm:spPr/>
    </dgm:pt>
    <dgm:pt modelId="{AA9F6E7F-4CED-4E6B-BC34-3FDF39ABA1FB}" type="pres">
      <dgm:prSet presAssocID="{81394356-A220-4FA7-9615-A3239C730C0D}" presName="iconBgRect" presStyleLbl="bgShp" presStyleIdx="1" presStyleCnt="3"/>
      <dgm:spPr/>
    </dgm:pt>
    <dgm:pt modelId="{BA0AAA6B-8FE8-4D48-8E97-029848E8CFC9}" type="pres">
      <dgm:prSet presAssocID="{81394356-A220-4FA7-9615-A3239C730C0D}"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Thermometer"/>
        </a:ext>
      </dgm:extLst>
    </dgm:pt>
    <dgm:pt modelId="{E0D72A6D-83D3-406A-81CF-A6FE31E999A3}" type="pres">
      <dgm:prSet presAssocID="{81394356-A220-4FA7-9615-A3239C730C0D}" presName="spaceRect" presStyleCnt="0"/>
      <dgm:spPr/>
    </dgm:pt>
    <dgm:pt modelId="{B97A7B09-8A3D-41E9-B109-F4D342E4598D}" type="pres">
      <dgm:prSet presAssocID="{81394356-A220-4FA7-9615-A3239C730C0D}" presName="textRect" presStyleLbl="revTx" presStyleIdx="1" presStyleCnt="3">
        <dgm:presLayoutVars>
          <dgm:chMax val="1"/>
          <dgm:chPref val="1"/>
        </dgm:presLayoutVars>
      </dgm:prSet>
      <dgm:spPr/>
    </dgm:pt>
    <dgm:pt modelId="{48750EB2-2E29-4565-AAE5-5B26903135C0}" type="pres">
      <dgm:prSet presAssocID="{39FEFE1D-C370-4A7F-97C4-9A4A10411F4D}" presName="sibTrans" presStyleLbl="sibTrans2D1" presStyleIdx="0" presStyleCnt="0"/>
      <dgm:spPr/>
    </dgm:pt>
    <dgm:pt modelId="{9D70BC87-EA7F-49DF-AD98-313DDE8EF858}" type="pres">
      <dgm:prSet presAssocID="{40FFB8E5-6B63-4215-8154-9CFA92D9D957}" presName="compNode" presStyleCnt="0"/>
      <dgm:spPr/>
    </dgm:pt>
    <dgm:pt modelId="{2BDBE17E-7B21-445D-9DC6-44F4E24C72DC}" type="pres">
      <dgm:prSet presAssocID="{40FFB8E5-6B63-4215-8154-9CFA92D9D957}" presName="iconBgRect" presStyleLbl="bgShp" presStyleIdx="2" presStyleCnt="3"/>
      <dgm:spPr/>
    </dgm:pt>
    <dgm:pt modelId="{7D7003ED-92BF-4C88-A77C-101E73A10E08}" type="pres">
      <dgm:prSet presAssocID="{40FFB8E5-6B63-4215-8154-9CFA92D9D957}"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Snow"/>
        </a:ext>
      </dgm:extLst>
    </dgm:pt>
    <dgm:pt modelId="{928A951F-F3F6-4958-B165-B1025B74549D}" type="pres">
      <dgm:prSet presAssocID="{40FFB8E5-6B63-4215-8154-9CFA92D9D957}" presName="spaceRect" presStyleCnt="0"/>
      <dgm:spPr/>
    </dgm:pt>
    <dgm:pt modelId="{5C59E5EB-A160-4FBB-AF13-0334D55F5C02}" type="pres">
      <dgm:prSet presAssocID="{40FFB8E5-6B63-4215-8154-9CFA92D9D957}" presName="textRect" presStyleLbl="revTx" presStyleIdx="2" presStyleCnt="3">
        <dgm:presLayoutVars>
          <dgm:chMax val="1"/>
          <dgm:chPref val="1"/>
        </dgm:presLayoutVars>
      </dgm:prSet>
      <dgm:spPr/>
    </dgm:pt>
  </dgm:ptLst>
  <dgm:cxnLst>
    <dgm:cxn modelId="{9808D905-A4EC-4716-83A1-7DC796A47831}" srcId="{307FF3F3-CDD1-43F3-A6B8-75F20652290F}" destId="{40FFB8E5-6B63-4215-8154-9CFA92D9D957}" srcOrd="2" destOrd="0" parTransId="{966CDA0B-6D6D-4959-A105-1AA1927E7952}" sibTransId="{D5C5D7B6-7700-4030-927A-DADD38E9576C}"/>
    <dgm:cxn modelId="{437FF324-1545-4AD2-A857-59C13D832B0F}" type="presOf" srcId="{39FEFE1D-C370-4A7F-97C4-9A4A10411F4D}" destId="{48750EB2-2E29-4565-AAE5-5B26903135C0}" srcOrd="0" destOrd="0" presId="urn:microsoft.com/office/officeart/2018/2/layout/IconCircleList"/>
    <dgm:cxn modelId="{4D995135-6896-4CBF-BEA9-CAFFD6493AE9}" type="presOf" srcId="{E8C8C2AA-8ADE-49DB-8986-14D025C2A664}" destId="{358DD58E-F32E-4FAA-89AD-ADDDD2D6E54F}" srcOrd="0" destOrd="0" presId="urn:microsoft.com/office/officeart/2018/2/layout/IconCircleList"/>
    <dgm:cxn modelId="{7F09433A-3646-412D-B6C1-AE3AB94FF345}" srcId="{307FF3F3-CDD1-43F3-A6B8-75F20652290F}" destId="{81394356-A220-4FA7-9615-A3239C730C0D}" srcOrd="1" destOrd="0" parTransId="{2ACF1671-4320-4ABE-871A-B9C6A2312D86}" sibTransId="{39FEFE1D-C370-4A7F-97C4-9A4A10411F4D}"/>
    <dgm:cxn modelId="{47482250-732C-4FDE-A1DD-3B130244A669}" type="presOf" srcId="{40FFB8E5-6B63-4215-8154-9CFA92D9D957}" destId="{5C59E5EB-A160-4FBB-AF13-0334D55F5C02}" srcOrd="0" destOrd="0" presId="urn:microsoft.com/office/officeart/2018/2/layout/IconCircleList"/>
    <dgm:cxn modelId="{DFFDF7A3-C768-4A59-8CEE-DDDB8F9F54A4}" srcId="{E8C8C2AA-8ADE-49DB-8986-14D025C2A664}" destId="{68C45C65-5020-4E5B-B99F-780749576C2D}" srcOrd="0" destOrd="0" parTransId="{4E4B674A-D780-43FF-B0E9-58AD2CEC6F93}" sibTransId="{0F25B60E-A68F-4FAF-80AF-2B84B750F5A9}"/>
    <dgm:cxn modelId="{848D8CB7-E015-4965-A5BA-B8508F5BCDEE}" srcId="{307FF3F3-CDD1-43F3-A6B8-75F20652290F}" destId="{E8C8C2AA-8ADE-49DB-8986-14D025C2A664}" srcOrd="0" destOrd="0" parTransId="{F644A5C4-AE5F-49F7-A194-76AE56AC31BA}" sibTransId="{8240C194-9BC0-4676-A789-5447CB35D352}"/>
    <dgm:cxn modelId="{F54AE7D0-67A5-4558-9576-77918322764C}" type="presOf" srcId="{307FF3F3-CDD1-43F3-A6B8-75F20652290F}" destId="{8E768E6E-B777-4A11-AC47-71E292F61BBE}" srcOrd="0" destOrd="0" presId="urn:microsoft.com/office/officeart/2018/2/layout/IconCircleList"/>
    <dgm:cxn modelId="{3E6AE8ED-FA7C-4635-B0A0-9E7D171E9D83}" srcId="{81394356-A220-4FA7-9615-A3239C730C0D}" destId="{CEE880BC-7742-46EB-925B-BE254AAC9BB2}" srcOrd="0" destOrd="0" parTransId="{188DCE8E-112F-4F54-8AF1-065C97BD227F}" sibTransId="{86D59F46-801D-4F70-B05A-F676CBB749AF}"/>
    <dgm:cxn modelId="{0F47FEEF-2FE9-4833-AB08-20C3B84DA094}" type="presOf" srcId="{8240C194-9BC0-4676-A789-5447CB35D352}" destId="{0600FC97-3A22-42A0-9872-EB60C5ECFD80}" srcOrd="0" destOrd="0" presId="urn:microsoft.com/office/officeart/2018/2/layout/IconCircleList"/>
    <dgm:cxn modelId="{0C7C5EF1-14FC-46A2-9B0B-77C3B843E555}" type="presOf" srcId="{81394356-A220-4FA7-9615-A3239C730C0D}" destId="{B97A7B09-8A3D-41E9-B109-F4D342E4598D}" srcOrd="0" destOrd="0" presId="urn:microsoft.com/office/officeart/2018/2/layout/IconCircleList"/>
    <dgm:cxn modelId="{3821E7FF-BAEB-43C9-8318-2B0865343DBB}" srcId="{40FFB8E5-6B63-4215-8154-9CFA92D9D957}" destId="{A5AAD4AF-6EE0-4C52-891A-57F58873FB59}" srcOrd="0" destOrd="0" parTransId="{C3AF9AB0-CD30-4898-B9F8-6D564D4C4A3D}" sibTransId="{A01C4CAB-E7FF-4263-93E3-C5E4D9B3DAB1}"/>
    <dgm:cxn modelId="{B39DB2A2-4573-473D-975D-30DDCD0DD642}" type="presParOf" srcId="{8E768E6E-B777-4A11-AC47-71E292F61BBE}" destId="{AD02B503-E025-4D5D-A4AD-0AAE84923A35}" srcOrd="0" destOrd="0" presId="urn:microsoft.com/office/officeart/2018/2/layout/IconCircleList"/>
    <dgm:cxn modelId="{DC67F94F-72EF-4FE7-9D8D-4D76EC7B8BB3}" type="presParOf" srcId="{AD02B503-E025-4D5D-A4AD-0AAE84923A35}" destId="{A7D0151F-1E6F-4B9B-8C0B-58675ABC11E5}" srcOrd="0" destOrd="0" presId="urn:microsoft.com/office/officeart/2018/2/layout/IconCircleList"/>
    <dgm:cxn modelId="{E158A51E-2E24-4F4A-B726-24148DBF19C7}" type="presParOf" srcId="{A7D0151F-1E6F-4B9B-8C0B-58675ABC11E5}" destId="{ACC0DC97-6DD1-406E-9C33-CC827D76E9A1}" srcOrd="0" destOrd="0" presId="urn:microsoft.com/office/officeart/2018/2/layout/IconCircleList"/>
    <dgm:cxn modelId="{BDC0124F-40BB-4D38-B45A-3CBFCFDD79AD}" type="presParOf" srcId="{A7D0151F-1E6F-4B9B-8C0B-58675ABC11E5}" destId="{E4A37C29-C9C1-433D-8D25-11DBA748913D}" srcOrd="1" destOrd="0" presId="urn:microsoft.com/office/officeart/2018/2/layout/IconCircleList"/>
    <dgm:cxn modelId="{E08A3C9A-9635-4516-BA6A-5A5D32D63F19}" type="presParOf" srcId="{A7D0151F-1E6F-4B9B-8C0B-58675ABC11E5}" destId="{B1F45B8F-F5A3-451E-AED2-82440AD24C47}" srcOrd="2" destOrd="0" presId="urn:microsoft.com/office/officeart/2018/2/layout/IconCircleList"/>
    <dgm:cxn modelId="{0B4877AD-F6EF-4F3C-A3EA-83D649F1486D}" type="presParOf" srcId="{A7D0151F-1E6F-4B9B-8C0B-58675ABC11E5}" destId="{358DD58E-F32E-4FAA-89AD-ADDDD2D6E54F}" srcOrd="3" destOrd="0" presId="urn:microsoft.com/office/officeart/2018/2/layout/IconCircleList"/>
    <dgm:cxn modelId="{9A11CB72-82D1-4755-84D7-57F5B33A8271}" type="presParOf" srcId="{AD02B503-E025-4D5D-A4AD-0AAE84923A35}" destId="{0600FC97-3A22-42A0-9872-EB60C5ECFD80}" srcOrd="1" destOrd="0" presId="urn:microsoft.com/office/officeart/2018/2/layout/IconCircleList"/>
    <dgm:cxn modelId="{FEBFA829-F3F8-422F-B3AD-C7F837983D83}" type="presParOf" srcId="{AD02B503-E025-4D5D-A4AD-0AAE84923A35}" destId="{E2A5B564-6393-4DB8-8AEB-54CE8D77914B}" srcOrd="2" destOrd="0" presId="urn:microsoft.com/office/officeart/2018/2/layout/IconCircleList"/>
    <dgm:cxn modelId="{F2FF554E-7DEC-45FA-9B81-F0282C979DD6}" type="presParOf" srcId="{E2A5B564-6393-4DB8-8AEB-54CE8D77914B}" destId="{AA9F6E7F-4CED-4E6B-BC34-3FDF39ABA1FB}" srcOrd="0" destOrd="0" presId="urn:microsoft.com/office/officeart/2018/2/layout/IconCircleList"/>
    <dgm:cxn modelId="{37A894DA-2F56-4DF9-96E9-1A7887B7CD8B}" type="presParOf" srcId="{E2A5B564-6393-4DB8-8AEB-54CE8D77914B}" destId="{BA0AAA6B-8FE8-4D48-8E97-029848E8CFC9}" srcOrd="1" destOrd="0" presId="urn:microsoft.com/office/officeart/2018/2/layout/IconCircleList"/>
    <dgm:cxn modelId="{EFF257BC-C78F-400C-8041-55FE08CFB6BC}" type="presParOf" srcId="{E2A5B564-6393-4DB8-8AEB-54CE8D77914B}" destId="{E0D72A6D-83D3-406A-81CF-A6FE31E999A3}" srcOrd="2" destOrd="0" presId="urn:microsoft.com/office/officeart/2018/2/layout/IconCircleList"/>
    <dgm:cxn modelId="{A567FA53-56E1-4E21-BD37-C0DA78F86559}" type="presParOf" srcId="{E2A5B564-6393-4DB8-8AEB-54CE8D77914B}" destId="{B97A7B09-8A3D-41E9-B109-F4D342E4598D}" srcOrd="3" destOrd="0" presId="urn:microsoft.com/office/officeart/2018/2/layout/IconCircleList"/>
    <dgm:cxn modelId="{28C0081B-9C6B-4E2E-96AB-EF3266935C3C}" type="presParOf" srcId="{AD02B503-E025-4D5D-A4AD-0AAE84923A35}" destId="{48750EB2-2E29-4565-AAE5-5B26903135C0}" srcOrd="3" destOrd="0" presId="urn:microsoft.com/office/officeart/2018/2/layout/IconCircleList"/>
    <dgm:cxn modelId="{FBB1B080-FE7F-4500-91B2-624938336A17}" type="presParOf" srcId="{AD02B503-E025-4D5D-A4AD-0AAE84923A35}" destId="{9D70BC87-EA7F-49DF-AD98-313DDE8EF858}" srcOrd="4" destOrd="0" presId="urn:microsoft.com/office/officeart/2018/2/layout/IconCircleList"/>
    <dgm:cxn modelId="{FC9B3775-6A5B-4B03-9511-A84AEA0BCBF4}" type="presParOf" srcId="{9D70BC87-EA7F-49DF-AD98-313DDE8EF858}" destId="{2BDBE17E-7B21-445D-9DC6-44F4E24C72DC}" srcOrd="0" destOrd="0" presId="urn:microsoft.com/office/officeart/2018/2/layout/IconCircleList"/>
    <dgm:cxn modelId="{7FA5EC68-697D-4889-B87C-FD82EDA8D819}" type="presParOf" srcId="{9D70BC87-EA7F-49DF-AD98-313DDE8EF858}" destId="{7D7003ED-92BF-4C88-A77C-101E73A10E08}" srcOrd="1" destOrd="0" presId="urn:microsoft.com/office/officeart/2018/2/layout/IconCircleList"/>
    <dgm:cxn modelId="{73BE1E9E-6774-4A09-9BEF-7DCB6672B23A}" type="presParOf" srcId="{9D70BC87-EA7F-49DF-AD98-313DDE8EF858}" destId="{928A951F-F3F6-4958-B165-B1025B74549D}" srcOrd="2" destOrd="0" presId="urn:microsoft.com/office/officeart/2018/2/layout/IconCircleList"/>
    <dgm:cxn modelId="{AC3A7665-A5BF-4C22-9107-5665AC149346}" type="presParOf" srcId="{9D70BC87-EA7F-49DF-AD98-313DDE8EF858}" destId="{5C59E5EB-A160-4FBB-AF13-0334D55F5C02}"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81D8A03-2BC5-4E36-9D6B-9BCA6B63562C}" type="doc">
      <dgm:prSet loTypeId="urn:microsoft.com/office/officeart/2018/2/layout/IconVerticalSolidList" loCatId="icon" qsTypeId="urn:microsoft.com/office/officeart/2005/8/quickstyle/simple1" qsCatId="simple" csTypeId="urn:microsoft.com/office/officeart/2005/8/colors/accent4_2" csCatId="accent4" phldr="1"/>
      <dgm:spPr/>
      <dgm:t>
        <a:bodyPr/>
        <a:lstStyle/>
        <a:p>
          <a:endParaRPr lang="en-US"/>
        </a:p>
      </dgm:t>
    </dgm:pt>
    <dgm:pt modelId="{3FA7908A-6B8A-4FB5-B035-1563D226F69C}">
      <dgm:prSet/>
      <dgm:spPr/>
      <dgm:t>
        <a:bodyPr/>
        <a:lstStyle/>
        <a:p>
          <a:pPr>
            <a:lnSpc>
              <a:spcPct val="100000"/>
            </a:lnSpc>
          </a:pPr>
          <a:r>
            <a:rPr lang="en-US"/>
            <a:t>Size for 2030 Peak</a:t>
          </a:r>
        </a:p>
      </dgm:t>
    </dgm:pt>
    <dgm:pt modelId="{2C06103F-45B3-4576-A431-3529CDF54B3D}" type="parTrans" cxnId="{52A335DA-EDC2-497E-9E64-0113381C3CA7}">
      <dgm:prSet/>
      <dgm:spPr/>
      <dgm:t>
        <a:bodyPr/>
        <a:lstStyle/>
        <a:p>
          <a:endParaRPr lang="en-US"/>
        </a:p>
      </dgm:t>
    </dgm:pt>
    <dgm:pt modelId="{D7A2BF3D-906A-4FAC-9667-6135D775E679}" type="sibTrans" cxnId="{52A335DA-EDC2-497E-9E64-0113381C3CA7}">
      <dgm:prSet phldrT="1" phldr="0"/>
      <dgm:spPr/>
      <dgm:t>
        <a:bodyPr/>
        <a:lstStyle/>
        <a:p>
          <a:endParaRPr lang="en-US"/>
        </a:p>
      </dgm:t>
    </dgm:pt>
    <dgm:pt modelId="{72642EB5-7AA2-4A9B-B19F-B5946669596A}">
      <dgm:prSet/>
      <dgm:spPr/>
      <dgm:t>
        <a:bodyPr/>
        <a:lstStyle/>
        <a:p>
          <a:pPr>
            <a:lnSpc>
              <a:spcPct val="100000"/>
            </a:lnSpc>
          </a:pPr>
          <a:r>
            <a:rPr lang="en-US"/>
            <a:t>Design temporary staging facilities for a minimum </a:t>
          </a:r>
          <a:r>
            <a:rPr lang="en-US">
              <a:latin typeface="Bierstadt"/>
            </a:rPr>
            <a:t>171,000</a:t>
          </a:r>
          <a:r>
            <a:rPr lang="en-US"/>
            <a:t> </a:t>
          </a:r>
          <a:r>
            <a:rPr lang="en-US">
              <a:latin typeface="Bierstadt"/>
            </a:rPr>
            <a:t>(Highest Peak of 142.5*1.2) </a:t>
          </a:r>
          <a:r>
            <a:rPr lang="en-US"/>
            <a:t>passengers/week  plus a 20% surge buffer. Sizing for the average will create bottlenecks by 2028.</a:t>
          </a:r>
        </a:p>
      </dgm:t>
    </dgm:pt>
    <dgm:pt modelId="{8994A2FC-B3BC-44A6-A92B-C394055F8785}" type="parTrans" cxnId="{24F93315-2A0A-43EE-AF09-78254ECD408F}">
      <dgm:prSet/>
      <dgm:spPr/>
      <dgm:t>
        <a:bodyPr/>
        <a:lstStyle/>
        <a:p>
          <a:endParaRPr lang="en-US"/>
        </a:p>
      </dgm:t>
    </dgm:pt>
    <dgm:pt modelId="{8FE8644F-CB91-4C9A-860B-DB2BC9134456}" type="sibTrans" cxnId="{24F93315-2A0A-43EE-AF09-78254ECD408F}">
      <dgm:prSet/>
      <dgm:spPr/>
      <dgm:t>
        <a:bodyPr/>
        <a:lstStyle/>
        <a:p>
          <a:endParaRPr lang="en-US"/>
        </a:p>
      </dgm:t>
    </dgm:pt>
    <dgm:pt modelId="{D7D1D06C-9016-45AD-A481-06E2F8744526}">
      <dgm:prSet/>
      <dgm:spPr/>
      <dgm:t>
        <a:bodyPr/>
        <a:lstStyle/>
        <a:p>
          <a:pPr>
            <a:lnSpc>
              <a:spcPct val="100000"/>
            </a:lnSpc>
          </a:pPr>
          <a:r>
            <a:rPr lang="en-US"/>
            <a:t>Refresh forecasts quarterly</a:t>
          </a:r>
        </a:p>
      </dgm:t>
    </dgm:pt>
    <dgm:pt modelId="{BC114A96-6EE2-4A0C-A16B-0AD63F786973}" type="parTrans" cxnId="{4FE24596-3A11-4108-965D-2799EBBA7DFC}">
      <dgm:prSet/>
      <dgm:spPr/>
      <dgm:t>
        <a:bodyPr/>
        <a:lstStyle/>
        <a:p>
          <a:endParaRPr lang="en-US"/>
        </a:p>
      </dgm:t>
    </dgm:pt>
    <dgm:pt modelId="{EE8A86D6-EEAD-4502-BC0B-2B7341DC19DD}" type="sibTrans" cxnId="{4FE24596-3A11-4108-965D-2799EBBA7DFC}">
      <dgm:prSet phldrT="2" phldr="0"/>
      <dgm:spPr/>
      <dgm:t>
        <a:bodyPr/>
        <a:lstStyle/>
        <a:p>
          <a:endParaRPr lang="en-US"/>
        </a:p>
      </dgm:t>
    </dgm:pt>
    <dgm:pt modelId="{65492A56-8F6C-4D90-8AAD-6964B80E49E7}">
      <dgm:prSet/>
      <dgm:spPr/>
      <dgm:t>
        <a:bodyPr/>
        <a:lstStyle/>
        <a:p>
          <a:pPr>
            <a:lnSpc>
              <a:spcPct val="100000"/>
            </a:lnSpc>
          </a:pPr>
          <a:r>
            <a:rPr lang="en-US"/>
            <a:t>Re-run the R forecasting pipeline every quarter as new ridership data arrives. The model framework is established — updates require minimal manual effort and keep projections current.</a:t>
          </a:r>
        </a:p>
      </dgm:t>
    </dgm:pt>
    <dgm:pt modelId="{39EE4488-E217-4A65-A711-AFF7B26D06BD}" type="parTrans" cxnId="{84D1C415-26FC-4C3A-BAE8-73DB4904A01B}">
      <dgm:prSet/>
      <dgm:spPr/>
      <dgm:t>
        <a:bodyPr/>
        <a:lstStyle/>
        <a:p>
          <a:endParaRPr lang="en-US"/>
        </a:p>
      </dgm:t>
    </dgm:pt>
    <dgm:pt modelId="{1ADE5E17-0B14-48E9-9D3A-4069597D0E2F}" type="sibTrans" cxnId="{84D1C415-26FC-4C3A-BAE8-73DB4904A01B}">
      <dgm:prSet/>
      <dgm:spPr/>
      <dgm:t>
        <a:bodyPr/>
        <a:lstStyle/>
        <a:p>
          <a:endParaRPr lang="en-US"/>
        </a:p>
      </dgm:t>
    </dgm:pt>
    <dgm:pt modelId="{7A72CB0B-9C8D-41E3-AE5C-D86BCC128CE3}">
      <dgm:prSet/>
      <dgm:spPr/>
      <dgm:t>
        <a:bodyPr/>
        <a:lstStyle/>
        <a:p>
          <a:pPr>
            <a:lnSpc>
              <a:spcPct val="100000"/>
            </a:lnSpc>
          </a:pPr>
          <a:r>
            <a:rPr lang="en-US"/>
            <a:t>Expand the Regression Model</a:t>
          </a:r>
        </a:p>
      </dgm:t>
    </dgm:pt>
    <dgm:pt modelId="{8C563CF1-0159-4727-83AE-8DEC1AEBC635}" type="parTrans" cxnId="{A92187ED-D2A8-4BB6-9E2B-5AFCE5FA8724}">
      <dgm:prSet/>
      <dgm:spPr/>
      <dgm:t>
        <a:bodyPr/>
        <a:lstStyle/>
        <a:p>
          <a:endParaRPr lang="en-US"/>
        </a:p>
      </dgm:t>
    </dgm:pt>
    <dgm:pt modelId="{B0FBEB66-830B-4FCF-B397-23D19DECE303}" type="sibTrans" cxnId="{A92187ED-D2A8-4BB6-9E2B-5AFCE5FA8724}">
      <dgm:prSet phldrT="3" phldr="0"/>
      <dgm:spPr/>
      <dgm:t>
        <a:bodyPr/>
        <a:lstStyle/>
        <a:p>
          <a:endParaRPr lang="en-US"/>
        </a:p>
      </dgm:t>
    </dgm:pt>
    <dgm:pt modelId="{E772CFC8-1E22-4BA2-8035-214E811DB5D9}">
      <dgm:prSet/>
      <dgm:spPr/>
      <dgm:t>
        <a:bodyPr/>
        <a:lstStyle/>
        <a:p>
          <a:pPr>
            <a:lnSpc>
              <a:spcPct val="100000"/>
            </a:lnSpc>
          </a:pPr>
          <a:r>
            <a:rPr lang="en-US"/>
            <a:t>Incorporate employment data, fuel prices, and remote-work indices as additional exogenous variables. These factors explain residual ridership variance not captured by weather and bus count alone.</a:t>
          </a:r>
        </a:p>
      </dgm:t>
    </dgm:pt>
    <dgm:pt modelId="{1B199611-15E9-4883-A6EB-8C9794439F32}" type="parTrans" cxnId="{BC27CE35-D16C-48F5-B68A-279314DBED8D}">
      <dgm:prSet/>
      <dgm:spPr/>
      <dgm:t>
        <a:bodyPr/>
        <a:lstStyle/>
        <a:p>
          <a:endParaRPr lang="en-US"/>
        </a:p>
      </dgm:t>
    </dgm:pt>
    <dgm:pt modelId="{9F20A93B-7792-45A9-BF74-D15426F18553}" type="sibTrans" cxnId="{BC27CE35-D16C-48F5-B68A-279314DBED8D}">
      <dgm:prSet/>
      <dgm:spPr/>
      <dgm:t>
        <a:bodyPr/>
        <a:lstStyle/>
        <a:p>
          <a:endParaRPr lang="en-US"/>
        </a:p>
      </dgm:t>
    </dgm:pt>
    <dgm:pt modelId="{147381BA-5F0D-4CDD-8F57-B2BF9EE8E1E6}">
      <dgm:prSet/>
      <dgm:spPr/>
      <dgm:t>
        <a:bodyPr/>
        <a:lstStyle/>
        <a:p>
          <a:pPr>
            <a:lnSpc>
              <a:spcPct val="100000"/>
            </a:lnSpc>
          </a:pPr>
          <a:r>
            <a:rPr lang="en-US"/>
            <a:t>Monitor the NJ Transit trajectory closely</a:t>
          </a:r>
        </a:p>
      </dgm:t>
    </dgm:pt>
    <dgm:pt modelId="{09668FF9-6413-4402-B30F-FA7052325395}" type="parTrans" cxnId="{25B321DE-A7BC-464C-99E0-0CB6D755626D}">
      <dgm:prSet/>
      <dgm:spPr/>
      <dgm:t>
        <a:bodyPr/>
        <a:lstStyle/>
        <a:p>
          <a:endParaRPr lang="en-US"/>
        </a:p>
      </dgm:t>
    </dgm:pt>
    <dgm:pt modelId="{79B86CA3-1A6A-4678-9274-95B44F05B393}" type="sibTrans" cxnId="{25B321DE-A7BC-464C-99E0-0CB6D755626D}">
      <dgm:prSet phldrT="4" phldr="0"/>
      <dgm:spPr/>
      <dgm:t>
        <a:bodyPr/>
        <a:lstStyle/>
        <a:p>
          <a:endParaRPr lang="en-US"/>
        </a:p>
      </dgm:t>
    </dgm:pt>
    <dgm:pt modelId="{21356BBE-D6CA-44A0-A6AF-9909084E6F07}">
      <dgm:prSet/>
      <dgm:spPr/>
      <dgm:t>
        <a:bodyPr/>
        <a:lstStyle/>
        <a:p>
          <a:pPr>
            <a:lnSpc>
              <a:spcPct val="100000"/>
            </a:lnSpc>
          </a:pPr>
          <a:r>
            <a:rPr lang="en-US"/>
            <a:t>NJ Transit accounts for</a:t>
          </a:r>
          <a:r>
            <a:rPr lang="en-US">
              <a:latin typeface="Bierstadt"/>
            </a:rPr>
            <a:t> roughly 75%</a:t>
          </a:r>
          <a:r>
            <a:rPr lang="en-US"/>
            <a:t> of terminal throughput. Its forecast from </a:t>
          </a:r>
          <a:r>
            <a:rPr lang="en-US">
              <a:latin typeface="Bierstadt"/>
            </a:rPr>
            <a:t>4.37M</a:t>
          </a:r>
          <a:r>
            <a:rPr lang="en-US"/>
            <a:t> to </a:t>
          </a:r>
          <a:r>
            <a:rPr lang="en-US">
              <a:latin typeface="Bierstadt"/>
            </a:rPr>
            <a:t>5.13M</a:t>
          </a:r>
          <a:r>
            <a:rPr lang="en-US"/>
            <a:t> annual passengers is the primary driver of all staging decisions — any service change has outsized impact</a:t>
          </a:r>
          <a:r>
            <a:rPr lang="en-US">
              <a:latin typeface="Bierstadt"/>
            </a:rPr>
            <a:t>.</a:t>
          </a:r>
        </a:p>
      </dgm:t>
    </dgm:pt>
    <dgm:pt modelId="{EBF452A4-986B-40D7-871D-5AF6B65BB73C}" type="parTrans" cxnId="{2BDAD512-9F59-4787-85E6-104EA30F46F1}">
      <dgm:prSet/>
      <dgm:spPr/>
      <dgm:t>
        <a:bodyPr/>
        <a:lstStyle/>
        <a:p>
          <a:endParaRPr lang="en-US"/>
        </a:p>
      </dgm:t>
    </dgm:pt>
    <dgm:pt modelId="{27B8C31D-7694-42F2-9837-00542AB6999B}" type="sibTrans" cxnId="{2BDAD512-9F59-4787-85E6-104EA30F46F1}">
      <dgm:prSet/>
      <dgm:spPr/>
      <dgm:t>
        <a:bodyPr/>
        <a:lstStyle/>
        <a:p>
          <a:endParaRPr lang="en-US"/>
        </a:p>
      </dgm:t>
    </dgm:pt>
    <dgm:pt modelId="{25F54915-0460-4CA7-867A-FB2B32603A97}" type="pres">
      <dgm:prSet presAssocID="{181D8A03-2BC5-4E36-9D6B-9BCA6B63562C}" presName="root" presStyleCnt="0">
        <dgm:presLayoutVars>
          <dgm:dir/>
          <dgm:resizeHandles val="exact"/>
        </dgm:presLayoutVars>
      </dgm:prSet>
      <dgm:spPr/>
    </dgm:pt>
    <dgm:pt modelId="{D583EFA6-6F58-4B74-BE1D-A799781A1FBC}" type="pres">
      <dgm:prSet presAssocID="{3FA7908A-6B8A-4FB5-B035-1563D226F69C}" presName="compNode" presStyleCnt="0"/>
      <dgm:spPr/>
    </dgm:pt>
    <dgm:pt modelId="{0E2FEA16-5632-476B-B1AF-28052D95DF96}" type="pres">
      <dgm:prSet presAssocID="{3FA7908A-6B8A-4FB5-B035-1563D226F69C}" presName="bgRect" presStyleLbl="bgShp" presStyleIdx="0" presStyleCnt="4"/>
      <dgm:spPr/>
    </dgm:pt>
    <dgm:pt modelId="{895FA466-F123-48A7-9D66-2661AA5E1D34}" type="pres">
      <dgm:prSet presAssocID="{3FA7908A-6B8A-4FB5-B035-1563D226F69C}" presName="iconRect" presStyleLbl="node1" presStyleIdx="0" presStyleCnt="4"/>
      <dgm:spPr>
        <a:blipFill>
          <a:blip xmlns:r="http://schemas.openxmlformats.org/officeDocument/2006/relationships">
            <a:extLs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High voltage with solid fill"/>
        </a:ext>
      </dgm:extLst>
    </dgm:pt>
    <dgm:pt modelId="{96982D27-751E-493B-BC01-0BAB63BBE483}" type="pres">
      <dgm:prSet presAssocID="{3FA7908A-6B8A-4FB5-B035-1563D226F69C}" presName="spaceRect" presStyleCnt="0"/>
      <dgm:spPr/>
    </dgm:pt>
    <dgm:pt modelId="{D5C931BF-96A7-478E-8718-9BC579255D33}" type="pres">
      <dgm:prSet presAssocID="{3FA7908A-6B8A-4FB5-B035-1563D226F69C}" presName="parTx" presStyleLbl="revTx" presStyleIdx="0" presStyleCnt="8">
        <dgm:presLayoutVars>
          <dgm:chMax val="0"/>
          <dgm:chPref val="0"/>
        </dgm:presLayoutVars>
      </dgm:prSet>
      <dgm:spPr/>
    </dgm:pt>
    <dgm:pt modelId="{DA3A8B06-A465-43DF-AF20-774757355FCF}" type="pres">
      <dgm:prSet presAssocID="{3FA7908A-6B8A-4FB5-B035-1563D226F69C}" presName="desTx" presStyleLbl="revTx" presStyleIdx="1" presStyleCnt="8">
        <dgm:presLayoutVars/>
      </dgm:prSet>
      <dgm:spPr/>
    </dgm:pt>
    <dgm:pt modelId="{2C8B958D-0816-4B44-AFBF-51E3476D68C0}" type="pres">
      <dgm:prSet presAssocID="{D7A2BF3D-906A-4FAC-9667-6135D775E679}" presName="sibTrans" presStyleCnt="0"/>
      <dgm:spPr/>
    </dgm:pt>
    <dgm:pt modelId="{E05C429D-21E0-4C83-93A0-C8233E6ABE4C}" type="pres">
      <dgm:prSet presAssocID="{D7D1D06C-9016-45AD-A481-06E2F8744526}" presName="compNode" presStyleCnt="0"/>
      <dgm:spPr/>
    </dgm:pt>
    <dgm:pt modelId="{7A56E5B2-68DB-46E5-A85A-94371660C19A}" type="pres">
      <dgm:prSet presAssocID="{D7D1D06C-9016-45AD-A481-06E2F8744526}" presName="bgRect" presStyleLbl="bgShp" presStyleIdx="1" presStyleCnt="4"/>
      <dgm:spPr/>
    </dgm:pt>
    <dgm:pt modelId="{966FF28C-CC5C-4148-9569-A986414AD7EB}" type="pres">
      <dgm:prSet presAssocID="{D7D1D06C-9016-45AD-A481-06E2F8744526}" presName="iconRect" presStyleLbl="node1" presStyleIdx="1" presStyleCnt="4"/>
      <dgm:spPr>
        <a:blipFill>
          <a:blip xmlns:r="http://schemas.openxmlformats.org/officeDocument/2006/relationships">
            <a:extLs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Repeat with solid fill"/>
        </a:ext>
      </dgm:extLst>
    </dgm:pt>
    <dgm:pt modelId="{DD149D81-61D9-47E0-9FD5-2F6BE9664510}" type="pres">
      <dgm:prSet presAssocID="{D7D1D06C-9016-45AD-A481-06E2F8744526}" presName="spaceRect" presStyleCnt="0"/>
      <dgm:spPr/>
    </dgm:pt>
    <dgm:pt modelId="{80E2DF98-2916-4F95-B08A-AFAE4743DDCA}" type="pres">
      <dgm:prSet presAssocID="{D7D1D06C-9016-45AD-A481-06E2F8744526}" presName="parTx" presStyleLbl="revTx" presStyleIdx="2" presStyleCnt="8">
        <dgm:presLayoutVars>
          <dgm:chMax val="0"/>
          <dgm:chPref val="0"/>
        </dgm:presLayoutVars>
      </dgm:prSet>
      <dgm:spPr/>
    </dgm:pt>
    <dgm:pt modelId="{0237D4F4-CE3B-4A82-AC4F-F7801357689C}" type="pres">
      <dgm:prSet presAssocID="{D7D1D06C-9016-45AD-A481-06E2F8744526}" presName="desTx" presStyleLbl="revTx" presStyleIdx="3" presStyleCnt="8">
        <dgm:presLayoutVars/>
      </dgm:prSet>
      <dgm:spPr/>
    </dgm:pt>
    <dgm:pt modelId="{B3B981F3-A206-4C0A-8D99-79172A02C3A9}" type="pres">
      <dgm:prSet presAssocID="{EE8A86D6-EEAD-4502-BC0B-2B7341DC19DD}" presName="sibTrans" presStyleCnt="0"/>
      <dgm:spPr/>
    </dgm:pt>
    <dgm:pt modelId="{38A0D801-0FB6-406E-A3A6-C75DD19E396C}" type="pres">
      <dgm:prSet presAssocID="{7A72CB0B-9C8D-41E3-AE5C-D86BCC128CE3}" presName="compNode" presStyleCnt="0"/>
      <dgm:spPr/>
    </dgm:pt>
    <dgm:pt modelId="{B568A434-7A56-41E0-874B-881614ABC29A}" type="pres">
      <dgm:prSet presAssocID="{7A72CB0B-9C8D-41E3-AE5C-D86BCC128CE3}" presName="bgRect" presStyleLbl="bgShp" presStyleIdx="2" presStyleCnt="4"/>
      <dgm:spPr/>
    </dgm:pt>
    <dgm:pt modelId="{66D493D6-62FD-4869-B165-E04E04C0E78D}" type="pres">
      <dgm:prSet presAssocID="{7A72CB0B-9C8D-41E3-AE5C-D86BCC128CE3}"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Bar Graph with Upward Trend"/>
        </a:ext>
      </dgm:extLst>
    </dgm:pt>
    <dgm:pt modelId="{72397883-B124-4148-92B1-F3C3E1643D98}" type="pres">
      <dgm:prSet presAssocID="{7A72CB0B-9C8D-41E3-AE5C-D86BCC128CE3}" presName="spaceRect" presStyleCnt="0"/>
      <dgm:spPr/>
    </dgm:pt>
    <dgm:pt modelId="{4367167D-318A-4317-8A1F-692789DAD6B8}" type="pres">
      <dgm:prSet presAssocID="{7A72CB0B-9C8D-41E3-AE5C-D86BCC128CE3}" presName="parTx" presStyleLbl="revTx" presStyleIdx="4" presStyleCnt="8">
        <dgm:presLayoutVars>
          <dgm:chMax val="0"/>
          <dgm:chPref val="0"/>
        </dgm:presLayoutVars>
      </dgm:prSet>
      <dgm:spPr/>
    </dgm:pt>
    <dgm:pt modelId="{7A6BE42C-B6F5-4DC6-B34E-451C8AA7CB0D}" type="pres">
      <dgm:prSet presAssocID="{7A72CB0B-9C8D-41E3-AE5C-D86BCC128CE3}" presName="desTx" presStyleLbl="revTx" presStyleIdx="5" presStyleCnt="8">
        <dgm:presLayoutVars/>
      </dgm:prSet>
      <dgm:spPr/>
    </dgm:pt>
    <dgm:pt modelId="{10CAD654-4B3F-428A-A23A-1BB83AC75CF6}" type="pres">
      <dgm:prSet presAssocID="{B0FBEB66-830B-4FCF-B397-23D19DECE303}" presName="sibTrans" presStyleCnt="0"/>
      <dgm:spPr/>
    </dgm:pt>
    <dgm:pt modelId="{F40F9695-DE8A-4DBF-8F13-F072726D580F}" type="pres">
      <dgm:prSet presAssocID="{147381BA-5F0D-4CDD-8F57-B2BF9EE8E1E6}" presName="compNode" presStyleCnt="0"/>
      <dgm:spPr/>
    </dgm:pt>
    <dgm:pt modelId="{97A1FB5F-1DB2-4CF9-938C-B970E78A5DC5}" type="pres">
      <dgm:prSet presAssocID="{147381BA-5F0D-4CDD-8F57-B2BF9EE8E1E6}" presName="bgRect" presStyleLbl="bgShp" presStyleIdx="3" presStyleCnt="4"/>
      <dgm:spPr/>
    </dgm:pt>
    <dgm:pt modelId="{5150AC1F-0CB7-4473-9C0C-9DABC36F457B}" type="pres">
      <dgm:prSet presAssocID="{147381BA-5F0D-4CDD-8F57-B2BF9EE8E1E6}"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treetcar"/>
        </a:ext>
      </dgm:extLst>
    </dgm:pt>
    <dgm:pt modelId="{FD1BBAF2-A462-488C-8843-E112DBDD5A60}" type="pres">
      <dgm:prSet presAssocID="{147381BA-5F0D-4CDD-8F57-B2BF9EE8E1E6}" presName="spaceRect" presStyleCnt="0"/>
      <dgm:spPr/>
    </dgm:pt>
    <dgm:pt modelId="{B04437B3-BFDC-4BC4-A090-71E74007F61D}" type="pres">
      <dgm:prSet presAssocID="{147381BA-5F0D-4CDD-8F57-B2BF9EE8E1E6}" presName="parTx" presStyleLbl="revTx" presStyleIdx="6" presStyleCnt="8">
        <dgm:presLayoutVars>
          <dgm:chMax val="0"/>
          <dgm:chPref val="0"/>
        </dgm:presLayoutVars>
      </dgm:prSet>
      <dgm:spPr/>
    </dgm:pt>
    <dgm:pt modelId="{C654FF49-A4E9-431A-A0BA-F6B20943A849}" type="pres">
      <dgm:prSet presAssocID="{147381BA-5F0D-4CDD-8F57-B2BF9EE8E1E6}" presName="desTx" presStyleLbl="revTx" presStyleIdx="7" presStyleCnt="8">
        <dgm:presLayoutVars/>
      </dgm:prSet>
      <dgm:spPr/>
    </dgm:pt>
  </dgm:ptLst>
  <dgm:cxnLst>
    <dgm:cxn modelId="{3B2F530F-47E8-4C9A-9747-D0B0312396BF}" type="presOf" srcId="{72642EB5-7AA2-4A9B-B19F-B5946669596A}" destId="{DA3A8B06-A465-43DF-AF20-774757355FCF}" srcOrd="0" destOrd="0" presId="urn:microsoft.com/office/officeart/2018/2/layout/IconVerticalSolidList"/>
    <dgm:cxn modelId="{2BDAD512-9F59-4787-85E6-104EA30F46F1}" srcId="{147381BA-5F0D-4CDD-8F57-B2BF9EE8E1E6}" destId="{21356BBE-D6CA-44A0-A6AF-9909084E6F07}" srcOrd="0" destOrd="0" parTransId="{EBF452A4-986B-40D7-871D-5AF6B65BB73C}" sibTransId="{27B8C31D-7694-42F2-9837-00542AB6999B}"/>
    <dgm:cxn modelId="{24F93315-2A0A-43EE-AF09-78254ECD408F}" srcId="{3FA7908A-6B8A-4FB5-B035-1563D226F69C}" destId="{72642EB5-7AA2-4A9B-B19F-B5946669596A}" srcOrd="0" destOrd="0" parTransId="{8994A2FC-B3BC-44A6-A92B-C394055F8785}" sibTransId="{8FE8644F-CB91-4C9A-860B-DB2BC9134456}"/>
    <dgm:cxn modelId="{84D1C415-26FC-4C3A-BAE8-73DB4904A01B}" srcId="{D7D1D06C-9016-45AD-A481-06E2F8744526}" destId="{65492A56-8F6C-4D90-8AAD-6964B80E49E7}" srcOrd="0" destOrd="0" parTransId="{39EE4488-E217-4A65-A711-AFF7B26D06BD}" sibTransId="{1ADE5E17-0B14-48E9-9D3A-4069597D0E2F}"/>
    <dgm:cxn modelId="{BC27CE35-D16C-48F5-B68A-279314DBED8D}" srcId="{7A72CB0B-9C8D-41E3-AE5C-D86BCC128CE3}" destId="{E772CFC8-1E22-4BA2-8035-214E811DB5D9}" srcOrd="0" destOrd="0" parTransId="{1B199611-15E9-4883-A6EB-8C9794439F32}" sibTransId="{9F20A93B-7792-45A9-BF74-D15426F18553}"/>
    <dgm:cxn modelId="{4CC7704B-7633-411E-BE2A-73A32EBC8CA7}" type="presOf" srcId="{181D8A03-2BC5-4E36-9D6B-9BCA6B63562C}" destId="{25F54915-0460-4CA7-867A-FB2B32603A97}" srcOrd="0" destOrd="0" presId="urn:microsoft.com/office/officeart/2018/2/layout/IconVerticalSolidList"/>
    <dgm:cxn modelId="{A9DF2758-EF08-4E1B-B9C1-35F937B80A61}" type="presOf" srcId="{147381BA-5F0D-4CDD-8F57-B2BF9EE8E1E6}" destId="{B04437B3-BFDC-4BC4-A090-71E74007F61D}" srcOrd="0" destOrd="0" presId="urn:microsoft.com/office/officeart/2018/2/layout/IconVerticalSolidList"/>
    <dgm:cxn modelId="{7ED75787-AC8A-4719-B95E-F399D69B4AD3}" type="presOf" srcId="{7A72CB0B-9C8D-41E3-AE5C-D86BCC128CE3}" destId="{4367167D-318A-4317-8A1F-692789DAD6B8}" srcOrd="0" destOrd="0" presId="urn:microsoft.com/office/officeart/2018/2/layout/IconVerticalSolidList"/>
    <dgm:cxn modelId="{B7CE178C-DCF8-4505-AD1E-02473D52C808}" type="presOf" srcId="{E772CFC8-1E22-4BA2-8035-214E811DB5D9}" destId="{7A6BE42C-B6F5-4DC6-B34E-451C8AA7CB0D}" srcOrd="0" destOrd="0" presId="urn:microsoft.com/office/officeart/2018/2/layout/IconVerticalSolidList"/>
    <dgm:cxn modelId="{4FE24596-3A11-4108-965D-2799EBBA7DFC}" srcId="{181D8A03-2BC5-4E36-9D6B-9BCA6B63562C}" destId="{D7D1D06C-9016-45AD-A481-06E2F8744526}" srcOrd="1" destOrd="0" parTransId="{BC114A96-6EE2-4A0C-A16B-0AD63F786973}" sibTransId="{EE8A86D6-EEAD-4502-BC0B-2B7341DC19DD}"/>
    <dgm:cxn modelId="{C09FFFA5-7049-47BD-BE02-71A6332A62D3}" type="presOf" srcId="{21356BBE-D6CA-44A0-A6AF-9909084E6F07}" destId="{C654FF49-A4E9-431A-A0BA-F6B20943A849}" srcOrd="0" destOrd="0" presId="urn:microsoft.com/office/officeart/2018/2/layout/IconVerticalSolidList"/>
    <dgm:cxn modelId="{94E3ECA6-72D2-4F14-997D-E2C624BE42CB}" type="presOf" srcId="{65492A56-8F6C-4D90-8AAD-6964B80E49E7}" destId="{0237D4F4-CE3B-4A82-AC4F-F7801357689C}" srcOrd="0" destOrd="0" presId="urn:microsoft.com/office/officeart/2018/2/layout/IconVerticalSolidList"/>
    <dgm:cxn modelId="{43B1A2D7-7628-4CDD-96E2-ED8F1649A9AD}" type="presOf" srcId="{D7D1D06C-9016-45AD-A481-06E2F8744526}" destId="{80E2DF98-2916-4F95-B08A-AFAE4743DDCA}" srcOrd="0" destOrd="0" presId="urn:microsoft.com/office/officeart/2018/2/layout/IconVerticalSolidList"/>
    <dgm:cxn modelId="{52A335DA-EDC2-497E-9E64-0113381C3CA7}" srcId="{181D8A03-2BC5-4E36-9D6B-9BCA6B63562C}" destId="{3FA7908A-6B8A-4FB5-B035-1563D226F69C}" srcOrd="0" destOrd="0" parTransId="{2C06103F-45B3-4576-A431-3529CDF54B3D}" sibTransId="{D7A2BF3D-906A-4FAC-9667-6135D775E679}"/>
    <dgm:cxn modelId="{25B321DE-A7BC-464C-99E0-0CB6D755626D}" srcId="{181D8A03-2BC5-4E36-9D6B-9BCA6B63562C}" destId="{147381BA-5F0D-4CDD-8F57-B2BF9EE8E1E6}" srcOrd="3" destOrd="0" parTransId="{09668FF9-6413-4402-B30F-FA7052325395}" sibTransId="{79B86CA3-1A6A-4678-9274-95B44F05B393}"/>
    <dgm:cxn modelId="{A92187ED-D2A8-4BB6-9E2B-5AFCE5FA8724}" srcId="{181D8A03-2BC5-4E36-9D6B-9BCA6B63562C}" destId="{7A72CB0B-9C8D-41E3-AE5C-D86BCC128CE3}" srcOrd="2" destOrd="0" parTransId="{8C563CF1-0159-4727-83AE-8DEC1AEBC635}" sibTransId="{B0FBEB66-830B-4FCF-B397-23D19DECE303}"/>
    <dgm:cxn modelId="{42563BF6-C0DE-4FBF-88BF-5CA6C06AE74B}" type="presOf" srcId="{3FA7908A-6B8A-4FB5-B035-1563D226F69C}" destId="{D5C931BF-96A7-478E-8718-9BC579255D33}" srcOrd="0" destOrd="0" presId="urn:microsoft.com/office/officeart/2018/2/layout/IconVerticalSolidList"/>
    <dgm:cxn modelId="{F6BCC1A6-6473-48C2-868E-B588D9BA44E2}" type="presParOf" srcId="{25F54915-0460-4CA7-867A-FB2B32603A97}" destId="{D583EFA6-6F58-4B74-BE1D-A799781A1FBC}" srcOrd="0" destOrd="0" presId="urn:microsoft.com/office/officeart/2018/2/layout/IconVerticalSolidList"/>
    <dgm:cxn modelId="{7D65E40A-EDC7-4C42-A49F-BFB92291EC23}" type="presParOf" srcId="{D583EFA6-6F58-4B74-BE1D-A799781A1FBC}" destId="{0E2FEA16-5632-476B-B1AF-28052D95DF96}" srcOrd="0" destOrd="0" presId="urn:microsoft.com/office/officeart/2018/2/layout/IconVerticalSolidList"/>
    <dgm:cxn modelId="{5915FDC4-A488-4293-9797-C780575B238D}" type="presParOf" srcId="{D583EFA6-6F58-4B74-BE1D-A799781A1FBC}" destId="{895FA466-F123-48A7-9D66-2661AA5E1D34}" srcOrd="1" destOrd="0" presId="urn:microsoft.com/office/officeart/2018/2/layout/IconVerticalSolidList"/>
    <dgm:cxn modelId="{95A5E877-0564-4371-8279-D9FC93CEBB73}" type="presParOf" srcId="{D583EFA6-6F58-4B74-BE1D-A799781A1FBC}" destId="{96982D27-751E-493B-BC01-0BAB63BBE483}" srcOrd="2" destOrd="0" presId="urn:microsoft.com/office/officeart/2018/2/layout/IconVerticalSolidList"/>
    <dgm:cxn modelId="{D9D21086-B1C1-4737-8DBE-3DF79AE01632}" type="presParOf" srcId="{D583EFA6-6F58-4B74-BE1D-A799781A1FBC}" destId="{D5C931BF-96A7-478E-8718-9BC579255D33}" srcOrd="3" destOrd="0" presId="urn:microsoft.com/office/officeart/2018/2/layout/IconVerticalSolidList"/>
    <dgm:cxn modelId="{3CD4CF9C-E7D2-406E-8425-4B6526013406}" type="presParOf" srcId="{D583EFA6-6F58-4B74-BE1D-A799781A1FBC}" destId="{DA3A8B06-A465-43DF-AF20-774757355FCF}" srcOrd="4" destOrd="0" presId="urn:microsoft.com/office/officeart/2018/2/layout/IconVerticalSolidList"/>
    <dgm:cxn modelId="{2DC42A27-2678-484A-A22E-451D250BE2FD}" type="presParOf" srcId="{25F54915-0460-4CA7-867A-FB2B32603A97}" destId="{2C8B958D-0816-4B44-AFBF-51E3476D68C0}" srcOrd="1" destOrd="0" presId="urn:microsoft.com/office/officeart/2018/2/layout/IconVerticalSolidList"/>
    <dgm:cxn modelId="{F81360A3-BFDD-4E70-879D-740FFC6B5D1B}" type="presParOf" srcId="{25F54915-0460-4CA7-867A-FB2B32603A97}" destId="{E05C429D-21E0-4C83-93A0-C8233E6ABE4C}" srcOrd="2" destOrd="0" presId="urn:microsoft.com/office/officeart/2018/2/layout/IconVerticalSolidList"/>
    <dgm:cxn modelId="{92E34C72-DF6C-48A4-8216-AD6FC67EE440}" type="presParOf" srcId="{E05C429D-21E0-4C83-93A0-C8233E6ABE4C}" destId="{7A56E5B2-68DB-46E5-A85A-94371660C19A}" srcOrd="0" destOrd="0" presId="urn:microsoft.com/office/officeart/2018/2/layout/IconVerticalSolidList"/>
    <dgm:cxn modelId="{6855E14F-6D01-4D93-A0CE-40CE3ECC7760}" type="presParOf" srcId="{E05C429D-21E0-4C83-93A0-C8233E6ABE4C}" destId="{966FF28C-CC5C-4148-9569-A986414AD7EB}" srcOrd="1" destOrd="0" presId="urn:microsoft.com/office/officeart/2018/2/layout/IconVerticalSolidList"/>
    <dgm:cxn modelId="{E1724C80-A0ED-4584-A9C1-0220D71022D6}" type="presParOf" srcId="{E05C429D-21E0-4C83-93A0-C8233E6ABE4C}" destId="{DD149D81-61D9-47E0-9FD5-2F6BE9664510}" srcOrd="2" destOrd="0" presId="urn:microsoft.com/office/officeart/2018/2/layout/IconVerticalSolidList"/>
    <dgm:cxn modelId="{231312E9-58BF-4390-8917-D69752794BFF}" type="presParOf" srcId="{E05C429D-21E0-4C83-93A0-C8233E6ABE4C}" destId="{80E2DF98-2916-4F95-B08A-AFAE4743DDCA}" srcOrd="3" destOrd="0" presId="urn:microsoft.com/office/officeart/2018/2/layout/IconVerticalSolidList"/>
    <dgm:cxn modelId="{D9B72A25-DD00-43C2-884F-2168099D1706}" type="presParOf" srcId="{E05C429D-21E0-4C83-93A0-C8233E6ABE4C}" destId="{0237D4F4-CE3B-4A82-AC4F-F7801357689C}" srcOrd="4" destOrd="0" presId="urn:microsoft.com/office/officeart/2018/2/layout/IconVerticalSolidList"/>
    <dgm:cxn modelId="{81E20804-18E1-4392-98E6-E279E2A9216C}" type="presParOf" srcId="{25F54915-0460-4CA7-867A-FB2B32603A97}" destId="{B3B981F3-A206-4C0A-8D99-79172A02C3A9}" srcOrd="3" destOrd="0" presId="urn:microsoft.com/office/officeart/2018/2/layout/IconVerticalSolidList"/>
    <dgm:cxn modelId="{100E61E5-35E3-4922-9ADB-8139130AE915}" type="presParOf" srcId="{25F54915-0460-4CA7-867A-FB2B32603A97}" destId="{38A0D801-0FB6-406E-A3A6-C75DD19E396C}" srcOrd="4" destOrd="0" presId="urn:microsoft.com/office/officeart/2018/2/layout/IconVerticalSolidList"/>
    <dgm:cxn modelId="{3E714B8A-A74B-4F4C-8735-EFE477D54BF6}" type="presParOf" srcId="{38A0D801-0FB6-406E-A3A6-C75DD19E396C}" destId="{B568A434-7A56-41E0-874B-881614ABC29A}" srcOrd="0" destOrd="0" presId="urn:microsoft.com/office/officeart/2018/2/layout/IconVerticalSolidList"/>
    <dgm:cxn modelId="{14264BB2-8E32-4665-A227-FDF3D1B844D2}" type="presParOf" srcId="{38A0D801-0FB6-406E-A3A6-C75DD19E396C}" destId="{66D493D6-62FD-4869-B165-E04E04C0E78D}" srcOrd="1" destOrd="0" presId="urn:microsoft.com/office/officeart/2018/2/layout/IconVerticalSolidList"/>
    <dgm:cxn modelId="{2F011D90-E552-4DFB-AA83-2729E25F935A}" type="presParOf" srcId="{38A0D801-0FB6-406E-A3A6-C75DD19E396C}" destId="{72397883-B124-4148-92B1-F3C3E1643D98}" srcOrd="2" destOrd="0" presId="urn:microsoft.com/office/officeart/2018/2/layout/IconVerticalSolidList"/>
    <dgm:cxn modelId="{A661198B-3B61-47E8-9416-981BBA30B223}" type="presParOf" srcId="{38A0D801-0FB6-406E-A3A6-C75DD19E396C}" destId="{4367167D-318A-4317-8A1F-692789DAD6B8}" srcOrd="3" destOrd="0" presId="urn:microsoft.com/office/officeart/2018/2/layout/IconVerticalSolidList"/>
    <dgm:cxn modelId="{85D308F6-80AA-4A94-83D0-1F4119A639FB}" type="presParOf" srcId="{38A0D801-0FB6-406E-A3A6-C75DD19E396C}" destId="{7A6BE42C-B6F5-4DC6-B34E-451C8AA7CB0D}" srcOrd="4" destOrd="0" presId="urn:microsoft.com/office/officeart/2018/2/layout/IconVerticalSolidList"/>
    <dgm:cxn modelId="{2356B64C-CD8C-49D2-95ED-3B77D98EE4AE}" type="presParOf" srcId="{25F54915-0460-4CA7-867A-FB2B32603A97}" destId="{10CAD654-4B3F-428A-A23A-1BB83AC75CF6}" srcOrd="5" destOrd="0" presId="urn:microsoft.com/office/officeart/2018/2/layout/IconVerticalSolidList"/>
    <dgm:cxn modelId="{FF5C7878-BD3C-451B-9822-82E3E291A5FC}" type="presParOf" srcId="{25F54915-0460-4CA7-867A-FB2B32603A97}" destId="{F40F9695-DE8A-4DBF-8F13-F072726D580F}" srcOrd="6" destOrd="0" presId="urn:microsoft.com/office/officeart/2018/2/layout/IconVerticalSolidList"/>
    <dgm:cxn modelId="{38F4633B-3F1E-4BDF-AD6B-E3D70F78D24F}" type="presParOf" srcId="{F40F9695-DE8A-4DBF-8F13-F072726D580F}" destId="{97A1FB5F-1DB2-4CF9-938C-B970E78A5DC5}" srcOrd="0" destOrd="0" presId="urn:microsoft.com/office/officeart/2018/2/layout/IconVerticalSolidList"/>
    <dgm:cxn modelId="{948C0A73-124F-4EB4-86A5-B7C8E4C3A04E}" type="presParOf" srcId="{F40F9695-DE8A-4DBF-8F13-F072726D580F}" destId="{5150AC1F-0CB7-4473-9C0C-9DABC36F457B}" srcOrd="1" destOrd="0" presId="urn:microsoft.com/office/officeart/2018/2/layout/IconVerticalSolidList"/>
    <dgm:cxn modelId="{CDADA48F-89E1-4E41-9E79-5BC319840563}" type="presParOf" srcId="{F40F9695-DE8A-4DBF-8F13-F072726D580F}" destId="{FD1BBAF2-A462-488C-8843-E112DBDD5A60}" srcOrd="2" destOrd="0" presId="urn:microsoft.com/office/officeart/2018/2/layout/IconVerticalSolidList"/>
    <dgm:cxn modelId="{FD8454FE-9D27-40E6-A3D9-502BC2919412}" type="presParOf" srcId="{F40F9695-DE8A-4DBF-8F13-F072726D580F}" destId="{B04437B3-BFDC-4BC4-A090-71E74007F61D}" srcOrd="3" destOrd="0" presId="urn:microsoft.com/office/officeart/2018/2/layout/IconVerticalSolidList"/>
    <dgm:cxn modelId="{DE2A7053-DA64-4E88-B895-ED27330DC2B8}" type="presParOf" srcId="{F40F9695-DE8A-4DBF-8F13-F072726D580F}" destId="{C654FF49-A4E9-431A-A0BA-F6B20943A849}"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1DC003-99BB-4576-8BE9-74BB4E2E5394}">
      <dsp:nvSpPr>
        <dsp:cNvPr id="0" name=""/>
        <dsp:cNvSpPr/>
      </dsp:nvSpPr>
      <dsp:spPr>
        <a:xfrm>
          <a:off x="0" y="4093"/>
          <a:ext cx="8196508" cy="871887"/>
        </a:xfrm>
        <a:prstGeom prst="roundRect">
          <a:avLst>
            <a:gd name="adj" fmla="val 1000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23C3F81-B1FA-4D81-88E7-15C1636BDD20}">
      <dsp:nvSpPr>
        <dsp:cNvPr id="0" name=""/>
        <dsp:cNvSpPr/>
      </dsp:nvSpPr>
      <dsp:spPr>
        <a:xfrm>
          <a:off x="263745" y="200268"/>
          <a:ext cx="479538" cy="47953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B6013A6-BFC7-442A-8008-64CDD25DEC92}">
      <dsp:nvSpPr>
        <dsp:cNvPr id="0" name=""/>
        <dsp:cNvSpPr/>
      </dsp:nvSpPr>
      <dsp:spPr>
        <a:xfrm>
          <a:off x="1007030" y="4093"/>
          <a:ext cx="3688428" cy="8718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275" tIns="92275" rIns="92275" bIns="92275" numCol="1" spcCol="1270" anchor="ctr" anchorCtr="0">
          <a:noAutofit/>
        </a:bodyPr>
        <a:lstStyle/>
        <a:p>
          <a:pPr marL="0" lvl="0" indent="0" algn="l" defTabSz="844550">
            <a:lnSpc>
              <a:spcPct val="100000"/>
            </a:lnSpc>
            <a:spcBef>
              <a:spcPct val="0"/>
            </a:spcBef>
            <a:spcAft>
              <a:spcPct val="35000"/>
            </a:spcAft>
            <a:buNone/>
          </a:pPr>
          <a:r>
            <a:rPr lang="en-US" sz="1900" kern="1200"/>
            <a:t>Passenger Forecast 2026 – 2030</a:t>
          </a:r>
        </a:p>
      </dsp:txBody>
      <dsp:txXfrm>
        <a:off x="1007030" y="4093"/>
        <a:ext cx="3688428" cy="871887"/>
      </dsp:txXfrm>
    </dsp:sp>
    <dsp:sp modelId="{7385BE4A-09C1-4422-820F-FB506D05B7B5}">
      <dsp:nvSpPr>
        <dsp:cNvPr id="0" name=""/>
        <dsp:cNvSpPr/>
      </dsp:nvSpPr>
      <dsp:spPr>
        <a:xfrm>
          <a:off x="4695458" y="4093"/>
          <a:ext cx="3501049" cy="8718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275" tIns="92275" rIns="92275" bIns="92275" numCol="1" spcCol="1270" anchor="ctr" anchorCtr="0">
          <a:noAutofit/>
        </a:bodyPr>
        <a:lstStyle/>
        <a:p>
          <a:pPr marL="0" lvl="0" indent="0" algn="l" defTabSz="666750" rtl="0">
            <a:lnSpc>
              <a:spcPct val="100000"/>
            </a:lnSpc>
            <a:spcBef>
              <a:spcPct val="0"/>
            </a:spcBef>
            <a:spcAft>
              <a:spcPct val="35000"/>
            </a:spcAft>
            <a:buNone/>
          </a:pPr>
          <a:r>
            <a:rPr lang="en-US" sz="1500" kern="1200">
              <a:latin typeface="Bierstadt"/>
            </a:rPr>
            <a:t>Terminal</a:t>
          </a:r>
          <a:r>
            <a:rPr lang="en-US" sz="1500" kern="1200"/>
            <a:t> level weekly annual passenger demand using SARIMAX, ETS, and </a:t>
          </a:r>
          <a:r>
            <a:rPr lang="en-US" sz="1500" kern="1200">
              <a:latin typeface="Bierstadt"/>
            </a:rPr>
            <a:t>Prophet</a:t>
          </a:r>
          <a:endParaRPr lang="en-US" sz="1500" kern="1200"/>
        </a:p>
      </dsp:txBody>
      <dsp:txXfrm>
        <a:off x="4695458" y="4093"/>
        <a:ext cx="3501049" cy="871887"/>
      </dsp:txXfrm>
    </dsp:sp>
    <dsp:sp modelId="{00B91081-0261-4735-B8DF-DADB391CDAC3}">
      <dsp:nvSpPr>
        <dsp:cNvPr id="0" name=""/>
        <dsp:cNvSpPr/>
      </dsp:nvSpPr>
      <dsp:spPr>
        <a:xfrm>
          <a:off x="0" y="1093952"/>
          <a:ext cx="8196508" cy="871887"/>
        </a:xfrm>
        <a:prstGeom prst="roundRect">
          <a:avLst>
            <a:gd name="adj" fmla="val 1000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D6EDC87-DAA5-40AB-A2BB-84EC992BBB18}">
      <dsp:nvSpPr>
        <dsp:cNvPr id="0" name=""/>
        <dsp:cNvSpPr/>
      </dsp:nvSpPr>
      <dsp:spPr>
        <a:xfrm>
          <a:off x="263745" y="1290127"/>
          <a:ext cx="479538" cy="47953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834E9DE-0B6F-44F4-8B06-7AD0529A9F35}">
      <dsp:nvSpPr>
        <dsp:cNvPr id="0" name=""/>
        <dsp:cNvSpPr/>
      </dsp:nvSpPr>
      <dsp:spPr>
        <a:xfrm>
          <a:off x="1007030" y="1093952"/>
          <a:ext cx="3688428" cy="8718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275" tIns="92275" rIns="92275" bIns="92275" numCol="1" spcCol="1270" anchor="ctr" anchorCtr="0">
          <a:noAutofit/>
        </a:bodyPr>
        <a:lstStyle/>
        <a:p>
          <a:pPr marL="0" lvl="0" indent="0" algn="l" defTabSz="844550">
            <a:lnSpc>
              <a:spcPct val="100000"/>
            </a:lnSpc>
            <a:spcBef>
              <a:spcPct val="0"/>
            </a:spcBef>
            <a:spcAft>
              <a:spcPct val="35000"/>
            </a:spcAft>
            <a:buNone/>
          </a:pPr>
          <a:r>
            <a:rPr lang="en-US" sz="1900" kern="1200"/>
            <a:t>Key Drivers of Ridership</a:t>
          </a:r>
        </a:p>
      </dsp:txBody>
      <dsp:txXfrm>
        <a:off x="1007030" y="1093952"/>
        <a:ext cx="3688428" cy="871887"/>
      </dsp:txXfrm>
    </dsp:sp>
    <dsp:sp modelId="{F2AA8D22-5544-4FEB-9F29-2525DF5439AA}">
      <dsp:nvSpPr>
        <dsp:cNvPr id="0" name=""/>
        <dsp:cNvSpPr/>
      </dsp:nvSpPr>
      <dsp:spPr>
        <a:xfrm>
          <a:off x="4695458" y="1093952"/>
          <a:ext cx="3501049" cy="8718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275" tIns="92275" rIns="92275" bIns="92275" numCol="1" spcCol="1270" anchor="ctr" anchorCtr="0">
          <a:noAutofit/>
        </a:bodyPr>
        <a:lstStyle/>
        <a:p>
          <a:pPr marL="0" lvl="0" indent="0" algn="l" defTabSz="666750" rtl="0">
            <a:lnSpc>
              <a:spcPct val="100000"/>
            </a:lnSpc>
            <a:spcBef>
              <a:spcPct val="0"/>
            </a:spcBef>
            <a:spcAft>
              <a:spcPct val="35000"/>
            </a:spcAft>
            <a:buNone/>
          </a:pPr>
          <a:r>
            <a:rPr lang="en-US" sz="1500" kern="1200">
              <a:latin typeface="Bierstadt"/>
            </a:rPr>
            <a:t>Multiple</a:t>
          </a:r>
          <a:r>
            <a:rPr lang="en-US" sz="1500" kern="1200"/>
            <a:t> Linear Regression  identifies </a:t>
          </a:r>
          <a:r>
            <a:rPr lang="en-US" sz="1500" kern="1200">
              <a:latin typeface="Bierstadt"/>
            </a:rPr>
            <a:t>Bus Count</a:t>
          </a:r>
          <a:r>
            <a:rPr lang="en-US" sz="1500" kern="1200"/>
            <a:t>, Temperature, and Snowfall as primary factors</a:t>
          </a:r>
        </a:p>
      </dsp:txBody>
      <dsp:txXfrm>
        <a:off x="4695458" y="1093952"/>
        <a:ext cx="3501049" cy="871887"/>
      </dsp:txXfrm>
    </dsp:sp>
    <dsp:sp modelId="{941FAC42-6EC2-4A17-8CE3-1CA4200A84F4}">
      <dsp:nvSpPr>
        <dsp:cNvPr id="0" name=""/>
        <dsp:cNvSpPr/>
      </dsp:nvSpPr>
      <dsp:spPr>
        <a:xfrm>
          <a:off x="0" y="2183812"/>
          <a:ext cx="8196508" cy="871887"/>
        </a:xfrm>
        <a:prstGeom prst="roundRect">
          <a:avLst>
            <a:gd name="adj" fmla="val 1000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0E2B36A-38D6-47D9-98D2-CC3BEC460D3F}">
      <dsp:nvSpPr>
        <dsp:cNvPr id="0" name=""/>
        <dsp:cNvSpPr/>
      </dsp:nvSpPr>
      <dsp:spPr>
        <a:xfrm>
          <a:off x="263745" y="2379986"/>
          <a:ext cx="479538" cy="47953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D454728-89D8-48DC-9676-D85D7363CB7A}">
      <dsp:nvSpPr>
        <dsp:cNvPr id="0" name=""/>
        <dsp:cNvSpPr/>
      </dsp:nvSpPr>
      <dsp:spPr>
        <a:xfrm>
          <a:off x="1007030" y="2183812"/>
          <a:ext cx="3688428" cy="8718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275" tIns="92275" rIns="92275" bIns="92275" numCol="1" spcCol="1270" anchor="ctr" anchorCtr="0">
          <a:noAutofit/>
        </a:bodyPr>
        <a:lstStyle/>
        <a:p>
          <a:pPr marL="0" lvl="0" indent="0" algn="l" defTabSz="844550">
            <a:lnSpc>
              <a:spcPct val="100000"/>
            </a:lnSpc>
            <a:spcBef>
              <a:spcPct val="0"/>
            </a:spcBef>
            <a:spcAft>
              <a:spcPct val="35000"/>
            </a:spcAft>
            <a:buNone/>
          </a:pPr>
          <a:r>
            <a:rPr lang="en-US" sz="1900" kern="1200"/>
            <a:t>Carrier Level Projections</a:t>
          </a:r>
        </a:p>
      </dsp:txBody>
      <dsp:txXfrm>
        <a:off x="1007030" y="2183812"/>
        <a:ext cx="3688428" cy="871887"/>
      </dsp:txXfrm>
    </dsp:sp>
    <dsp:sp modelId="{6966BCA5-18BE-4658-BC1F-487EC54CA464}">
      <dsp:nvSpPr>
        <dsp:cNvPr id="0" name=""/>
        <dsp:cNvSpPr/>
      </dsp:nvSpPr>
      <dsp:spPr>
        <a:xfrm>
          <a:off x="4695458" y="2183812"/>
          <a:ext cx="3501049" cy="8718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275" tIns="92275" rIns="92275" bIns="92275" numCol="1" spcCol="1270" anchor="ctr" anchorCtr="0">
          <a:noAutofit/>
        </a:bodyPr>
        <a:lstStyle/>
        <a:p>
          <a:pPr marL="0" lvl="0" indent="0" algn="l" defTabSz="666750">
            <a:lnSpc>
              <a:spcPct val="100000"/>
            </a:lnSpc>
            <a:spcBef>
              <a:spcPct val="0"/>
            </a:spcBef>
            <a:spcAft>
              <a:spcPct val="35000"/>
            </a:spcAft>
            <a:buNone/>
          </a:pPr>
          <a:r>
            <a:rPr lang="en-US" sz="1500" kern="1200"/>
            <a:t>Individual forecasts for 10 carriers using best-fit model per carrier</a:t>
          </a:r>
        </a:p>
      </dsp:txBody>
      <dsp:txXfrm>
        <a:off x="4695458" y="2183812"/>
        <a:ext cx="3501049" cy="871887"/>
      </dsp:txXfrm>
    </dsp:sp>
    <dsp:sp modelId="{AB00DB06-E7AA-40B1-B89C-E8DE9DE8AC5B}">
      <dsp:nvSpPr>
        <dsp:cNvPr id="0" name=""/>
        <dsp:cNvSpPr/>
      </dsp:nvSpPr>
      <dsp:spPr>
        <a:xfrm>
          <a:off x="0" y="3273671"/>
          <a:ext cx="8196508" cy="871887"/>
        </a:xfrm>
        <a:prstGeom prst="roundRect">
          <a:avLst>
            <a:gd name="adj" fmla="val 1000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DFB2B0-B96D-43D6-BF50-08F97F911DFB}">
      <dsp:nvSpPr>
        <dsp:cNvPr id="0" name=""/>
        <dsp:cNvSpPr/>
      </dsp:nvSpPr>
      <dsp:spPr>
        <a:xfrm>
          <a:off x="263745" y="3469846"/>
          <a:ext cx="479538" cy="47953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35A8BE1-A664-4279-A801-EECCEBEDBC36}">
      <dsp:nvSpPr>
        <dsp:cNvPr id="0" name=""/>
        <dsp:cNvSpPr/>
      </dsp:nvSpPr>
      <dsp:spPr>
        <a:xfrm>
          <a:off x="1007030" y="3273671"/>
          <a:ext cx="3688428" cy="8718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275" tIns="92275" rIns="92275" bIns="92275" numCol="1" spcCol="1270" anchor="ctr" anchorCtr="0">
          <a:noAutofit/>
        </a:bodyPr>
        <a:lstStyle/>
        <a:p>
          <a:pPr marL="0" lvl="0" indent="0" algn="l" defTabSz="844550">
            <a:lnSpc>
              <a:spcPct val="100000"/>
            </a:lnSpc>
            <a:spcBef>
              <a:spcPct val="0"/>
            </a:spcBef>
            <a:spcAft>
              <a:spcPct val="35000"/>
            </a:spcAft>
            <a:buNone/>
          </a:pPr>
          <a:r>
            <a:rPr lang="en-US" sz="1900" kern="1200"/>
            <a:t>Busiest Weeks, Months, and Years</a:t>
          </a:r>
        </a:p>
      </dsp:txBody>
      <dsp:txXfrm>
        <a:off x="1007030" y="3273671"/>
        <a:ext cx="3688428" cy="871887"/>
      </dsp:txXfrm>
    </dsp:sp>
    <dsp:sp modelId="{3D4AC71D-AA96-4E18-AE72-84D5CB362ED4}">
      <dsp:nvSpPr>
        <dsp:cNvPr id="0" name=""/>
        <dsp:cNvSpPr/>
      </dsp:nvSpPr>
      <dsp:spPr>
        <a:xfrm>
          <a:off x="4695458" y="3273671"/>
          <a:ext cx="3501049" cy="8718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275" tIns="92275" rIns="92275" bIns="92275" numCol="1" spcCol="1270" anchor="ctr" anchorCtr="0">
          <a:noAutofit/>
        </a:bodyPr>
        <a:lstStyle/>
        <a:p>
          <a:pPr marL="0" lvl="0" indent="0" algn="l" defTabSz="666750">
            <a:lnSpc>
              <a:spcPct val="100000"/>
            </a:lnSpc>
            <a:spcBef>
              <a:spcPct val="0"/>
            </a:spcBef>
            <a:spcAft>
              <a:spcPct val="35000"/>
            </a:spcAft>
            <a:buNone/>
          </a:pPr>
          <a:r>
            <a:rPr lang="en-US" sz="1500" kern="1200"/>
            <a:t>Peak Periods Identified</a:t>
          </a:r>
        </a:p>
      </dsp:txBody>
      <dsp:txXfrm>
        <a:off x="4695458" y="3273671"/>
        <a:ext cx="3501049" cy="871887"/>
      </dsp:txXfrm>
    </dsp:sp>
    <dsp:sp modelId="{A4C12138-A116-4D08-BE9D-B792BAA48A98}">
      <dsp:nvSpPr>
        <dsp:cNvPr id="0" name=""/>
        <dsp:cNvSpPr/>
      </dsp:nvSpPr>
      <dsp:spPr>
        <a:xfrm>
          <a:off x="0" y="4363531"/>
          <a:ext cx="8196508" cy="871887"/>
        </a:xfrm>
        <a:prstGeom prst="roundRect">
          <a:avLst>
            <a:gd name="adj" fmla="val 1000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C5EB741-8856-46AC-A453-CDD12A209CB2}">
      <dsp:nvSpPr>
        <dsp:cNvPr id="0" name=""/>
        <dsp:cNvSpPr/>
      </dsp:nvSpPr>
      <dsp:spPr>
        <a:xfrm>
          <a:off x="263745" y="4559705"/>
          <a:ext cx="479538" cy="47953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C56C6B6-AB33-4E6B-A7E4-CFBF6D08FC3D}">
      <dsp:nvSpPr>
        <dsp:cNvPr id="0" name=""/>
        <dsp:cNvSpPr/>
      </dsp:nvSpPr>
      <dsp:spPr>
        <a:xfrm>
          <a:off x="1007030" y="4363531"/>
          <a:ext cx="3688428" cy="8718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275" tIns="92275" rIns="92275" bIns="92275" numCol="1" spcCol="1270" anchor="ctr" anchorCtr="0">
          <a:noAutofit/>
        </a:bodyPr>
        <a:lstStyle/>
        <a:p>
          <a:pPr marL="0" lvl="0" indent="0" algn="l" defTabSz="844550">
            <a:lnSpc>
              <a:spcPct val="100000"/>
            </a:lnSpc>
            <a:spcBef>
              <a:spcPct val="0"/>
            </a:spcBef>
            <a:spcAft>
              <a:spcPct val="35000"/>
            </a:spcAft>
            <a:buNone/>
          </a:pPr>
          <a:r>
            <a:rPr lang="en-US" sz="1900" kern="1200"/>
            <a:t>Recovery vs 2019 Pre-Covid Baseline</a:t>
          </a:r>
        </a:p>
      </dsp:txBody>
      <dsp:txXfrm>
        <a:off x="1007030" y="4363531"/>
        <a:ext cx="3688428" cy="871887"/>
      </dsp:txXfrm>
    </dsp:sp>
    <dsp:sp modelId="{508CC7F7-7E09-4F35-BAF3-476C6CFBF706}">
      <dsp:nvSpPr>
        <dsp:cNvPr id="0" name=""/>
        <dsp:cNvSpPr/>
      </dsp:nvSpPr>
      <dsp:spPr>
        <a:xfrm>
          <a:off x="4695458" y="4363531"/>
          <a:ext cx="3501049" cy="8718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275" tIns="92275" rIns="92275" bIns="92275" numCol="1" spcCol="1270" anchor="ctr" anchorCtr="0">
          <a:noAutofit/>
        </a:bodyPr>
        <a:lstStyle/>
        <a:p>
          <a:pPr marL="0" lvl="0" indent="0" algn="l" defTabSz="666750">
            <a:lnSpc>
              <a:spcPct val="100000"/>
            </a:lnSpc>
            <a:spcBef>
              <a:spcPct val="0"/>
            </a:spcBef>
            <a:spcAft>
              <a:spcPct val="35000"/>
            </a:spcAft>
            <a:buNone/>
          </a:pPr>
          <a:r>
            <a:rPr lang="en-US" sz="1500" kern="1200"/>
            <a:t>Terminal reached 89% recovery in 2026, projected to fully surpass by 2029</a:t>
          </a:r>
        </a:p>
      </dsp:txBody>
      <dsp:txXfrm>
        <a:off x="4695458" y="4363531"/>
        <a:ext cx="3501049" cy="87188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9E2DB0-04D5-4351-B4E3-8F4579CEEEB0}">
      <dsp:nvSpPr>
        <dsp:cNvPr id="0" name=""/>
        <dsp:cNvSpPr/>
      </dsp:nvSpPr>
      <dsp:spPr>
        <a:xfrm>
          <a:off x="0" y="319819"/>
          <a:ext cx="5064614" cy="835379"/>
        </a:xfrm>
        <a:prstGeom prst="roundRect">
          <a:avLst/>
        </a:prstGeom>
        <a:solidFill>
          <a:schemeClr val="lt1">
            <a:hueOff val="0"/>
            <a:satOff val="0"/>
            <a:lumOff val="0"/>
            <a:alphaOff val="0"/>
          </a:schemeClr>
        </a:solidFill>
        <a:ln w="1905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rtl="0">
            <a:lnSpc>
              <a:spcPct val="90000"/>
            </a:lnSpc>
            <a:spcBef>
              <a:spcPct val="0"/>
            </a:spcBef>
            <a:spcAft>
              <a:spcPct val="35000"/>
            </a:spcAft>
            <a:buNone/>
          </a:pPr>
          <a:r>
            <a:rPr lang="en-US" sz="2100" kern="1200"/>
            <a:t>Designed for real-world business forecasting</a:t>
          </a:r>
          <a:endParaRPr lang="en-US" sz="2100" kern="1200">
            <a:latin typeface="Bierstadt"/>
          </a:endParaRPr>
        </a:p>
      </dsp:txBody>
      <dsp:txXfrm>
        <a:off x="40780" y="360599"/>
        <a:ext cx="4983054" cy="753819"/>
      </dsp:txXfrm>
    </dsp:sp>
    <dsp:sp modelId="{C3449623-6241-4D77-94B7-440F8B4811A5}">
      <dsp:nvSpPr>
        <dsp:cNvPr id="0" name=""/>
        <dsp:cNvSpPr/>
      </dsp:nvSpPr>
      <dsp:spPr>
        <a:xfrm>
          <a:off x="0" y="1155199"/>
          <a:ext cx="5064614" cy="1043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0801"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kern="1200"/>
            <a:t>Captures seasonality, holidays, and trend shifts </a:t>
          </a:r>
        </a:p>
        <a:p>
          <a:pPr marL="171450" lvl="1" indent="-171450" algn="l" defTabSz="711200">
            <a:lnSpc>
              <a:spcPct val="90000"/>
            </a:lnSpc>
            <a:spcBef>
              <a:spcPct val="0"/>
            </a:spcBef>
            <a:spcAft>
              <a:spcPct val="20000"/>
            </a:spcAft>
            <a:buChar char="•"/>
          </a:pPr>
          <a:r>
            <a:rPr lang="en-US" sz="1600" kern="1200"/>
            <a:t>Handles post-COVID recovery patterns effectively </a:t>
          </a:r>
        </a:p>
        <a:p>
          <a:pPr marL="171450" lvl="1" indent="-171450" algn="l" defTabSz="711200">
            <a:lnSpc>
              <a:spcPct val="90000"/>
            </a:lnSpc>
            <a:spcBef>
              <a:spcPct val="0"/>
            </a:spcBef>
            <a:spcAft>
              <a:spcPct val="20000"/>
            </a:spcAft>
            <a:buChar char="•"/>
          </a:pPr>
          <a:r>
            <a:rPr lang="en-US" sz="1600" kern="1200"/>
            <a:t>Generates prediction intervals for planning uncertainty </a:t>
          </a:r>
        </a:p>
      </dsp:txBody>
      <dsp:txXfrm>
        <a:off x="0" y="1155199"/>
        <a:ext cx="5064614" cy="1043280"/>
      </dsp:txXfrm>
    </dsp:sp>
    <dsp:sp modelId="{633EA737-509A-48D7-A306-1295AAA42DE4}">
      <dsp:nvSpPr>
        <dsp:cNvPr id="0" name=""/>
        <dsp:cNvSpPr/>
      </dsp:nvSpPr>
      <dsp:spPr>
        <a:xfrm>
          <a:off x="0" y="2198479"/>
          <a:ext cx="5064614" cy="835379"/>
        </a:xfrm>
        <a:prstGeom prst="roundRect">
          <a:avLst/>
        </a:prstGeom>
        <a:solidFill>
          <a:schemeClr val="lt1">
            <a:hueOff val="0"/>
            <a:satOff val="0"/>
            <a:lumOff val="0"/>
            <a:alphaOff val="0"/>
          </a:schemeClr>
        </a:solidFill>
        <a:ln w="1905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Strong performance on terminal-driving demand</a:t>
          </a:r>
        </a:p>
      </dsp:txBody>
      <dsp:txXfrm>
        <a:off x="40780" y="2239259"/>
        <a:ext cx="4983054" cy="753819"/>
      </dsp:txXfrm>
    </dsp:sp>
    <dsp:sp modelId="{B9416F2A-93E0-4E4F-8DEB-F87FE369F2ED}">
      <dsp:nvSpPr>
        <dsp:cNvPr id="0" name=""/>
        <dsp:cNvSpPr/>
      </dsp:nvSpPr>
      <dsp:spPr>
        <a:xfrm>
          <a:off x="0" y="3033859"/>
          <a:ext cx="5064614" cy="7824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0801"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kern="1200"/>
            <a:t>NJ Transit represents ~75% of total terminal volume </a:t>
          </a:r>
        </a:p>
        <a:p>
          <a:pPr marL="171450" lvl="1" indent="-171450" algn="l" defTabSz="711200">
            <a:lnSpc>
              <a:spcPct val="90000"/>
            </a:lnSpc>
            <a:spcBef>
              <a:spcPct val="0"/>
            </a:spcBef>
            <a:spcAft>
              <a:spcPct val="20000"/>
            </a:spcAft>
            <a:buChar char="•"/>
          </a:pPr>
          <a:r>
            <a:rPr lang="en-US" sz="1600" kern="1200"/>
            <a:t>Prophet achieved very high fit for NJ Transit (R² = 0.987) </a:t>
          </a:r>
        </a:p>
      </dsp:txBody>
      <dsp:txXfrm>
        <a:off x="0" y="3033859"/>
        <a:ext cx="5064614" cy="78246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C0DC97-6DD1-406E-9C33-CC827D76E9A1}">
      <dsp:nvSpPr>
        <dsp:cNvPr id="0" name=""/>
        <dsp:cNvSpPr/>
      </dsp:nvSpPr>
      <dsp:spPr>
        <a:xfrm>
          <a:off x="721774" y="710073"/>
          <a:ext cx="840510" cy="840510"/>
        </a:xfrm>
        <a:prstGeom prst="ellipse">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4A37C29-C9C1-433D-8D25-11DBA748913D}">
      <dsp:nvSpPr>
        <dsp:cNvPr id="0" name=""/>
        <dsp:cNvSpPr/>
      </dsp:nvSpPr>
      <dsp:spPr>
        <a:xfrm>
          <a:off x="898281" y="886580"/>
          <a:ext cx="487495" cy="48749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58DD58E-F32E-4FAA-89AD-ADDDD2D6E54F}">
      <dsp:nvSpPr>
        <dsp:cNvPr id="0" name=""/>
        <dsp:cNvSpPr/>
      </dsp:nvSpPr>
      <dsp:spPr>
        <a:xfrm>
          <a:off x="1742393" y="710073"/>
          <a:ext cx="1981202" cy="8405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a:t>Bus Count</a:t>
          </a:r>
        </a:p>
      </dsp:txBody>
      <dsp:txXfrm>
        <a:off x="1742393" y="710073"/>
        <a:ext cx="1981202" cy="840510"/>
      </dsp:txXfrm>
    </dsp:sp>
    <dsp:sp modelId="{AA9F6E7F-4CED-4E6B-BC34-3FDF39ABA1FB}">
      <dsp:nvSpPr>
        <dsp:cNvPr id="0" name=""/>
        <dsp:cNvSpPr/>
      </dsp:nvSpPr>
      <dsp:spPr>
        <a:xfrm>
          <a:off x="4068805" y="710073"/>
          <a:ext cx="840510" cy="840510"/>
        </a:xfrm>
        <a:prstGeom prst="ellipse">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A0AAA6B-8FE8-4D48-8E97-029848E8CFC9}">
      <dsp:nvSpPr>
        <dsp:cNvPr id="0" name=""/>
        <dsp:cNvSpPr/>
      </dsp:nvSpPr>
      <dsp:spPr>
        <a:xfrm>
          <a:off x="4245312" y="886580"/>
          <a:ext cx="487495" cy="48749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97A7B09-8A3D-41E9-B109-F4D342E4598D}">
      <dsp:nvSpPr>
        <dsp:cNvPr id="0" name=""/>
        <dsp:cNvSpPr/>
      </dsp:nvSpPr>
      <dsp:spPr>
        <a:xfrm>
          <a:off x="5089425" y="710073"/>
          <a:ext cx="1981202" cy="8405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a:t>Temperature</a:t>
          </a:r>
        </a:p>
      </dsp:txBody>
      <dsp:txXfrm>
        <a:off x="5089425" y="710073"/>
        <a:ext cx="1981202" cy="840510"/>
      </dsp:txXfrm>
    </dsp:sp>
    <dsp:sp modelId="{2BDBE17E-7B21-445D-9DC6-44F4E24C72DC}">
      <dsp:nvSpPr>
        <dsp:cNvPr id="0" name=""/>
        <dsp:cNvSpPr/>
      </dsp:nvSpPr>
      <dsp:spPr>
        <a:xfrm>
          <a:off x="7415836" y="710073"/>
          <a:ext cx="840510" cy="840510"/>
        </a:xfrm>
        <a:prstGeom prst="ellipse">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D7003ED-92BF-4C88-A77C-101E73A10E08}">
      <dsp:nvSpPr>
        <dsp:cNvPr id="0" name=""/>
        <dsp:cNvSpPr/>
      </dsp:nvSpPr>
      <dsp:spPr>
        <a:xfrm>
          <a:off x="7592344" y="886580"/>
          <a:ext cx="487495" cy="48749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C59E5EB-A160-4FBB-AF13-0334D55F5C02}">
      <dsp:nvSpPr>
        <dsp:cNvPr id="0" name=""/>
        <dsp:cNvSpPr/>
      </dsp:nvSpPr>
      <dsp:spPr>
        <a:xfrm>
          <a:off x="8436456" y="710073"/>
          <a:ext cx="1981202" cy="8405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a:t>Snowfall</a:t>
          </a:r>
        </a:p>
      </dsp:txBody>
      <dsp:txXfrm>
        <a:off x="8436456" y="710073"/>
        <a:ext cx="1981202" cy="84051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2FEA16-5632-476B-B1AF-28052D95DF96}">
      <dsp:nvSpPr>
        <dsp:cNvPr id="0" name=""/>
        <dsp:cNvSpPr/>
      </dsp:nvSpPr>
      <dsp:spPr>
        <a:xfrm>
          <a:off x="0" y="2036"/>
          <a:ext cx="11222365" cy="1031923"/>
        </a:xfrm>
        <a:prstGeom prst="roundRect">
          <a:avLst>
            <a:gd name="adj" fmla="val 1000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95FA466-F123-48A7-9D66-2661AA5E1D34}">
      <dsp:nvSpPr>
        <dsp:cNvPr id="0" name=""/>
        <dsp:cNvSpPr/>
      </dsp:nvSpPr>
      <dsp:spPr>
        <a:xfrm>
          <a:off x="312156" y="234218"/>
          <a:ext cx="567558" cy="567558"/>
        </a:xfrm>
        <a:prstGeom prst="rect">
          <a:avLst/>
        </a:prstGeom>
        <a:blipFill>
          <a:blip xmlns:r="http://schemas.openxmlformats.org/officeDocument/2006/relationships">
            <a:extLs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5C931BF-96A7-478E-8718-9BC579255D33}">
      <dsp:nvSpPr>
        <dsp:cNvPr id="0" name=""/>
        <dsp:cNvSpPr/>
      </dsp:nvSpPr>
      <dsp:spPr>
        <a:xfrm>
          <a:off x="1191871" y="2036"/>
          <a:ext cx="5050064" cy="10319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9212" tIns="109212" rIns="109212" bIns="109212" numCol="1" spcCol="1270" anchor="ctr" anchorCtr="0">
          <a:noAutofit/>
        </a:bodyPr>
        <a:lstStyle/>
        <a:p>
          <a:pPr marL="0" lvl="0" indent="0" algn="l" defTabSz="977900">
            <a:lnSpc>
              <a:spcPct val="100000"/>
            </a:lnSpc>
            <a:spcBef>
              <a:spcPct val="0"/>
            </a:spcBef>
            <a:spcAft>
              <a:spcPct val="35000"/>
            </a:spcAft>
            <a:buNone/>
          </a:pPr>
          <a:r>
            <a:rPr lang="en-US" sz="2200" kern="1200"/>
            <a:t>Size for 2030 Peak</a:t>
          </a:r>
        </a:p>
      </dsp:txBody>
      <dsp:txXfrm>
        <a:off x="1191871" y="2036"/>
        <a:ext cx="5050064" cy="1031923"/>
      </dsp:txXfrm>
    </dsp:sp>
    <dsp:sp modelId="{DA3A8B06-A465-43DF-AF20-774757355FCF}">
      <dsp:nvSpPr>
        <dsp:cNvPr id="0" name=""/>
        <dsp:cNvSpPr/>
      </dsp:nvSpPr>
      <dsp:spPr>
        <a:xfrm>
          <a:off x="6241936" y="2036"/>
          <a:ext cx="4980429" cy="10319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9212" tIns="109212" rIns="109212" bIns="109212" numCol="1" spcCol="1270" anchor="ctr" anchorCtr="0">
          <a:noAutofit/>
        </a:bodyPr>
        <a:lstStyle/>
        <a:p>
          <a:pPr marL="0" lvl="0" indent="0" algn="l" defTabSz="577850">
            <a:lnSpc>
              <a:spcPct val="100000"/>
            </a:lnSpc>
            <a:spcBef>
              <a:spcPct val="0"/>
            </a:spcBef>
            <a:spcAft>
              <a:spcPct val="35000"/>
            </a:spcAft>
            <a:buNone/>
          </a:pPr>
          <a:r>
            <a:rPr lang="en-US" sz="1300" kern="1200"/>
            <a:t>Design temporary staging facilities for a minimum </a:t>
          </a:r>
          <a:r>
            <a:rPr lang="en-US" sz="1300" kern="1200">
              <a:latin typeface="Bierstadt"/>
            </a:rPr>
            <a:t>171,000</a:t>
          </a:r>
          <a:r>
            <a:rPr lang="en-US" sz="1300" kern="1200"/>
            <a:t> </a:t>
          </a:r>
          <a:r>
            <a:rPr lang="en-US" sz="1300" kern="1200">
              <a:latin typeface="Bierstadt"/>
            </a:rPr>
            <a:t>(Highest Peak of 142.5*1.2) </a:t>
          </a:r>
          <a:r>
            <a:rPr lang="en-US" sz="1300" kern="1200"/>
            <a:t>passengers/week  plus a 20% surge buffer. Sizing for the average will create bottlenecks by 2028.</a:t>
          </a:r>
        </a:p>
      </dsp:txBody>
      <dsp:txXfrm>
        <a:off x="6241936" y="2036"/>
        <a:ext cx="4980429" cy="1031923"/>
      </dsp:txXfrm>
    </dsp:sp>
    <dsp:sp modelId="{7A56E5B2-68DB-46E5-A85A-94371660C19A}">
      <dsp:nvSpPr>
        <dsp:cNvPr id="0" name=""/>
        <dsp:cNvSpPr/>
      </dsp:nvSpPr>
      <dsp:spPr>
        <a:xfrm>
          <a:off x="0" y="1291940"/>
          <a:ext cx="11222365" cy="1031923"/>
        </a:xfrm>
        <a:prstGeom prst="roundRect">
          <a:avLst>
            <a:gd name="adj" fmla="val 1000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66FF28C-CC5C-4148-9569-A986414AD7EB}">
      <dsp:nvSpPr>
        <dsp:cNvPr id="0" name=""/>
        <dsp:cNvSpPr/>
      </dsp:nvSpPr>
      <dsp:spPr>
        <a:xfrm>
          <a:off x="312156" y="1524123"/>
          <a:ext cx="567558" cy="567558"/>
        </a:xfrm>
        <a:prstGeom prst="rect">
          <a:avLst/>
        </a:prstGeom>
        <a:blipFill>
          <a:blip xmlns:r="http://schemas.openxmlformats.org/officeDocument/2006/relationships">
            <a:extLs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0E2DF98-2916-4F95-B08A-AFAE4743DDCA}">
      <dsp:nvSpPr>
        <dsp:cNvPr id="0" name=""/>
        <dsp:cNvSpPr/>
      </dsp:nvSpPr>
      <dsp:spPr>
        <a:xfrm>
          <a:off x="1191871" y="1291940"/>
          <a:ext cx="5050064" cy="10319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9212" tIns="109212" rIns="109212" bIns="109212" numCol="1" spcCol="1270" anchor="ctr" anchorCtr="0">
          <a:noAutofit/>
        </a:bodyPr>
        <a:lstStyle/>
        <a:p>
          <a:pPr marL="0" lvl="0" indent="0" algn="l" defTabSz="977900">
            <a:lnSpc>
              <a:spcPct val="100000"/>
            </a:lnSpc>
            <a:spcBef>
              <a:spcPct val="0"/>
            </a:spcBef>
            <a:spcAft>
              <a:spcPct val="35000"/>
            </a:spcAft>
            <a:buNone/>
          </a:pPr>
          <a:r>
            <a:rPr lang="en-US" sz="2200" kern="1200"/>
            <a:t>Refresh forecasts quarterly</a:t>
          </a:r>
        </a:p>
      </dsp:txBody>
      <dsp:txXfrm>
        <a:off x="1191871" y="1291940"/>
        <a:ext cx="5050064" cy="1031923"/>
      </dsp:txXfrm>
    </dsp:sp>
    <dsp:sp modelId="{0237D4F4-CE3B-4A82-AC4F-F7801357689C}">
      <dsp:nvSpPr>
        <dsp:cNvPr id="0" name=""/>
        <dsp:cNvSpPr/>
      </dsp:nvSpPr>
      <dsp:spPr>
        <a:xfrm>
          <a:off x="6241936" y="1291940"/>
          <a:ext cx="4980429" cy="10319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9212" tIns="109212" rIns="109212" bIns="109212" numCol="1" spcCol="1270" anchor="ctr" anchorCtr="0">
          <a:noAutofit/>
        </a:bodyPr>
        <a:lstStyle/>
        <a:p>
          <a:pPr marL="0" lvl="0" indent="0" algn="l" defTabSz="577850">
            <a:lnSpc>
              <a:spcPct val="100000"/>
            </a:lnSpc>
            <a:spcBef>
              <a:spcPct val="0"/>
            </a:spcBef>
            <a:spcAft>
              <a:spcPct val="35000"/>
            </a:spcAft>
            <a:buNone/>
          </a:pPr>
          <a:r>
            <a:rPr lang="en-US" sz="1300" kern="1200"/>
            <a:t>Re-run the R forecasting pipeline every quarter as new ridership data arrives. The model framework is established — updates require minimal manual effort and keep projections current.</a:t>
          </a:r>
        </a:p>
      </dsp:txBody>
      <dsp:txXfrm>
        <a:off x="6241936" y="1291940"/>
        <a:ext cx="4980429" cy="1031923"/>
      </dsp:txXfrm>
    </dsp:sp>
    <dsp:sp modelId="{B568A434-7A56-41E0-874B-881614ABC29A}">
      <dsp:nvSpPr>
        <dsp:cNvPr id="0" name=""/>
        <dsp:cNvSpPr/>
      </dsp:nvSpPr>
      <dsp:spPr>
        <a:xfrm>
          <a:off x="0" y="2581845"/>
          <a:ext cx="11222365" cy="1031923"/>
        </a:xfrm>
        <a:prstGeom prst="roundRect">
          <a:avLst>
            <a:gd name="adj" fmla="val 1000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6D493D6-62FD-4869-B165-E04E04C0E78D}">
      <dsp:nvSpPr>
        <dsp:cNvPr id="0" name=""/>
        <dsp:cNvSpPr/>
      </dsp:nvSpPr>
      <dsp:spPr>
        <a:xfrm>
          <a:off x="312156" y="2814028"/>
          <a:ext cx="567558" cy="56755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367167D-318A-4317-8A1F-692789DAD6B8}">
      <dsp:nvSpPr>
        <dsp:cNvPr id="0" name=""/>
        <dsp:cNvSpPr/>
      </dsp:nvSpPr>
      <dsp:spPr>
        <a:xfrm>
          <a:off x="1191871" y="2581845"/>
          <a:ext cx="5050064" cy="10319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9212" tIns="109212" rIns="109212" bIns="109212" numCol="1" spcCol="1270" anchor="ctr" anchorCtr="0">
          <a:noAutofit/>
        </a:bodyPr>
        <a:lstStyle/>
        <a:p>
          <a:pPr marL="0" lvl="0" indent="0" algn="l" defTabSz="977900">
            <a:lnSpc>
              <a:spcPct val="100000"/>
            </a:lnSpc>
            <a:spcBef>
              <a:spcPct val="0"/>
            </a:spcBef>
            <a:spcAft>
              <a:spcPct val="35000"/>
            </a:spcAft>
            <a:buNone/>
          </a:pPr>
          <a:r>
            <a:rPr lang="en-US" sz="2200" kern="1200"/>
            <a:t>Expand the Regression Model</a:t>
          </a:r>
        </a:p>
      </dsp:txBody>
      <dsp:txXfrm>
        <a:off x="1191871" y="2581845"/>
        <a:ext cx="5050064" cy="1031923"/>
      </dsp:txXfrm>
    </dsp:sp>
    <dsp:sp modelId="{7A6BE42C-B6F5-4DC6-B34E-451C8AA7CB0D}">
      <dsp:nvSpPr>
        <dsp:cNvPr id="0" name=""/>
        <dsp:cNvSpPr/>
      </dsp:nvSpPr>
      <dsp:spPr>
        <a:xfrm>
          <a:off x="6241936" y="2581845"/>
          <a:ext cx="4980429" cy="10319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9212" tIns="109212" rIns="109212" bIns="109212" numCol="1" spcCol="1270" anchor="ctr" anchorCtr="0">
          <a:noAutofit/>
        </a:bodyPr>
        <a:lstStyle/>
        <a:p>
          <a:pPr marL="0" lvl="0" indent="0" algn="l" defTabSz="577850">
            <a:lnSpc>
              <a:spcPct val="100000"/>
            </a:lnSpc>
            <a:spcBef>
              <a:spcPct val="0"/>
            </a:spcBef>
            <a:spcAft>
              <a:spcPct val="35000"/>
            </a:spcAft>
            <a:buNone/>
          </a:pPr>
          <a:r>
            <a:rPr lang="en-US" sz="1300" kern="1200"/>
            <a:t>Incorporate employment data, fuel prices, and remote-work indices as additional exogenous variables. These factors explain residual ridership variance not captured by weather and bus count alone.</a:t>
          </a:r>
        </a:p>
      </dsp:txBody>
      <dsp:txXfrm>
        <a:off x="6241936" y="2581845"/>
        <a:ext cx="4980429" cy="1031923"/>
      </dsp:txXfrm>
    </dsp:sp>
    <dsp:sp modelId="{97A1FB5F-1DB2-4CF9-938C-B970E78A5DC5}">
      <dsp:nvSpPr>
        <dsp:cNvPr id="0" name=""/>
        <dsp:cNvSpPr/>
      </dsp:nvSpPr>
      <dsp:spPr>
        <a:xfrm>
          <a:off x="0" y="3871750"/>
          <a:ext cx="11222365" cy="1031923"/>
        </a:xfrm>
        <a:prstGeom prst="roundRect">
          <a:avLst>
            <a:gd name="adj" fmla="val 1000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150AC1F-0CB7-4473-9C0C-9DABC36F457B}">
      <dsp:nvSpPr>
        <dsp:cNvPr id="0" name=""/>
        <dsp:cNvSpPr/>
      </dsp:nvSpPr>
      <dsp:spPr>
        <a:xfrm>
          <a:off x="312156" y="4103933"/>
          <a:ext cx="567558" cy="56755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04437B3-BFDC-4BC4-A090-71E74007F61D}">
      <dsp:nvSpPr>
        <dsp:cNvPr id="0" name=""/>
        <dsp:cNvSpPr/>
      </dsp:nvSpPr>
      <dsp:spPr>
        <a:xfrm>
          <a:off x="1191871" y="3871750"/>
          <a:ext cx="5050064" cy="10319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9212" tIns="109212" rIns="109212" bIns="109212" numCol="1" spcCol="1270" anchor="ctr" anchorCtr="0">
          <a:noAutofit/>
        </a:bodyPr>
        <a:lstStyle/>
        <a:p>
          <a:pPr marL="0" lvl="0" indent="0" algn="l" defTabSz="977900">
            <a:lnSpc>
              <a:spcPct val="100000"/>
            </a:lnSpc>
            <a:spcBef>
              <a:spcPct val="0"/>
            </a:spcBef>
            <a:spcAft>
              <a:spcPct val="35000"/>
            </a:spcAft>
            <a:buNone/>
          </a:pPr>
          <a:r>
            <a:rPr lang="en-US" sz="2200" kern="1200"/>
            <a:t>Monitor the NJ Transit trajectory closely</a:t>
          </a:r>
        </a:p>
      </dsp:txBody>
      <dsp:txXfrm>
        <a:off x="1191871" y="3871750"/>
        <a:ext cx="5050064" cy="1031923"/>
      </dsp:txXfrm>
    </dsp:sp>
    <dsp:sp modelId="{C654FF49-A4E9-431A-A0BA-F6B20943A849}">
      <dsp:nvSpPr>
        <dsp:cNvPr id="0" name=""/>
        <dsp:cNvSpPr/>
      </dsp:nvSpPr>
      <dsp:spPr>
        <a:xfrm>
          <a:off x="6241936" y="3871750"/>
          <a:ext cx="4980429" cy="10319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9212" tIns="109212" rIns="109212" bIns="109212" numCol="1" spcCol="1270" anchor="ctr" anchorCtr="0">
          <a:noAutofit/>
        </a:bodyPr>
        <a:lstStyle/>
        <a:p>
          <a:pPr marL="0" lvl="0" indent="0" algn="l" defTabSz="577850">
            <a:lnSpc>
              <a:spcPct val="100000"/>
            </a:lnSpc>
            <a:spcBef>
              <a:spcPct val="0"/>
            </a:spcBef>
            <a:spcAft>
              <a:spcPct val="35000"/>
            </a:spcAft>
            <a:buNone/>
          </a:pPr>
          <a:r>
            <a:rPr lang="en-US" sz="1300" kern="1200"/>
            <a:t>NJ Transit accounts for</a:t>
          </a:r>
          <a:r>
            <a:rPr lang="en-US" sz="1300" kern="1200">
              <a:latin typeface="Bierstadt"/>
            </a:rPr>
            <a:t> roughly 75%</a:t>
          </a:r>
          <a:r>
            <a:rPr lang="en-US" sz="1300" kern="1200"/>
            <a:t> of terminal throughput. Its forecast from </a:t>
          </a:r>
          <a:r>
            <a:rPr lang="en-US" sz="1300" kern="1200">
              <a:latin typeface="Bierstadt"/>
            </a:rPr>
            <a:t>4.37M</a:t>
          </a:r>
          <a:r>
            <a:rPr lang="en-US" sz="1300" kern="1200"/>
            <a:t> to </a:t>
          </a:r>
          <a:r>
            <a:rPr lang="en-US" sz="1300" kern="1200">
              <a:latin typeface="Bierstadt"/>
            </a:rPr>
            <a:t>5.13M</a:t>
          </a:r>
          <a:r>
            <a:rPr lang="en-US" sz="1300" kern="1200"/>
            <a:t> annual passengers is the primary driver of all staging decisions — any service change has outsized impact</a:t>
          </a:r>
          <a:r>
            <a:rPr lang="en-US" sz="1300" kern="1200">
              <a:latin typeface="Bierstadt"/>
            </a:rPr>
            <a:t>.</a:t>
          </a:r>
        </a:p>
      </dsp:txBody>
      <dsp:txXfrm>
        <a:off x="6241936" y="3871750"/>
        <a:ext cx="4980429" cy="1031923"/>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5/6/2026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222890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5/6/2026</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5644192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5/6/2026</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134286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5/6/2026</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5184748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5/6/2026</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3532046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5/6/2026</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0187655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5/6/2026</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7861626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5/6/2026</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4715831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5/6/2026</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1890775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5/6/2026</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0022890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5/6/2026</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3113305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5/6/2026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28284537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1.xml"/><Relationship Id="rId3" Type="http://schemas.openxmlformats.org/officeDocument/2006/relationships/diagramLayout" Target="../diagrams/layout1.xml"/><Relationship Id="rId4" Type="http://schemas.openxmlformats.org/officeDocument/2006/relationships/diagramQuickStyle" Target="../diagrams/quickStyle1.xml"/><Relationship Id="rId5" Type="http://schemas.openxmlformats.org/officeDocument/2006/relationships/diagramColors" Target="../diagrams/colors1.xml"/><Relationship Id="rId6" Type="http://schemas.microsoft.com/office/2007/relationships/diagramDrawing" Target="../diagrams/drawing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2.xml"/><Relationship Id="rId3" Type="http://schemas.openxmlformats.org/officeDocument/2006/relationships/diagramLayout" Target="../diagrams/layout2.xml"/><Relationship Id="rId4" Type="http://schemas.openxmlformats.org/officeDocument/2006/relationships/diagramQuickStyle" Target="../diagrams/quickStyle2.xml"/><Relationship Id="rId5" Type="http://schemas.openxmlformats.org/officeDocument/2006/relationships/diagramColors" Target="../diagrams/colors2.xml"/><Relationship Id="rId6" Type="http://schemas.microsoft.com/office/2007/relationships/diagramDrawing" Target="../diagrams/drawing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3.xml"/><Relationship Id="rId3" Type="http://schemas.openxmlformats.org/officeDocument/2006/relationships/diagramLayout" Target="../diagrams/layout3.xml"/><Relationship Id="rId4" Type="http://schemas.openxmlformats.org/officeDocument/2006/relationships/diagramQuickStyle" Target="../diagrams/quickStyle3.xml"/><Relationship Id="rId5" Type="http://schemas.openxmlformats.org/officeDocument/2006/relationships/diagramColors" Target="../diagrams/colors3.xml"/><Relationship Id="rId6" Type="http://schemas.microsoft.com/office/2007/relationships/diagramDrawing" Target="../diagrams/drawing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4.xml"/><Relationship Id="rId3" Type="http://schemas.openxmlformats.org/officeDocument/2006/relationships/diagramLayout" Target="../diagrams/layout4.xml"/><Relationship Id="rId4" Type="http://schemas.openxmlformats.org/officeDocument/2006/relationships/diagramQuickStyle" Target="../diagrams/quickStyle4.xml"/><Relationship Id="rId5" Type="http://schemas.openxmlformats.org/officeDocument/2006/relationships/diagramColors" Target="../diagrams/colors4.xml"/><Relationship Id="rId6" Type="http://schemas.microsoft.com/office/2007/relationships/diagramDrawing" Target="../diagrams/drawing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2" name="Rectangle 401">
            <a:extLst>
              <a:ext uri="{FF2B5EF4-FFF2-40B4-BE49-F238E27FC236}">
                <a16:creationId xmlns:a16="http://schemas.microsoft.com/office/drawing/2014/main" id="{FAF3766F-DEF3-4802-BB0D-7A18EDD970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517870" y="978408"/>
            <a:ext cx="3465681" cy="2450592"/>
          </a:xfrm>
        </p:spPr>
        <p:txBody>
          <a:bodyPr anchor="t">
            <a:normAutofit/>
          </a:bodyPr>
          <a:lstStyle/>
          <a:p>
            <a:pPr>
              <a:lnSpc>
                <a:spcPct val="90000"/>
              </a:lnSpc>
            </a:pPr>
            <a:r>
              <a:rPr lang="en-US" sz="3000">
                <a:solidFill>
                  <a:schemeClr val="tx2"/>
                </a:solidFill>
                <a:ea typeface="+mj-lt"/>
                <a:cs typeface="+mj-lt"/>
              </a:rPr>
              <a:t>Port Authority Bus Terminal: Demand Forecasting &amp; Capacity Planning for 2026–2030</a:t>
            </a:r>
            <a:endParaRPr lang="en-US" sz="3000">
              <a:solidFill>
                <a:schemeClr val="tx2"/>
              </a:solidFill>
            </a:endParaRPr>
          </a:p>
        </p:txBody>
      </p:sp>
      <p:sp>
        <p:nvSpPr>
          <p:cNvPr id="3" name="Subtitle 2"/>
          <p:cNvSpPr>
            <a:spLocks noGrp="1"/>
          </p:cNvSpPr>
          <p:nvPr>
            <p:ph type="subTitle" idx="1"/>
          </p:nvPr>
        </p:nvSpPr>
        <p:spPr>
          <a:xfrm>
            <a:off x="517870" y="4406871"/>
            <a:ext cx="3465681" cy="1709890"/>
          </a:xfrm>
        </p:spPr>
        <p:txBody>
          <a:bodyPr anchor="t">
            <a:normAutofit/>
          </a:bodyPr>
          <a:lstStyle/>
          <a:p>
            <a:r>
              <a:t>Graduate Analytics Project</a:t>
            </a:r>
          </a:p>
          <a:p>
            <a:r>
              <a:t>University of New Haven | Spring 2026</a:t>
            </a:r>
          </a:p>
        </p:txBody>
      </p:sp>
      <p:sp>
        <p:nvSpPr>
          <p:cNvPr id="403" name="Rectangle 402">
            <a:extLst>
              <a:ext uri="{FF2B5EF4-FFF2-40B4-BE49-F238E27FC236}">
                <a16:creationId xmlns:a16="http://schemas.microsoft.com/office/drawing/2014/main" id="{D91952F0-771E-D2ED-C333-EEED6708B8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1" y="508090"/>
            <a:ext cx="346642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Port of New York and New Jersey">
            <a:extLst>
              <a:ext uri="{FF2B5EF4-FFF2-40B4-BE49-F238E27FC236}">
                <a16:creationId xmlns:a16="http://schemas.microsoft.com/office/drawing/2014/main" id="{010F121A-00D2-D795-BC1D-9593040C3AD7}"/>
              </a:ext>
            </a:extLst>
          </p:cNvPr>
          <p:cNvPicPr>
            <a:picLocks noChangeAspect="1"/>
          </p:cNvPicPr>
          <p:nvPr/>
        </p:nvPicPr>
        <p:blipFill>
          <a:blip r:embed="rId2"/>
          <a:stretch>
            <a:fillRect/>
          </a:stretch>
        </p:blipFill>
        <p:spPr>
          <a:xfrm>
            <a:off x="4232366" y="1520971"/>
            <a:ext cx="7438426" cy="3914961"/>
          </a:xfrm>
          <a:prstGeom prst="rect">
            <a:avLst/>
          </a:prstGeom>
        </p:spPr>
      </p:pic>
      <p:sp>
        <p:nvSpPr>
          <p:cNvPr id="404" name="Rectangle 403">
            <a:extLst>
              <a:ext uri="{FF2B5EF4-FFF2-40B4-BE49-F238E27FC236}">
                <a16:creationId xmlns:a16="http://schemas.microsoft.com/office/drawing/2014/main" id="{3FB6D83C-2377-9CAD-A991-9E0B6AF250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1208" y="6299535"/>
            <a:ext cx="3465681" cy="464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7" name="Rectangle 56">
            <a:extLst>
              <a:ext uri="{FF2B5EF4-FFF2-40B4-BE49-F238E27FC236}">
                <a16:creationId xmlns:a16="http://schemas.microsoft.com/office/drawing/2014/main" id="{F420BC5C-C418-4843-B04B-6918968D09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E7C303E-288A-6FD3-91E4-F75CEDFBDB9D}"/>
              </a:ext>
            </a:extLst>
          </p:cNvPr>
          <p:cNvSpPr>
            <a:spLocks noGrp="1"/>
          </p:cNvSpPr>
          <p:nvPr>
            <p:ph type="title"/>
          </p:nvPr>
        </p:nvSpPr>
        <p:spPr>
          <a:xfrm>
            <a:off x="521208" y="978408"/>
            <a:ext cx="3154680" cy="4069080"/>
          </a:xfrm>
        </p:spPr>
        <p:txBody>
          <a:bodyPr>
            <a:normAutofit/>
          </a:bodyPr>
          <a:lstStyle/>
          <a:p>
            <a:r>
              <a:rPr lang="en-US" sz="4000"/>
              <a:t>Agenda</a:t>
            </a:r>
          </a:p>
        </p:txBody>
      </p:sp>
      <p:sp>
        <p:nvSpPr>
          <p:cNvPr id="59" name="Rectangle 58">
            <a:extLst>
              <a:ext uri="{FF2B5EF4-FFF2-40B4-BE49-F238E27FC236}">
                <a16:creationId xmlns:a16="http://schemas.microsoft.com/office/drawing/2014/main" id="{04E511C3-750B-AA87-AE51-0FA2069EA0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5" name="Content Placeholder 2">
            <a:extLst>
              <a:ext uri="{FF2B5EF4-FFF2-40B4-BE49-F238E27FC236}">
                <a16:creationId xmlns:a16="http://schemas.microsoft.com/office/drawing/2014/main" id="{5EADA328-5F0F-C8CE-141E-0AC6AB7CDD43}"/>
              </a:ext>
            </a:extLst>
          </p:cNvPr>
          <p:cNvGraphicFramePr>
            <a:graphicFrameLocks noGrp="1"/>
          </p:cNvGraphicFramePr>
          <p:nvPr>
            <p:ph idx="1"/>
            <p:extLst>
              <p:ext uri="{D42A27DB-BD31-4B8C-83A1-F6EECF244321}">
                <p14:modId xmlns:p14="http://schemas.microsoft.com/office/powerpoint/2010/main" val="1829051401"/>
              </p:ext>
            </p:extLst>
          </p:nvPr>
        </p:nvGraphicFramePr>
        <p:xfrm>
          <a:off x="3469495" y="978408"/>
          <a:ext cx="8196508" cy="52395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364146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E41B2-E73B-9ACA-A8DF-32B999C7DE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5FC680-B26C-DC2C-D807-746E8BE3D0FE}"/>
              </a:ext>
            </a:extLst>
          </p:cNvPr>
          <p:cNvSpPr>
            <a:spLocks noGrp="1"/>
          </p:cNvSpPr>
          <p:nvPr>
            <p:ph type="title"/>
          </p:nvPr>
        </p:nvSpPr>
        <p:spPr>
          <a:xfrm>
            <a:off x="513187" y="658138"/>
            <a:ext cx="11155680" cy="583590"/>
          </a:xfrm>
        </p:spPr>
        <p:txBody>
          <a:bodyPr>
            <a:normAutofit/>
          </a:bodyPr>
          <a:lstStyle/>
          <a:p>
            <a:r>
              <a:rPr lang="en-US" sz="3200"/>
              <a:t>Forecasting Dataset</a:t>
            </a:r>
          </a:p>
        </p:txBody>
      </p:sp>
      <p:sp>
        <p:nvSpPr>
          <p:cNvPr id="7" name="TextBox 6">
            <a:extLst>
              <a:ext uri="{FF2B5EF4-FFF2-40B4-BE49-F238E27FC236}">
                <a16:creationId xmlns:a16="http://schemas.microsoft.com/office/drawing/2014/main" id="{7A4F30B0-F5FC-C223-552E-33C366E6941D}"/>
              </a:ext>
            </a:extLst>
          </p:cNvPr>
          <p:cNvSpPr txBox="1"/>
          <p:nvPr/>
        </p:nvSpPr>
        <p:spPr>
          <a:xfrm>
            <a:off x="520668" y="1487125"/>
            <a:ext cx="2238297" cy="707886"/>
          </a:xfrm>
          <a:prstGeom prst="rect">
            <a:avLst/>
          </a:prstGeom>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200" b="1">
                <a:solidFill>
                  <a:schemeClr val="accent4"/>
                </a:solidFill>
              </a:rPr>
              <a:t>2550</a:t>
            </a:r>
            <a:endParaRPr lang="en-US">
              <a:solidFill>
                <a:schemeClr val="accent4"/>
              </a:solidFill>
            </a:endParaRPr>
          </a:p>
          <a:p>
            <a:r>
              <a:rPr lang="en-US"/>
              <a:t>Total Observations</a:t>
            </a:r>
          </a:p>
        </p:txBody>
      </p:sp>
      <p:sp>
        <p:nvSpPr>
          <p:cNvPr id="8" name="TextBox 7">
            <a:extLst>
              <a:ext uri="{FF2B5EF4-FFF2-40B4-BE49-F238E27FC236}">
                <a16:creationId xmlns:a16="http://schemas.microsoft.com/office/drawing/2014/main" id="{804B2474-2C77-E6D3-6D3B-C4A213704032}"/>
              </a:ext>
            </a:extLst>
          </p:cNvPr>
          <p:cNvSpPr txBox="1"/>
          <p:nvPr/>
        </p:nvSpPr>
        <p:spPr>
          <a:xfrm>
            <a:off x="3182350" y="1495885"/>
            <a:ext cx="2316811" cy="707886"/>
          </a:xfrm>
          <a:prstGeom prst="rect">
            <a:avLst/>
          </a:prstGeom>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spcBef>
                <a:spcPct val="0"/>
              </a:spcBef>
            </a:pPr>
            <a:r>
              <a:rPr lang="en-US" sz="2200" b="1">
                <a:solidFill>
                  <a:schemeClr val="accent4"/>
                </a:solidFill>
              </a:rPr>
              <a:t>12 </a:t>
            </a:r>
            <a:endParaRPr lang="en-US">
              <a:solidFill>
                <a:schemeClr val="accent4"/>
              </a:solidFill>
            </a:endParaRPr>
          </a:p>
          <a:p>
            <a:r>
              <a:rPr lang="en-US"/>
              <a:t>Bus Carriers Tracked</a:t>
            </a:r>
          </a:p>
        </p:txBody>
      </p:sp>
      <p:sp>
        <p:nvSpPr>
          <p:cNvPr id="9" name="TextBox 8">
            <a:extLst>
              <a:ext uri="{FF2B5EF4-FFF2-40B4-BE49-F238E27FC236}">
                <a16:creationId xmlns:a16="http://schemas.microsoft.com/office/drawing/2014/main" id="{003336B0-861A-EB1C-380D-5188E158F129}"/>
              </a:ext>
            </a:extLst>
          </p:cNvPr>
          <p:cNvSpPr txBox="1"/>
          <p:nvPr/>
        </p:nvSpPr>
        <p:spPr>
          <a:xfrm>
            <a:off x="6004331" y="1490453"/>
            <a:ext cx="2315716" cy="707886"/>
          </a:xfrm>
          <a:prstGeom prst="rect">
            <a:avLst/>
          </a:prstGeom>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200" b="1">
                <a:solidFill>
                  <a:schemeClr val="accent4"/>
                </a:solidFill>
              </a:rPr>
              <a:t>237 Weeks</a:t>
            </a:r>
            <a:endParaRPr lang="en-US">
              <a:solidFill>
                <a:schemeClr val="accent4"/>
              </a:solidFill>
            </a:endParaRPr>
          </a:p>
          <a:p>
            <a:r>
              <a:rPr lang="en-US"/>
              <a:t>Nov 2020 – Jul 2025</a:t>
            </a:r>
          </a:p>
        </p:txBody>
      </p:sp>
      <p:sp>
        <p:nvSpPr>
          <p:cNvPr id="10" name="TextBox 9">
            <a:extLst>
              <a:ext uri="{FF2B5EF4-FFF2-40B4-BE49-F238E27FC236}">
                <a16:creationId xmlns:a16="http://schemas.microsoft.com/office/drawing/2014/main" id="{D2C36EF3-0FB2-20F9-1E57-5F5F47F12D09}"/>
              </a:ext>
            </a:extLst>
          </p:cNvPr>
          <p:cNvSpPr txBox="1"/>
          <p:nvPr/>
        </p:nvSpPr>
        <p:spPr>
          <a:xfrm>
            <a:off x="8710678" y="1494655"/>
            <a:ext cx="2850295" cy="707886"/>
          </a:xfrm>
          <a:prstGeom prst="rect">
            <a:avLst/>
          </a:prstGeom>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b="1">
                <a:solidFill>
                  <a:schemeClr val="accent4"/>
                </a:solidFill>
              </a:rPr>
              <a:t>4 External Variables</a:t>
            </a:r>
            <a:endParaRPr lang="en-US">
              <a:solidFill>
                <a:schemeClr val="accent4"/>
              </a:solidFill>
            </a:endParaRPr>
          </a:p>
          <a:p>
            <a:r>
              <a:rPr lang="en-US"/>
              <a:t>Weather + Holidays</a:t>
            </a:r>
          </a:p>
        </p:txBody>
      </p:sp>
      <p:sp>
        <p:nvSpPr>
          <p:cNvPr id="12" name="TextBox 11">
            <a:extLst>
              <a:ext uri="{FF2B5EF4-FFF2-40B4-BE49-F238E27FC236}">
                <a16:creationId xmlns:a16="http://schemas.microsoft.com/office/drawing/2014/main" id="{582F1BAB-71A8-0672-2B72-40CF63FDEA51}"/>
              </a:ext>
            </a:extLst>
          </p:cNvPr>
          <p:cNvSpPr txBox="1"/>
          <p:nvPr/>
        </p:nvSpPr>
        <p:spPr>
          <a:xfrm>
            <a:off x="515570" y="1371854"/>
            <a:ext cx="2243041" cy="109522"/>
          </a:xfrm>
          <a:prstGeom prst="rect">
            <a:avLst/>
          </a:prstGeom>
          <a:solidFill>
            <a:schemeClr val="accent4"/>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3" name="TextBox 12">
            <a:extLst>
              <a:ext uri="{FF2B5EF4-FFF2-40B4-BE49-F238E27FC236}">
                <a16:creationId xmlns:a16="http://schemas.microsoft.com/office/drawing/2014/main" id="{291B85C6-A947-D6C8-9303-02AFDE2F727A}"/>
              </a:ext>
            </a:extLst>
          </p:cNvPr>
          <p:cNvSpPr txBox="1"/>
          <p:nvPr/>
        </p:nvSpPr>
        <p:spPr>
          <a:xfrm>
            <a:off x="3169431" y="1372589"/>
            <a:ext cx="2330626" cy="109522"/>
          </a:xfrm>
          <a:prstGeom prst="rect">
            <a:avLst/>
          </a:prstGeom>
          <a:solidFill>
            <a:schemeClr val="accent4"/>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4" name="TextBox 13">
            <a:extLst>
              <a:ext uri="{FF2B5EF4-FFF2-40B4-BE49-F238E27FC236}">
                <a16:creationId xmlns:a16="http://schemas.microsoft.com/office/drawing/2014/main" id="{4CC41845-EF8D-9148-156B-69B7B250E33B}"/>
              </a:ext>
            </a:extLst>
          </p:cNvPr>
          <p:cNvSpPr txBox="1"/>
          <p:nvPr/>
        </p:nvSpPr>
        <p:spPr>
          <a:xfrm>
            <a:off x="5991366" y="1388633"/>
            <a:ext cx="2337910" cy="101501"/>
          </a:xfrm>
          <a:prstGeom prst="rect">
            <a:avLst/>
          </a:prstGeom>
          <a:solidFill>
            <a:schemeClr val="accent4"/>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6" name="TextBox 15">
            <a:extLst>
              <a:ext uri="{FF2B5EF4-FFF2-40B4-BE49-F238E27FC236}">
                <a16:creationId xmlns:a16="http://schemas.microsoft.com/office/drawing/2014/main" id="{47E5DE92-83ED-EC25-9F46-D1F100C03872}"/>
              </a:ext>
            </a:extLst>
          </p:cNvPr>
          <p:cNvSpPr txBox="1"/>
          <p:nvPr/>
        </p:nvSpPr>
        <p:spPr>
          <a:xfrm>
            <a:off x="8708751" y="1372590"/>
            <a:ext cx="2851441" cy="109522"/>
          </a:xfrm>
          <a:prstGeom prst="rect">
            <a:avLst/>
          </a:prstGeom>
          <a:solidFill>
            <a:schemeClr val="accent4"/>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graphicFrame>
        <p:nvGraphicFramePr>
          <p:cNvPr id="25" name="Table 24">
            <a:extLst>
              <a:ext uri="{FF2B5EF4-FFF2-40B4-BE49-F238E27FC236}">
                <a16:creationId xmlns:a16="http://schemas.microsoft.com/office/drawing/2014/main" id="{186F6EBB-D536-D9F3-53EB-44C49BC764C4}"/>
              </a:ext>
            </a:extLst>
          </p:cNvPr>
          <p:cNvGraphicFramePr>
            <a:graphicFrameLocks noGrp="1"/>
          </p:cNvGraphicFramePr>
          <p:nvPr>
            <p:extLst>
              <p:ext uri="{D42A27DB-BD31-4B8C-83A1-F6EECF244321}">
                <p14:modId xmlns:p14="http://schemas.microsoft.com/office/powerpoint/2010/main" val="2315658126"/>
              </p:ext>
            </p:extLst>
          </p:nvPr>
        </p:nvGraphicFramePr>
        <p:xfrm>
          <a:off x="818444" y="3118555"/>
          <a:ext cx="9790591" cy="3273514"/>
        </p:xfrm>
        <a:graphic>
          <a:graphicData uri="http://schemas.openxmlformats.org/drawingml/2006/table">
            <a:tbl>
              <a:tblPr bandRow="1">
                <a:tableStyleId>{5C22544A-7EE6-4342-B048-85BDC9FD1C3A}</a:tableStyleId>
              </a:tblPr>
              <a:tblGrid>
                <a:gridCol w="2246781">
                  <a:extLst>
                    <a:ext uri="{9D8B030D-6E8A-4147-A177-3AD203B41FA5}">
                      <a16:colId xmlns:a16="http://schemas.microsoft.com/office/drawing/2014/main" val="4146868179"/>
                    </a:ext>
                  </a:extLst>
                </a:gridCol>
                <a:gridCol w="4226034">
                  <a:extLst>
                    <a:ext uri="{9D8B030D-6E8A-4147-A177-3AD203B41FA5}">
                      <a16:colId xmlns:a16="http://schemas.microsoft.com/office/drawing/2014/main" val="2905424403"/>
                    </a:ext>
                  </a:extLst>
                </a:gridCol>
                <a:gridCol w="3317776">
                  <a:extLst>
                    <a:ext uri="{9D8B030D-6E8A-4147-A177-3AD203B41FA5}">
                      <a16:colId xmlns:a16="http://schemas.microsoft.com/office/drawing/2014/main" val="564857775"/>
                    </a:ext>
                  </a:extLst>
                </a:gridCol>
              </a:tblGrid>
              <a:tr h="320607">
                <a:tc>
                  <a:txBody>
                    <a:bodyPr/>
                    <a:lstStyle/>
                    <a:p>
                      <a:pPr algn="l" fontAlgn="base">
                        <a:lnSpc>
                          <a:spcPts val="2175"/>
                        </a:lnSpc>
                        <a:buNone/>
                      </a:pPr>
                      <a:r>
                        <a:rPr lang="en-US" sz="1600" b="1" i="0">
                          <a:solidFill>
                            <a:srgbClr val="FFFFFF"/>
                          </a:solidFill>
                          <a:effectLst/>
                          <a:latin typeface="Bierstadt"/>
                        </a:rPr>
                        <a:t>Column</a:t>
                      </a:r>
                    </a:p>
                  </a:txBody>
                  <a:tcPr>
                    <a:lnL w="11049" cap="flat" cmpd="sng" algn="ctr">
                      <a:solidFill>
                        <a:srgbClr val="FFFFFF"/>
                      </a:solidFill>
                      <a:prstDash val="solid"/>
                      <a:round/>
                      <a:headEnd type="none" w="med" len="med"/>
                      <a:tailEnd type="none" w="med" len="med"/>
                    </a:lnL>
                    <a:lnR w="11049" cap="flat" cmpd="sng" algn="ctr">
                      <a:solidFill>
                        <a:srgbClr val="FFFFFF"/>
                      </a:solidFill>
                      <a:prstDash val="solid"/>
                      <a:round/>
                      <a:headEnd type="none" w="med" len="med"/>
                      <a:tailEnd type="none" w="med" len="med"/>
                    </a:lnR>
                    <a:lnT w="11049" cap="flat" cmpd="sng" algn="ctr">
                      <a:solidFill>
                        <a:srgbClr val="FFFFFF"/>
                      </a:solidFill>
                      <a:prstDash val="solid"/>
                      <a:round/>
                      <a:headEnd type="none" w="med" len="med"/>
                      <a:tailEnd type="none" w="med" len="med"/>
                    </a:lnT>
                    <a:lnB w="33147" cap="flat" cmpd="sng" algn="ctr">
                      <a:solidFill>
                        <a:srgbClr val="FFFFFF"/>
                      </a:solidFill>
                      <a:prstDash val="solid"/>
                      <a:round/>
                      <a:headEnd type="none" w="med" len="med"/>
                      <a:tailEnd type="none" w="med" len="med"/>
                    </a:lnB>
                    <a:solidFill>
                      <a:srgbClr val="4D5AFF"/>
                    </a:solidFill>
                  </a:tcPr>
                </a:tc>
                <a:tc>
                  <a:txBody>
                    <a:bodyPr/>
                    <a:lstStyle/>
                    <a:p>
                      <a:pPr algn="l" fontAlgn="base">
                        <a:lnSpc>
                          <a:spcPts val="2175"/>
                        </a:lnSpc>
                        <a:buNone/>
                      </a:pPr>
                      <a:r>
                        <a:rPr lang="en-US" sz="1600" b="1" i="0">
                          <a:solidFill>
                            <a:srgbClr val="FFFFFF"/>
                          </a:solidFill>
                          <a:effectLst/>
                          <a:latin typeface="Bierstadt"/>
                        </a:rPr>
                        <a:t>Description</a:t>
                      </a:r>
                    </a:p>
                  </a:txBody>
                  <a:tcPr>
                    <a:lnL w="11049" cap="flat" cmpd="sng" algn="ctr">
                      <a:solidFill>
                        <a:srgbClr val="FFFFFF"/>
                      </a:solidFill>
                      <a:prstDash val="solid"/>
                      <a:round/>
                      <a:headEnd type="none" w="med" len="med"/>
                      <a:tailEnd type="none" w="med" len="med"/>
                    </a:lnL>
                    <a:lnR w="11049" cap="flat" cmpd="sng" algn="ctr">
                      <a:solidFill>
                        <a:srgbClr val="FFFFFF"/>
                      </a:solidFill>
                      <a:prstDash val="solid"/>
                      <a:round/>
                      <a:headEnd type="none" w="med" len="med"/>
                      <a:tailEnd type="none" w="med" len="med"/>
                    </a:lnR>
                    <a:lnT w="11049" cap="flat" cmpd="sng" algn="ctr">
                      <a:solidFill>
                        <a:srgbClr val="FFFFFF"/>
                      </a:solidFill>
                      <a:prstDash val="solid"/>
                      <a:round/>
                      <a:headEnd type="none" w="med" len="med"/>
                      <a:tailEnd type="none" w="med" len="med"/>
                    </a:lnT>
                    <a:lnB w="33147" cap="flat" cmpd="sng" algn="ctr">
                      <a:solidFill>
                        <a:srgbClr val="FFFFFF"/>
                      </a:solidFill>
                      <a:prstDash val="solid"/>
                      <a:round/>
                      <a:headEnd type="none" w="med" len="med"/>
                      <a:tailEnd type="none" w="med" len="med"/>
                    </a:lnB>
                    <a:solidFill>
                      <a:srgbClr val="4D5AFF"/>
                    </a:solidFill>
                  </a:tcPr>
                </a:tc>
                <a:tc>
                  <a:txBody>
                    <a:bodyPr/>
                    <a:lstStyle/>
                    <a:p>
                      <a:pPr lvl="0" algn="l">
                        <a:lnSpc>
                          <a:spcPts val="2175"/>
                        </a:lnSpc>
                        <a:buNone/>
                      </a:pPr>
                      <a:r>
                        <a:rPr lang="en-US" sz="1600" b="1" i="0">
                          <a:solidFill>
                            <a:srgbClr val="FFFFFF"/>
                          </a:solidFill>
                          <a:effectLst/>
                          <a:latin typeface="Bierstadt"/>
                        </a:rPr>
                        <a:t>Role in Analysis</a:t>
                      </a:r>
                    </a:p>
                  </a:txBody>
                  <a:tcPr>
                    <a:lnL w="11049">
                      <a:solidFill>
                        <a:srgbClr val="FFFFFF"/>
                      </a:solidFill>
                    </a:lnL>
                    <a:lnR w="11049">
                      <a:solidFill>
                        <a:srgbClr val="FFFFFF"/>
                      </a:solidFill>
                    </a:lnR>
                    <a:lnT w="11049">
                      <a:solidFill>
                        <a:srgbClr val="FFFFFF"/>
                      </a:solidFill>
                    </a:lnT>
                    <a:lnB w="33147">
                      <a:solidFill>
                        <a:srgbClr val="FFFFFF"/>
                      </a:solidFill>
                    </a:lnB>
                    <a:solidFill>
                      <a:srgbClr val="4D5AFF"/>
                    </a:solidFill>
                  </a:tcPr>
                </a:tc>
                <a:extLst>
                  <a:ext uri="{0D108BD9-81ED-4DB2-BD59-A6C34878D82A}">
                    <a16:rowId xmlns:a16="http://schemas.microsoft.com/office/drawing/2014/main" val="3561664892"/>
                  </a:ext>
                </a:extLst>
              </a:tr>
              <a:tr h="351140">
                <a:tc>
                  <a:txBody>
                    <a:bodyPr/>
                    <a:lstStyle/>
                    <a:p>
                      <a:pPr algn="l" fontAlgn="base">
                        <a:lnSpc>
                          <a:spcPts val="2175"/>
                        </a:lnSpc>
                        <a:buNone/>
                      </a:pPr>
                      <a:r>
                        <a:rPr lang="en-US" sz="1600" b="0" i="0">
                          <a:solidFill>
                            <a:srgbClr val="000000"/>
                          </a:solidFill>
                          <a:effectLst/>
                          <a:latin typeface="Bierstadt"/>
                        </a:rPr>
                        <a:t>Week Start Date</a:t>
                      </a:r>
                    </a:p>
                  </a:txBody>
                  <a:tcPr>
                    <a:lnL w="11049" cap="flat" cmpd="sng" algn="ctr">
                      <a:solidFill>
                        <a:srgbClr val="FFFFFF"/>
                      </a:solidFill>
                      <a:prstDash val="solid"/>
                      <a:round/>
                      <a:headEnd type="none" w="med" len="med"/>
                      <a:tailEnd type="none" w="med" len="med"/>
                    </a:lnL>
                    <a:lnR w="11049" cap="flat" cmpd="sng" algn="ctr">
                      <a:solidFill>
                        <a:srgbClr val="FFFFFF"/>
                      </a:solidFill>
                      <a:prstDash val="solid"/>
                      <a:round/>
                      <a:headEnd type="none" w="med" len="med"/>
                      <a:tailEnd type="none" w="med" len="med"/>
                    </a:lnR>
                    <a:lnT w="33147" cap="flat" cmpd="sng" algn="ctr">
                      <a:solidFill>
                        <a:srgbClr val="FFFFFF"/>
                      </a:solidFill>
                      <a:prstDash val="solid"/>
                      <a:round/>
                      <a:headEnd type="none" w="med" len="med"/>
                      <a:tailEnd type="none" w="med" len="med"/>
                    </a:lnT>
                    <a:lnB w="11049" cap="flat" cmpd="sng" algn="ctr">
                      <a:solidFill>
                        <a:srgbClr val="FFFFFF"/>
                      </a:solidFill>
                      <a:prstDash val="solid"/>
                      <a:round/>
                      <a:headEnd type="none" w="med" len="med"/>
                      <a:tailEnd type="none" w="med" len="med"/>
                    </a:lnB>
                    <a:solidFill>
                      <a:srgbClr val="D0D1FF"/>
                    </a:solidFill>
                  </a:tcPr>
                </a:tc>
                <a:tc>
                  <a:txBody>
                    <a:bodyPr/>
                    <a:lstStyle/>
                    <a:p>
                      <a:pPr algn="l" fontAlgn="base">
                        <a:lnSpc>
                          <a:spcPts val="2175"/>
                        </a:lnSpc>
                        <a:buNone/>
                      </a:pPr>
                      <a:r>
                        <a:rPr lang="en-US" sz="1600" b="0" i="0" u="none" strike="noStrike">
                          <a:solidFill>
                            <a:srgbClr val="000000"/>
                          </a:solidFill>
                          <a:effectLst/>
                          <a:latin typeface="Bierstadt"/>
                        </a:rPr>
                        <a:t>Start day of the week (Usually Monday) </a:t>
                      </a:r>
                      <a:endParaRPr lang="en-US" sz="1600" b="0" i="0">
                        <a:solidFill>
                          <a:srgbClr val="000000"/>
                        </a:solidFill>
                        <a:effectLst/>
                        <a:latin typeface="Bierstadt"/>
                      </a:endParaRPr>
                    </a:p>
                  </a:txBody>
                  <a:tcPr>
                    <a:lnL w="11049" cap="flat" cmpd="sng" algn="ctr">
                      <a:solidFill>
                        <a:srgbClr val="FFFFFF"/>
                      </a:solidFill>
                      <a:prstDash val="solid"/>
                      <a:round/>
                      <a:headEnd type="none" w="med" len="med"/>
                      <a:tailEnd type="none" w="med" len="med"/>
                    </a:lnL>
                    <a:lnR w="11049" cap="flat" cmpd="sng" algn="ctr">
                      <a:solidFill>
                        <a:srgbClr val="FFFFFF"/>
                      </a:solidFill>
                      <a:prstDash val="solid"/>
                      <a:round/>
                      <a:headEnd type="none" w="med" len="med"/>
                      <a:tailEnd type="none" w="med" len="med"/>
                    </a:lnR>
                    <a:lnT w="33147" cap="flat" cmpd="sng" algn="ctr">
                      <a:solidFill>
                        <a:srgbClr val="FFFFFF"/>
                      </a:solidFill>
                      <a:prstDash val="solid"/>
                      <a:round/>
                      <a:headEnd type="none" w="med" len="med"/>
                      <a:tailEnd type="none" w="med" len="med"/>
                    </a:lnT>
                    <a:lnB w="11049" cap="flat" cmpd="sng" algn="ctr">
                      <a:solidFill>
                        <a:srgbClr val="FFFFFF"/>
                      </a:solidFill>
                      <a:prstDash val="solid"/>
                      <a:round/>
                      <a:headEnd type="none" w="med" len="med"/>
                      <a:tailEnd type="none" w="med" len="med"/>
                    </a:lnB>
                    <a:solidFill>
                      <a:srgbClr val="D0D1FF"/>
                    </a:solidFill>
                  </a:tcPr>
                </a:tc>
                <a:tc>
                  <a:txBody>
                    <a:bodyPr/>
                    <a:lstStyle/>
                    <a:p>
                      <a:pPr lvl="0" algn="l">
                        <a:lnSpc>
                          <a:spcPts val="2175"/>
                        </a:lnSpc>
                        <a:buNone/>
                      </a:pPr>
                      <a:r>
                        <a:rPr lang="en-US" sz="1600" b="0" i="0" u="none" strike="noStrike">
                          <a:solidFill>
                            <a:srgbClr val="000000"/>
                          </a:solidFill>
                          <a:effectLst/>
                          <a:latin typeface="Bierstadt"/>
                        </a:rPr>
                        <a:t>Time index for all models</a:t>
                      </a:r>
                    </a:p>
                  </a:txBody>
                  <a:tcPr>
                    <a:lnL w="11049">
                      <a:solidFill>
                        <a:srgbClr val="FFFFFF"/>
                      </a:solidFill>
                    </a:lnL>
                    <a:lnR w="11049">
                      <a:solidFill>
                        <a:srgbClr val="FFFFFF"/>
                      </a:solidFill>
                    </a:lnR>
                    <a:lnT w="33147">
                      <a:solidFill>
                        <a:srgbClr val="FFFFFF"/>
                      </a:solidFill>
                    </a:lnT>
                    <a:lnB w="11049">
                      <a:solidFill>
                        <a:srgbClr val="FFFFFF"/>
                      </a:solidFill>
                    </a:lnB>
                    <a:solidFill>
                      <a:srgbClr val="D0D1FF"/>
                    </a:solidFill>
                  </a:tcPr>
                </a:tc>
                <a:extLst>
                  <a:ext uri="{0D108BD9-81ED-4DB2-BD59-A6C34878D82A}">
                    <a16:rowId xmlns:a16="http://schemas.microsoft.com/office/drawing/2014/main" val="25579062"/>
                  </a:ext>
                </a:extLst>
              </a:tr>
              <a:tr h="320607">
                <a:tc>
                  <a:txBody>
                    <a:bodyPr/>
                    <a:lstStyle/>
                    <a:p>
                      <a:pPr algn="l" fontAlgn="base">
                        <a:lnSpc>
                          <a:spcPts val="2175"/>
                        </a:lnSpc>
                        <a:buNone/>
                      </a:pPr>
                      <a:r>
                        <a:rPr lang="en-US" sz="1600" b="0" i="0">
                          <a:solidFill>
                            <a:srgbClr val="000000"/>
                          </a:solidFill>
                          <a:effectLst/>
                          <a:latin typeface="Bierstadt"/>
                        </a:rPr>
                        <a:t>Carrier</a:t>
                      </a:r>
                    </a:p>
                  </a:txBody>
                  <a:tcPr>
                    <a:lnL w="11049" cap="flat" cmpd="sng" algn="ctr">
                      <a:solidFill>
                        <a:srgbClr val="FFFFFF"/>
                      </a:solidFill>
                      <a:prstDash val="solid"/>
                      <a:round/>
                      <a:headEnd type="none" w="med" len="med"/>
                      <a:tailEnd type="none" w="med" len="med"/>
                    </a:lnL>
                    <a:lnR w="11049" cap="flat" cmpd="sng" algn="ctr">
                      <a:solidFill>
                        <a:srgbClr val="FFFFFF"/>
                      </a:solidFill>
                      <a:prstDash val="solid"/>
                      <a:round/>
                      <a:headEnd type="none" w="med" len="med"/>
                      <a:tailEnd type="none" w="med" len="med"/>
                    </a:lnR>
                    <a:lnT w="11049" cap="flat" cmpd="sng" algn="ctr">
                      <a:solidFill>
                        <a:srgbClr val="FFFFFF"/>
                      </a:solidFill>
                      <a:prstDash val="solid"/>
                      <a:round/>
                      <a:headEnd type="none" w="med" len="med"/>
                      <a:tailEnd type="none" w="med" len="med"/>
                    </a:lnT>
                    <a:lnB w="11049" cap="flat" cmpd="sng" algn="ctr">
                      <a:solidFill>
                        <a:srgbClr val="FFFFFF"/>
                      </a:solidFill>
                      <a:prstDash val="solid"/>
                      <a:round/>
                      <a:headEnd type="none" w="med" len="med"/>
                      <a:tailEnd type="none" w="med" len="med"/>
                    </a:lnB>
                    <a:solidFill>
                      <a:srgbClr val="E9EAFF"/>
                    </a:solidFill>
                  </a:tcPr>
                </a:tc>
                <a:tc>
                  <a:txBody>
                    <a:bodyPr/>
                    <a:lstStyle/>
                    <a:p>
                      <a:pPr algn="l" fontAlgn="base">
                        <a:lnSpc>
                          <a:spcPts val="2175"/>
                        </a:lnSpc>
                        <a:buNone/>
                      </a:pPr>
                      <a:r>
                        <a:rPr lang="en-US" sz="1600" b="0" i="0">
                          <a:solidFill>
                            <a:srgbClr val="000000"/>
                          </a:solidFill>
                          <a:effectLst/>
                          <a:latin typeface="Bierstadt"/>
                        </a:rPr>
                        <a:t>Name of the Carrier</a:t>
                      </a:r>
                    </a:p>
                  </a:txBody>
                  <a:tcPr>
                    <a:lnL w="11049" cap="flat" cmpd="sng" algn="ctr">
                      <a:solidFill>
                        <a:srgbClr val="FFFFFF"/>
                      </a:solidFill>
                      <a:prstDash val="solid"/>
                      <a:round/>
                      <a:headEnd type="none" w="med" len="med"/>
                      <a:tailEnd type="none" w="med" len="med"/>
                    </a:lnL>
                    <a:lnR w="11049" cap="flat" cmpd="sng" algn="ctr">
                      <a:solidFill>
                        <a:srgbClr val="FFFFFF"/>
                      </a:solidFill>
                      <a:prstDash val="solid"/>
                      <a:round/>
                      <a:headEnd type="none" w="med" len="med"/>
                      <a:tailEnd type="none" w="med" len="med"/>
                    </a:lnR>
                    <a:lnT w="11049" cap="flat" cmpd="sng" algn="ctr">
                      <a:solidFill>
                        <a:srgbClr val="FFFFFF"/>
                      </a:solidFill>
                      <a:prstDash val="solid"/>
                      <a:round/>
                      <a:headEnd type="none" w="med" len="med"/>
                      <a:tailEnd type="none" w="med" len="med"/>
                    </a:lnT>
                    <a:lnB w="11049" cap="flat" cmpd="sng" algn="ctr">
                      <a:solidFill>
                        <a:srgbClr val="FFFFFF"/>
                      </a:solidFill>
                      <a:prstDash val="solid"/>
                      <a:round/>
                      <a:headEnd type="none" w="med" len="med"/>
                      <a:tailEnd type="none" w="med" len="med"/>
                    </a:lnB>
                    <a:solidFill>
                      <a:srgbClr val="E9EAFF"/>
                    </a:solidFill>
                  </a:tcPr>
                </a:tc>
                <a:tc>
                  <a:txBody>
                    <a:bodyPr/>
                    <a:lstStyle/>
                    <a:p>
                      <a:pPr lvl="0" algn="l">
                        <a:lnSpc>
                          <a:spcPts val="2175"/>
                        </a:lnSpc>
                        <a:buNone/>
                      </a:pPr>
                      <a:r>
                        <a:rPr lang="en-US" sz="1600" b="0" i="0">
                          <a:solidFill>
                            <a:srgbClr val="000000"/>
                          </a:solidFill>
                          <a:effectLst/>
                          <a:latin typeface="Bierstadt"/>
                        </a:rPr>
                        <a:t>Segmentation Variable</a:t>
                      </a:r>
                    </a:p>
                  </a:txBody>
                  <a:tcPr>
                    <a:lnL w="11049">
                      <a:solidFill>
                        <a:srgbClr val="FFFFFF"/>
                      </a:solidFill>
                    </a:lnL>
                    <a:lnR w="11049">
                      <a:solidFill>
                        <a:srgbClr val="FFFFFF"/>
                      </a:solidFill>
                    </a:lnR>
                    <a:lnT w="11049">
                      <a:solidFill>
                        <a:srgbClr val="FFFFFF"/>
                      </a:solidFill>
                    </a:lnT>
                    <a:lnB w="11049">
                      <a:solidFill>
                        <a:srgbClr val="FFFFFF"/>
                      </a:solidFill>
                    </a:lnB>
                    <a:solidFill>
                      <a:srgbClr val="E9EAFF"/>
                    </a:solidFill>
                  </a:tcPr>
                </a:tc>
                <a:extLst>
                  <a:ext uri="{0D108BD9-81ED-4DB2-BD59-A6C34878D82A}">
                    <a16:rowId xmlns:a16="http://schemas.microsoft.com/office/drawing/2014/main" val="634470191"/>
                  </a:ext>
                </a:extLst>
              </a:tr>
              <a:tr h="473277">
                <a:tc>
                  <a:txBody>
                    <a:bodyPr/>
                    <a:lstStyle/>
                    <a:p>
                      <a:pPr algn="l" fontAlgn="base">
                        <a:lnSpc>
                          <a:spcPts val="2175"/>
                        </a:lnSpc>
                        <a:buNone/>
                      </a:pPr>
                      <a:r>
                        <a:rPr lang="en-US" sz="1600" b="0" i="0">
                          <a:solidFill>
                            <a:srgbClr val="000000"/>
                          </a:solidFill>
                          <a:effectLst/>
                          <a:latin typeface="Bierstadt"/>
                        </a:rPr>
                        <a:t>Bus Count</a:t>
                      </a:r>
                    </a:p>
                  </a:txBody>
                  <a:tcPr>
                    <a:lnL w="11049" cap="flat" cmpd="sng" algn="ctr">
                      <a:solidFill>
                        <a:srgbClr val="FFFFFF"/>
                      </a:solidFill>
                      <a:prstDash val="solid"/>
                      <a:round/>
                      <a:headEnd type="none" w="med" len="med"/>
                      <a:tailEnd type="none" w="med" len="med"/>
                    </a:lnL>
                    <a:lnR w="11049" cap="flat" cmpd="sng" algn="ctr">
                      <a:solidFill>
                        <a:srgbClr val="FFFFFF"/>
                      </a:solidFill>
                      <a:prstDash val="solid"/>
                      <a:round/>
                      <a:headEnd type="none" w="med" len="med"/>
                      <a:tailEnd type="none" w="med" len="med"/>
                    </a:lnR>
                    <a:lnT w="11049" cap="flat" cmpd="sng" algn="ctr">
                      <a:solidFill>
                        <a:srgbClr val="FFFFFF"/>
                      </a:solidFill>
                      <a:prstDash val="solid"/>
                      <a:round/>
                      <a:headEnd type="none" w="med" len="med"/>
                      <a:tailEnd type="none" w="med" len="med"/>
                    </a:lnT>
                    <a:lnB w="11049" cap="flat" cmpd="sng" algn="ctr">
                      <a:solidFill>
                        <a:srgbClr val="FFFFFF"/>
                      </a:solidFill>
                      <a:prstDash val="solid"/>
                      <a:round/>
                      <a:headEnd type="none" w="med" len="med"/>
                      <a:tailEnd type="none" w="med" len="med"/>
                    </a:lnB>
                    <a:solidFill>
                      <a:srgbClr val="D0D1FF"/>
                    </a:solidFill>
                  </a:tcPr>
                </a:tc>
                <a:tc>
                  <a:txBody>
                    <a:bodyPr/>
                    <a:lstStyle/>
                    <a:p>
                      <a:pPr algn="l" fontAlgn="base">
                        <a:lnSpc>
                          <a:spcPts val="2175"/>
                        </a:lnSpc>
                        <a:buNone/>
                      </a:pPr>
                      <a:r>
                        <a:rPr lang="en-US" sz="1600" b="0" i="0">
                          <a:solidFill>
                            <a:srgbClr val="000000"/>
                          </a:solidFill>
                          <a:effectLst/>
                          <a:latin typeface="Bierstadt"/>
                        </a:rPr>
                        <a:t>No. of weekly bus departures</a:t>
                      </a:r>
                    </a:p>
                  </a:txBody>
                  <a:tcPr>
                    <a:lnL w="11049" cap="flat" cmpd="sng" algn="ctr">
                      <a:solidFill>
                        <a:srgbClr val="FFFFFF"/>
                      </a:solidFill>
                      <a:prstDash val="solid"/>
                      <a:round/>
                      <a:headEnd type="none" w="med" len="med"/>
                      <a:tailEnd type="none" w="med" len="med"/>
                    </a:lnL>
                    <a:lnR w="11049" cap="flat" cmpd="sng" algn="ctr">
                      <a:solidFill>
                        <a:srgbClr val="FFFFFF"/>
                      </a:solidFill>
                      <a:prstDash val="solid"/>
                      <a:round/>
                      <a:headEnd type="none" w="med" len="med"/>
                      <a:tailEnd type="none" w="med" len="med"/>
                    </a:lnR>
                    <a:lnT w="11049" cap="flat" cmpd="sng" algn="ctr">
                      <a:solidFill>
                        <a:srgbClr val="FFFFFF"/>
                      </a:solidFill>
                      <a:prstDash val="solid"/>
                      <a:round/>
                      <a:headEnd type="none" w="med" len="med"/>
                      <a:tailEnd type="none" w="med" len="med"/>
                    </a:lnT>
                    <a:lnB w="11049" cap="flat" cmpd="sng" algn="ctr">
                      <a:solidFill>
                        <a:srgbClr val="FFFFFF"/>
                      </a:solidFill>
                      <a:prstDash val="solid"/>
                      <a:round/>
                      <a:headEnd type="none" w="med" len="med"/>
                      <a:tailEnd type="none" w="med" len="med"/>
                    </a:lnB>
                    <a:solidFill>
                      <a:srgbClr val="D0D1FF"/>
                    </a:solidFill>
                  </a:tcPr>
                </a:tc>
                <a:tc>
                  <a:txBody>
                    <a:bodyPr/>
                    <a:lstStyle/>
                    <a:p>
                      <a:pPr lvl="0" algn="l">
                        <a:lnSpc>
                          <a:spcPts val="2175"/>
                        </a:lnSpc>
                        <a:buNone/>
                      </a:pPr>
                      <a:r>
                        <a:rPr lang="en-US" sz="1600" b="0" i="0" u="none" strike="noStrike" noProof="0">
                          <a:solidFill>
                            <a:srgbClr val="000000"/>
                          </a:solidFill>
                          <a:effectLst/>
                          <a:latin typeface="Bierstadt"/>
                        </a:rPr>
                        <a:t>Strongest ridership predictor </a:t>
                      </a:r>
                      <a:endParaRPr lang="en-US"/>
                    </a:p>
                  </a:txBody>
                  <a:tcPr>
                    <a:lnL w="11049">
                      <a:solidFill>
                        <a:srgbClr val="FFFFFF"/>
                      </a:solidFill>
                    </a:lnL>
                    <a:lnR w="11049">
                      <a:solidFill>
                        <a:srgbClr val="FFFFFF"/>
                      </a:solidFill>
                    </a:lnR>
                    <a:lnT w="11049">
                      <a:solidFill>
                        <a:srgbClr val="FFFFFF"/>
                      </a:solidFill>
                    </a:lnT>
                    <a:lnB w="11049">
                      <a:solidFill>
                        <a:srgbClr val="FFFFFF"/>
                      </a:solidFill>
                    </a:lnB>
                    <a:solidFill>
                      <a:srgbClr val="D0D1FF"/>
                    </a:solidFill>
                  </a:tcPr>
                </a:tc>
                <a:extLst>
                  <a:ext uri="{0D108BD9-81ED-4DB2-BD59-A6C34878D82A}">
                    <a16:rowId xmlns:a16="http://schemas.microsoft.com/office/drawing/2014/main" val="204971604"/>
                  </a:ext>
                </a:extLst>
              </a:tr>
              <a:tr h="473277">
                <a:tc>
                  <a:txBody>
                    <a:bodyPr/>
                    <a:lstStyle/>
                    <a:p>
                      <a:pPr algn="l" fontAlgn="base">
                        <a:lnSpc>
                          <a:spcPts val="2175"/>
                        </a:lnSpc>
                        <a:buNone/>
                      </a:pPr>
                      <a:r>
                        <a:rPr lang="en-US" sz="1600" b="0" i="0">
                          <a:solidFill>
                            <a:srgbClr val="000000"/>
                          </a:solidFill>
                          <a:effectLst/>
                          <a:latin typeface="Bierstadt"/>
                        </a:rPr>
                        <a:t>Passenger Count</a:t>
                      </a:r>
                    </a:p>
                  </a:txBody>
                  <a:tcPr>
                    <a:lnL w="11049" cap="flat" cmpd="sng" algn="ctr">
                      <a:solidFill>
                        <a:srgbClr val="FFFFFF"/>
                      </a:solidFill>
                      <a:prstDash val="solid"/>
                      <a:round/>
                      <a:headEnd type="none" w="med" len="med"/>
                      <a:tailEnd type="none" w="med" len="med"/>
                    </a:lnL>
                    <a:lnR w="11049" cap="flat" cmpd="sng" algn="ctr">
                      <a:solidFill>
                        <a:srgbClr val="FFFFFF"/>
                      </a:solidFill>
                      <a:prstDash val="solid"/>
                      <a:round/>
                      <a:headEnd type="none" w="med" len="med"/>
                      <a:tailEnd type="none" w="med" len="med"/>
                    </a:lnR>
                    <a:lnT w="11049" cap="flat" cmpd="sng" algn="ctr">
                      <a:solidFill>
                        <a:srgbClr val="FFFFFF"/>
                      </a:solidFill>
                      <a:prstDash val="solid"/>
                      <a:round/>
                      <a:headEnd type="none" w="med" len="med"/>
                      <a:tailEnd type="none" w="med" len="med"/>
                    </a:lnT>
                    <a:lnB w="11049" cap="flat" cmpd="sng" algn="ctr">
                      <a:solidFill>
                        <a:srgbClr val="FFFFFF"/>
                      </a:solidFill>
                      <a:prstDash val="solid"/>
                      <a:round/>
                      <a:headEnd type="none" w="med" len="med"/>
                      <a:tailEnd type="none" w="med" len="med"/>
                    </a:lnB>
                    <a:solidFill>
                      <a:srgbClr val="E9EAFF"/>
                    </a:solidFill>
                  </a:tcPr>
                </a:tc>
                <a:tc>
                  <a:txBody>
                    <a:bodyPr/>
                    <a:lstStyle/>
                    <a:p>
                      <a:pPr algn="l" fontAlgn="base">
                        <a:lnSpc>
                          <a:spcPts val="2175"/>
                        </a:lnSpc>
                        <a:buNone/>
                      </a:pPr>
                      <a:r>
                        <a:rPr lang="en-US" sz="1600" b="0" i="0">
                          <a:solidFill>
                            <a:srgbClr val="000000"/>
                          </a:solidFill>
                          <a:effectLst/>
                          <a:latin typeface="Bierstadt"/>
                        </a:rPr>
                        <a:t>No. of weekly passenger departures</a:t>
                      </a:r>
                      <a:endParaRPr lang="en-US"/>
                    </a:p>
                  </a:txBody>
                  <a:tcPr>
                    <a:lnL w="11049" cap="flat" cmpd="sng" algn="ctr">
                      <a:solidFill>
                        <a:srgbClr val="FFFFFF"/>
                      </a:solidFill>
                      <a:prstDash val="solid"/>
                      <a:round/>
                      <a:headEnd type="none" w="med" len="med"/>
                      <a:tailEnd type="none" w="med" len="med"/>
                    </a:lnL>
                    <a:lnR w="11049" cap="flat" cmpd="sng" algn="ctr">
                      <a:solidFill>
                        <a:srgbClr val="FFFFFF"/>
                      </a:solidFill>
                      <a:prstDash val="solid"/>
                      <a:round/>
                      <a:headEnd type="none" w="med" len="med"/>
                      <a:tailEnd type="none" w="med" len="med"/>
                    </a:lnR>
                    <a:lnT w="11049" cap="flat" cmpd="sng" algn="ctr">
                      <a:solidFill>
                        <a:srgbClr val="FFFFFF"/>
                      </a:solidFill>
                      <a:prstDash val="solid"/>
                      <a:round/>
                      <a:headEnd type="none" w="med" len="med"/>
                      <a:tailEnd type="none" w="med" len="med"/>
                    </a:lnT>
                    <a:lnB w="11049" cap="flat" cmpd="sng" algn="ctr">
                      <a:solidFill>
                        <a:srgbClr val="FFFFFF"/>
                      </a:solidFill>
                      <a:prstDash val="solid"/>
                      <a:round/>
                      <a:headEnd type="none" w="med" len="med"/>
                      <a:tailEnd type="none" w="med" len="med"/>
                    </a:lnB>
                    <a:solidFill>
                      <a:srgbClr val="E9EAFF"/>
                    </a:solidFill>
                  </a:tcPr>
                </a:tc>
                <a:tc>
                  <a:txBody>
                    <a:bodyPr/>
                    <a:lstStyle/>
                    <a:p>
                      <a:pPr lvl="0" algn="l">
                        <a:lnSpc>
                          <a:spcPts val="2175"/>
                        </a:lnSpc>
                        <a:buNone/>
                      </a:pPr>
                      <a:r>
                        <a:rPr lang="en-US" sz="1600" b="0" i="0" u="none" strike="noStrike" noProof="0">
                          <a:solidFill>
                            <a:srgbClr val="000000"/>
                          </a:solidFill>
                          <a:effectLst/>
                          <a:latin typeface="Bierstadt"/>
                        </a:rPr>
                        <a:t>Target (Y) variable</a:t>
                      </a:r>
                      <a:endParaRPr lang="en-US" sz="1600" b="0" i="0">
                        <a:solidFill>
                          <a:srgbClr val="000000"/>
                        </a:solidFill>
                        <a:effectLst/>
                        <a:latin typeface="Bierstadt"/>
                      </a:endParaRPr>
                    </a:p>
                  </a:txBody>
                  <a:tcPr>
                    <a:lnL w="11049">
                      <a:solidFill>
                        <a:srgbClr val="FFFFFF"/>
                      </a:solidFill>
                    </a:lnL>
                    <a:lnR w="11049">
                      <a:solidFill>
                        <a:srgbClr val="FFFFFF"/>
                      </a:solidFill>
                    </a:lnR>
                    <a:lnT w="11049">
                      <a:solidFill>
                        <a:srgbClr val="FFFFFF"/>
                      </a:solidFill>
                    </a:lnT>
                    <a:lnB w="11049">
                      <a:solidFill>
                        <a:srgbClr val="FFFFFF"/>
                      </a:solidFill>
                    </a:lnB>
                    <a:solidFill>
                      <a:srgbClr val="E9EAFF"/>
                    </a:solidFill>
                  </a:tcPr>
                </a:tc>
                <a:extLst>
                  <a:ext uri="{0D108BD9-81ED-4DB2-BD59-A6C34878D82A}">
                    <a16:rowId xmlns:a16="http://schemas.microsoft.com/office/drawing/2014/main" val="4161986310"/>
                  </a:ext>
                </a:extLst>
              </a:tr>
              <a:tr h="564880">
                <a:tc>
                  <a:txBody>
                    <a:bodyPr/>
                    <a:lstStyle/>
                    <a:p>
                      <a:pPr algn="l" fontAlgn="base">
                        <a:lnSpc>
                          <a:spcPts val="2175"/>
                        </a:lnSpc>
                        <a:buNone/>
                      </a:pPr>
                      <a:r>
                        <a:rPr lang="en-US" sz="1600" b="0" i="0" err="1">
                          <a:solidFill>
                            <a:srgbClr val="000000"/>
                          </a:solidFill>
                          <a:effectLst/>
                          <a:latin typeface="Bierstadt"/>
                        </a:rPr>
                        <a:t>avg_wind</a:t>
                      </a:r>
                      <a:r>
                        <a:rPr lang="en-US" sz="1600" b="0" i="0">
                          <a:solidFill>
                            <a:srgbClr val="000000"/>
                          </a:solidFill>
                          <a:effectLst/>
                          <a:latin typeface="Bierstadt"/>
                        </a:rPr>
                        <a:t>, </a:t>
                      </a:r>
                      <a:r>
                        <a:rPr lang="en-US" sz="1600" b="0" i="0" err="1">
                          <a:solidFill>
                            <a:srgbClr val="000000"/>
                          </a:solidFill>
                          <a:effectLst/>
                          <a:latin typeface="Bierstadt"/>
                        </a:rPr>
                        <a:t>avg_temp</a:t>
                      </a:r>
                      <a:r>
                        <a:rPr lang="en-US" sz="1600" b="0" i="0">
                          <a:solidFill>
                            <a:srgbClr val="000000"/>
                          </a:solidFill>
                          <a:effectLst/>
                          <a:latin typeface="Bierstadt"/>
                        </a:rPr>
                        <a:t>, </a:t>
                      </a:r>
                      <a:r>
                        <a:rPr lang="en-US" sz="1600" b="0" i="0" u="none" strike="noStrike" err="1">
                          <a:solidFill>
                            <a:srgbClr val="000000"/>
                          </a:solidFill>
                          <a:effectLst/>
                          <a:latin typeface="Bierstadt"/>
                        </a:rPr>
                        <a:t>avg_precipitation</a:t>
                      </a:r>
                      <a:endParaRPr lang="en-US" sz="1600" b="0" i="0">
                        <a:solidFill>
                          <a:srgbClr val="000000"/>
                        </a:solidFill>
                        <a:effectLst/>
                        <a:latin typeface="Bierstadt"/>
                      </a:endParaRPr>
                    </a:p>
                  </a:txBody>
                  <a:tcPr>
                    <a:lnL w="11049" cap="flat" cmpd="sng" algn="ctr">
                      <a:solidFill>
                        <a:srgbClr val="FFFFFF"/>
                      </a:solidFill>
                      <a:prstDash val="solid"/>
                      <a:round/>
                      <a:headEnd type="none" w="med" len="med"/>
                      <a:tailEnd type="none" w="med" len="med"/>
                    </a:lnL>
                    <a:lnR w="11049" cap="flat" cmpd="sng" algn="ctr">
                      <a:solidFill>
                        <a:srgbClr val="FFFFFF"/>
                      </a:solidFill>
                      <a:prstDash val="solid"/>
                      <a:round/>
                      <a:headEnd type="none" w="med" len="med"/>
                      <a:tailEnd type="none" w="med" len="med"/>
                    </a:lnR>
                    <a:lnT w="11049" cap="flat" cmpd="sng" algn="ctr">
                      <a:solidFill>
                        <a:srgbClr val="FFFFFF"/>
                      </a:solidFill>
                      <a:prstDash val="solid"/>
                      <a:round/>
                      <a:headEnd type="none" w="med" len="med"/>
                      <a:tailEnd type="none" w="med" len="med"/>
                    </a:lnT>
                    <a:lnB w="11049" cap="flat" cmpd="sng" algn="ctr">
                      <a:solidFill>
                        <a:srgbClr val="FFFFFF"/>
                      </a:solidFill>
                      <a:prstDash val="solid"/>
                      <a:round/>
                      <a:headEnd type="none" w="med" len="med"/>
                      <a:tailEnd type="none" w="med" len="med"/>
                    </a:lnB>
                    <a:solidFill>
                      <a:srgbClr val="E9EAFF"/>
                    </a:solidFill>
                  </a:tcPr>
                </a:tc>
                <a:tc>
                  <a:txBody>
                    <a:bodyPr/>
                    <a:lstStyle/>
                    <a:p>
                      <a:pPr algn="l" fontAlgn="base">
                        <a:lnSpc>
                          <a:spcPts val="2175"/>
                        </a:lnSpc>
                        <a:buNone/>
                      </a:pPr>
                      <a:r>
                        <a:rPr lang="en-US" sz="1600" b="0" i="0">
                          <a:solidFill>
                            <a:srgbClr val="000000"/>
                          </a:solidFill>
                          <a:effectLst/>
                          <a:latin typeface="Bierstadt"/>
                        </a:rPr>
                        <a:t>Weekly weather averages for wind, temperature and precipitation</a:t>
                      </a:r>
                    </a:p>
                  </a:txBody>
                  <a:tcPr>
                    <a:lnL w="11049" cap="flat" cmpd="sng" algn="ctr">
                      <a:solidFill>
                        <a:srgbClr val="FFFFFF"/>
                      </a:solidFill>
                      <a:prstDash val="solid"/>
                      <a:round/>
                      <a:headEnd type="none" w="med" len="med"/>
                      <a:tailEnd type="none" w="med" len="med"/>
                    </a:lnL>
                    <a:lnR w="11049" cap="flat" cmpd="sng" algn="ctr">
                      <a:solidFill>
                        <a:srgbClr val="FFFFFF"/>
                      </a:solidFill>
                      <a:prstDash val="solid"/>
                      <a:round/>
                      <a:headEnd type="none" w="med" len="med"/>
                      <a:tailEnd type="none" w="med" len="med"/>
                    </a:lnR>
                    <a:lnT w="11049" cap="flat" cmpd="sng" algn="ctr">
                      <a:solidFill>
                        <a:srgbClr val="FFFFFF"/>
                      </a:solidFill>
                      <a:prstDash val="solid"/>
                      <a:round/>
                      <a:headEnd type="none" w="med" len="med"/>
                      <a:tailEnd type="none" w="med" len="med"/>
                    </a:lnT>
                    <a:lnB w="11049" cap="flat" cmpd="sng" algn="ctr">
                      <a:solidFill>
                        <a:srgbClr val="FFFFFF"/>
                      </a:solidFill>
                      <a:prstDash val="solid"/>
                      <a:round/>
                      <a:headEnd type="none" w="med" len="med"/>
                      <a:tailEnd type="none" w="med" len="med"/>
                    </a:lnB>
                    <a:solidFill>
                      <a:srgbClr val="E9EAFF"/>
                    </a:solidFill>
                  </a:tcPr>
                </a:tc>
                <a:tc>
                  <a:txBody>
                    <a:bodyPr/>
                    <a:lstStyle/>
                    <a:p>
                      <a:pPr lvl="0" algn="l">
                        <a:lnSpc>
                          <a:spcPts val="2175"/>
                        </a:lnSpc>
                        <a:buNone/>
                      </a:pPr>
                      <a:r>
                        <a:rPr lang="en-US" sz="1600" b="0" i="0">
                          <a:solidFill>
                            <a:srgbClr val="000000"/>
                          </a:solidFill>
                          <a:effectLst/>
                          <a:latin typeface="Bierstadt"/>
                        </a:rPr>
                        <a:t>External demand drivers</a:t>
                      </a:r>
                    </a:p>
                  </a:txBody>
                  <a:tcPr>
                    <a:lnL w="11049">
                      <a:solidFill>
                        <a:srgbClr val="FFFFFF"/>
                      </a:solidFill>
                    </a:lnL>
                    <a:lnR w="11049">
                      <a:solidFill>
                        <a:srgbClr val="FFFFFF"/>
                      </a:solidFill>
                    </a:lnR>
                    <a:lnT w="11049">
                      <a:solidFill>
                        <a:srgbClr val="FFFFFF"/>
                      </a:solidFill>
                    </a:lnT>
                    <a:lnB w="11049">
                      <a:solidFill>
                        <a:srgbClr val="FFFFFF"/>
                      </a:solidFill>
                    </a:lnB>
                    <a:solidFill>
                      <a:srgbClr val="E9EAFF"/>
                    </a:solidFill>
                  </a:tcPr>
                </a:tc>
                <a:extLst>
                  <a:ext uri="{0D108BD9-81ED-4DB2-BD59-A6C34878D82A}">
                    <a16:rowId xmlns:a16="http://schemas.microsoft.com/office/drawing/2014/main" val="3143533175"/>
                  </a:ext>
                </a:extLst>
              </a:tr>
              <a:tr h="564880">
                <a:tc>
                  <a:txBody>
                    <a:bodyPr/>
                    <a:lstStyle/>
                    <a:p>
                      <a:pPr algn="l" fontAlgn="base">
                        <a:lnSpc>
                          <a:spcPts val="2175"/>
                        </a:lnSpc>
                        <a:buNone/>
                      </a:pPr>
                      <a:r>
                        <a:rPr lang="en-US" sz="1600" b="0" i="0">
                          <a:solidFill>
                            <a:srgbClr val="000000"/>
                          </a:solidFill>
                          <a:effectLst/>
                          <a:latin typeface="Bierstadt"/>
                        </a:rPr>
                        <a:t>Is Holiday Week, Holiday In Week</a:t>
                      </a:r>
                    </a:p>
                  </a:txBody>
                  <a:tcPr>
                    <a:lnL w="11049" cap="flat" cmpd="sng" algn="ctr">
                      <a:solidFill>
                        <a:srgbClr val="FFFFFF"/>
                      </a:solidFill>
                      <a:prstDash val="solid"/>
                      <a:round/>
                      <a:headEnd type="none" w="med" len="med"/>
                      <a:tailEnd type="none" w="med" len="med"/>
                    </a:lnL>
                    <a:lnR w="11049" cap="flat" cmpd="sng" algn="ctr">
                      <a:solidFill>
                        <a:srgbClr val="FFFFFF"/>
                      </a:solidFill>
                      <a:prstDash val="solid"/>
                      <a:round/>
                      <a:headEnd type="none" w="med" len="med"/>
                      <a:tailEnd type="none" w="med" len="med"/>
                    </a:lnR>
                    <a:lnT w="11049" cap="flat" cmpd="sng" algn="ctr">
                      <a:solidFill>
                        <a:srgbClr val="FFFFFF"/>
                      </a:solidFill>
                      <a:prstDash val="solid"/>
                      <a:round/>
                      <a:headEnd type="none" w="med" len="med"/>
                      <a:tailEnd type="none" w="med" len="med"/>
                    </a:lnT>
                    <a:lnB w="11049" cap="flat" cmpd="sng" algn="ctr">
                      <a:solidFill>
                        <a:srgbClr val="FFFFFF"/>
                      </a:solidFill>
                      <a:prstDash val="solid"/>
                      <a:round/>
                      <a:headEnd type="none" w="med" len="med"/>
                      <a:tailEnd type="none" w="med" len="med"/>
                    </a:lnB>
                    <a:solidFill>
                      <a:srgbClr val="D0D1FF"/>
                    </a:solidFill>
                  </a:tcPr>
                </a:tc>
                <a:tc>
                  <a:txBody>
                    <a:bodyPr/>
                    <a:lstStyle/>
                    <a:p>
                      <a:pPr algn="l" fontAlgn="base">
                        <a:lnSpc>
                          <a:spcPts val="2175"/>
                        </a:lnSpc>
                        <a:buNone/>
                      </a:pPr>
                      <a:r>
                        <a:rPr lang="en-US" sz="1600" b="0" i="0">
                          <a:solidFill>
                            <a:srgbClr val="000000"/>
                          </a:solidFill>
                          <a:effectLst/>
                          <a:latin typeface="Bierstadt"/>
                        </a:rPr>
                        <a:t>Binary variable( 1 = is a holiday week); name of the holiday </a:t>
                      </a:r>
                    </a:p>
                  </a:txBody>
                  <a:tcPr>
                    <a:lnL w="11049" cap="flat" cmpd="sng" algn="ctr">
                      <a:solidFill>
                        <a:srgbClr val="FFFFFF"/>
                      </a:solidFill>
                      <a:prstDash val="solid"/>
                      <a:round/>
                      <a:headEnd type="none" w="med" len="med"/>
                      <a:tailEnd type="none" w="med" len="med"/>
                    </a:lnL>
                    <a:lnR w="11049" cap="flat" cmpd="sng" algn="ctr">
                      <a:solidFill>
                        <a:srgbClr val="FFFFFF"/>
                      </a:solidFill>
                      <a:prstDash val="solid"/>
                      <a:round/>
                      <a:headEnd type="none" w="med" len="med"/>
                      <a:tailEnd type="none" w="med" len="med"/>
                    </a:lnR>
                    <a:lnT w="11049" cap="flat" cmpd="sng" algn="ctr">
                      <a:solidFill>
                        <a:srgbClr val="FFFFFF"/>
                      </a:solidFill>
                      <a:prstDash val="solid"/>
                      <a:round/>
                      <a:headEnd type="none" w="med" len="med"/>
                      <a:tailEnd type="none" w="med" len="med"/>
                    </a:lnT>
                    <a:lnB w="11049" cap="flat" cmpd="sng" algn="ctr">
                      <a:solidFill>
                        <a:srgbClr val="FFFFFF"/>
                      </a:solidFill>
                      <a:prstDash val="solid"/>
                      <a:round/>
                      <a:headEnd type="none" w="med" len="med"/>
                      <a:tailEnd type="none" w="med" len="med"/>
                    </a:lnB>
                    <a:solidFill>
                      <a:srgbClr val="D0D1FF"/>
                    </a:solidFill>
                  </a:tcPr>
                </a:tc>
                <a:tc>
                  <a:txBody>
                    <a:bodyPr/>
                    <a:lstStyle/>
                    <a:p>
                      <a:pPr lvl="0" algn="l">
                        <a:lnSpc>
                          <a:spcPts val="2175"/>
                        </a:lnSpc>
                        <a:buNone/>
                      </a:pPr>
                      <a:r>
                        <a:rPr lang="en-US" sz="1600" b="0" i="0">
                          <a:solidFill>
                            <a:srgbClr val="000000"/>
                          </a:solidFill>
                          <a:effectLst/>
                          <a:latin typeface="Bierstadt"/>
                        </a:rPr>
                        <a:t>Seasonal adjustment flag</a:t>
                      </a:r>
                    </a:p>
                  </a:txBody>
                  <a:tcPr>
                    <a:lnL w="11049">
                      <a:solidFill>
                        <a:srgbClr val="FFFFFF"/>
                      </a:solidFill>
                    </a:lnL>
                    <a:lnR w="11049">
                      <a:solidFill>
                        <a:srgbClr val="FFFFFF"/>
                      </a:solidFill>
                    </a:lnR>
                    <a:lnT w="11049">
                      <a:solidFill>
                        <a:srgbClr val="FFFFFF"/>
                      </a:solidFill>
                    </a:lnT>
                    <a:lnB w="11049">
                      <a:solidFill>
                        <a:srgbClr val="FFFFFF"/>
                      </a:solidFill>
                    </a:lnB>
                    <a:solidFill>
                      <a:srgbClr val="D0D1FF"/>
                    </a:solidFill>
                  </a:tcPr>
                </a:tc>
                <a:extLst>
                  <a:ext uri="{0D108BD9-81ED-4DB2-BD59-A6C34878D82A}">
                    <a16:rowId xmlns:a16="http://schemas.microsoft.com/office/drawing/2014/main" val="2685255818"/>
                  </a:ext>
                </a:extLst>
              </a:tr>
            </a:tbl>
          </a:graphicData>
        </a:graphic>
      </p:graphicFrame>
      <p:sp>
        <p:nvSpPr>
          <p:cNvPr id="3" name="TextBox 2">
            <a:extLst>
              <a:ext uri="{FF2B5EF4-FFF2-40B4-BE49-F238E27FC236}">
                <a16:creationId xmlns:a16="http://schemas.microsoft.com/office/drawing/2014/main" id="{04BA2079-EFA2-B5A7-2828-84AEBB137373}"/>
              </a:ext>
            </a:extLst>
          </p:cNvPr>
          <p:cNvSpPr txBox="1"/>
          <p:nvPr/>
        </p:nvSpPr>
        <p:spPr>
          <a:xfrm>
            <a:off x="687717" y="2645067"/>
            <a:ext cx="955751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Primary Dataset: Weekly Ridership with External Variables</a:t>
            </a:r>
          </a:p>
        </p:txBody>
      </p:sp>
    </p:spTree>
    <p:extLst>
      <p:ext uri="{BB962C8B-B14F-4D97-AF65-F5344CB8AC3E}">
        <p14:creationId xmlns:p14="http://schemas.microsoft.com/office/powerpoint/2010/main" val="18351249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28277-9387-79D7-F140-C594DC0C6576}"/>
              </a:ext>
            </a:extLst>
          </p:cNvPr>
          <p:cNvSpPr>
            <a:spLocks noGrp="1"/>
          </p:cNvSpPr>
          <p:nvPr>
            <p:ph type="title"/>
          </p:nvPr>
        </p:nvSpPr>
        <p:spPr>
          <a:xfrm>
            <a:off x="503691" y="724408"/>
            <a:ext cx="11190714" cy="552144"/>
          </a:xfrm>
        </p:spPr>
        <p:txBody>
          <a:bodyPr>
            <a:normAutofit fontScale="90000"/>
          </a:bodyPr>
          <a:lstStyle/>
          <a:p>
            <a:r>
              <a:rPr lang="en-US" sz="3200"/>
              <a:t>Terminal Passenger Forecast: 2026 - 2030 </a:t>
            </a:r>
            <a:endParaRPr lang="en-US"/>
          </a:p>
        </p:txBody>
      </p:sp>
      <p:pic>
        <p:nvPicPr>
          <p:cNvPr id="4" name="Picture 3">
            <a:extLst>
              <a:ext uri="{FF2B5EF4-FFF2-40B4-BE49-F238E27FC236}">
                <a16:creationId xmlns:a16="http://schemas.microsoft.com/office/drawing/2014/main" id="{F76C8BB8-DD00-0523-2B3F-327350729FBE}"/>
              </a:ext>
            </a:extLst>
          </p:cNvPr>
          <p:cNvPicPr>
            <a:picLocks noChangeAspect="1"/>
          </p:cNvPicPr>
          <p:nvPr/>
        </p:nvPicPr>
        <p:blipFill>
          <a:blip r:embed="rId2"/>
          <a:stretch>
            <a:fillRect/>
          </a:stretch>
        </p:blipFill>
        <p:spPr>
          <a:xfrm>
            <a:off x="817413" y="1404501"/>
            <a:ext cx="10434554" cy="4696262"/>
          </a:xfrm>
          <a:prstGeom prst="rect">
            <a:avLst/>
          </a:prstGeom>
        </p:spPr>
      </p:pic>
    </p:spTree>
    <p:extLst>
      <p:ext uri="{BB962C8B-B14F-4D97-AF65-F5344CB8AC3E}">
        <p14:creationId xmlns:p14="http://schemas.microsoft.com/office/powerpoint/2010/main" val="27542271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B7F78-9946-186D-E847-C285DD36D9AB}"/>
              </a:ext>
            </a:extLst>
          </p:cNvPr>
          <p:cNvSpPr>
            <a:spLocks noGrp="1"/>
          </p:cNvSpPr>
          <p:nvPr>
            <p:ph type="title"/>
          </p:nvPr>
        </p:nvSpPr>
        <p:spPr>
          <a:xfrm>
            <a:off x="521208" y="761840"/>
            <a:ext cx="11155680" cy="644893"/>
          </a:xfrm>
        </p:spPr>
        <p:txBody>
          <a:bodyPr>
            <a:normAutofit/>
          </a:bodyPr>
          <a:lstStyle/>
          <a:p>
            <a:r>
              <a:rPr lang="en-US" sz="3200"/>
              <a:t>Terminal Passenger Forecast Takeaways</a:t>
            </a:r>
          </a:p>
        </p:txBody>
      </p:sp>
      <p:sp>
        <p:nvSpPr>
          <p:cNvPr id="351" name="TextBox 350">
            <a:extLst>
              <a:ext uri="{FF2B5EF4-FFF2-40B4-BE49-F238E27FC236}">
                <a16:creationId xmlns:a16="http://schemas.microsoft.com/office/drawing/2014/main" id="{5555ED79-C243-D812-D374-78E2E144D4D4}"/>
              </a:ext>
            </a:extLst>
          </p:cNvPr>
          <p:cNvSpPr txBox="1"/>
          <p:nvPr/>
        </p:nvSpPr>
        <p:spPr>
          <a:xfrm>
            <a:off x="744781" y="1514953"/>
            <a:ext cx="2301998" cy="1015663"/>
          </a:xfrm>
          <a:prstGeom prst="rect">
            <a:avLst/>
          </a:prstGeom>
          <a:ln w="28575"/>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endParaRPr lang="en-US"/>
          </a:p>
          <a:p>
            <a:pPr algn="ctr"/>
            <a:r>
              <a:rPr lang="en-US" sz="2200" b="1">
                <a:solidFill>
                  <a:schemeClr val="accent4"/>
                </a:solidFill>
              </a:rPr>
              <a:t>5.6 M</a:t>
            </a:r>
          </a:p>
          <a:p>
            <a:pPr algn="ctr"/>
            <a:r>
              <a:rPr lang="en-US" sz="2000"/>
              <a:t>2026 Forecast</a:t>
            </a:r>
          </a:p>
        </p:txBody>
      </p:sp>
      <p:sp>
        <p:nvSpPr>
          <p:cNvPr id="352" name="TextBox 351">
            <a:extLst>
              <a:ext uri="{FF2B5EF4-FFF2-40B4-BE49-F238E27FC236}">
                <a16:creationId xmlns:a16="http://schemas.microsoft.com/office/drawing/2014/main" id="{683348D4-EA34-599F-FF26-5308A91777EA}"/>
              </a:ext>
            </a:extLst>
          </p:cNvPr>
          <p:cNvSpPr txBox="1"/>
          <p:nvPr/>
        </p:nvSpPr>
        <p:spPr>
          <a:xfrm>
            <a:off x="3477469" y="1488672"/>
            <a:ext cx="2301999" cy="1077218"/>
          </a:xfrm>
          <a:prstGeom prst="rect">
            <a:avLst/>
          </a:prstGeom>
          <a:ln w="28575"/>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endParaRPr lang="en-US" sz="2200" b="1">
              <a:solidFill>
                <a:schemeClr val="accent4"/>
              </a:solidFill>
            </a:endParaRPr>
          </a:p>
          <a:p>
            <a:pPr algn="ctr"/>
            <a:r>
              <a:rPr lang="en-US" sz="2200" b="1">
                <a:solidFill>
                  <a:schemeClr val="accent4"/>
                </a:solidFill>
              </a:rPr>
              <a:t>6.85 M</a:t>
            </a:r>
          </a:p>
          <a:p>
            <a:pPr algn="ctr"/>
            <a:r>
              <a:rPr lang="en-US" sz="2000"/>
              <a:t>2030 Forecast</a:t>
            </a:r>
          </a:p>
        </p:txBody>
      </p:sp>
      <p:sp>
        <p:nvSpPr>
          <p:cNvPr id="353" name="TextBox 352">
            <a:extLst>
              <a:ext uri="{FF2B5EF4-FFF2-40B4-BE49-F238E27FC236}">
                <a16:creationId xmlns:a16="http://schemas.microsoft.com/office/drawing/2014/main" id="{0A913F2F-8B91-8F80-432D-3051C9843BC9}"/>
              </a:ext>
            </a:extLst>
          </p:cNvPr>
          <p:cNvSpPr txBox="1"/>
          <p:nvPr/>
        </p:nvSpPr>
        <p:spPr>
          <a:xfrm>
            <a:off x="6183883" y="1514949"/>
            <a:ext cx="2284481" cy="1015663"/>
          </a:xfrm>
          <a:prstGeom prst="rect">
            <a:avLst/>
          </a:prstGeom>
          <a:ln w="28575"/>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endParaRPr lang="en-US"/>
          </a:p>
          <a:p>
            <a:pPr algn="ctr"/>
            <a:r>
              <a:rPr lang="en-US" sz="2200" b="1">
                <a:solidFill>
                  <a:schemeClr val="accent4"/>
                </a:solidFill>
              </a:rPr>
              <a:t>+22 %</a:t>
            </a:r>
          </a:p>
          <a:p>
            <a:pPr algn="ctr"/>
            <a:r>
              <a:rPr lang="en-US" sz="2000"/>
              <a:t>5 – Year Growth</a:t>
            </a:r>
          </a:p>
        </p:txBody>
      </p:sp>
      <p:sp>
        <p:nvSpPr>
          <p:cNvPr id="354" name="TextBox 353">
            <a:extLst>
              <a:ext uri="{FF2B5EF4-FFF2-40B4-BE49-F238E27FC236}">
                <a16:creationId xmlns:a16="http://schemas.microsoft.com/office/drawing/2014/main" id="{85531D01-FF2D-B965-E532-3E202F79B481}"/>
              </a:ext>
            </a:extLst>
          </p:cNvPr>
          <p:cNvSpPr txBox="1"/>
          <p:nvPr/>
        </p:nvSpPr>
        <p:spPr>
          <a:xfrm>
            <a:off x="8881540" y="1462397"/>
            <a:ext cx="2555996" cy="1015663"/>
          </a:xfrm>
          <a:prstGeom prst="rect">
            <a:avLst/>
          </a:prstGeom>
          <a:ln w="28575"/>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endParaRPr lang="en-US"/>
          </a:p>
          <a:p>
            <a:pPr algn="ctr"/>
            <a:r>
              <a:rPr lang="en-US" sz="2200" b="1">
                <a:solidFill>
                  <a:schemeClr val="accent4"/>
                </a:solidFill>
              </a:rPr>
              <a:t>+140 K</a:t>
            </a:r>
          </a:p>
          <a:p>
            <a:pPr algn="ctr"/>
            <a:r>
              <a:rPr lang="en-US" sz="2000"/>
              <a:t>Highest Peak Weekly</a:t>
            </a:r>
          </a:p>
        </p:txBody>
      </p:sp>
      <p:sp>
        <p:nvSpPr>
          <p:cNvPr id="362" name="TextBox 361">
            <a:extLst>
              <a:ext uri="{FF2B5EF4-FFF2-40B4-BE49-F238E27FC236}">
                <a16:creationId xmlns:a16="http://schemas.microsoft.com/office/drawing/2014/main" id="{9924C026-F9EB-C34F-51E3-877E6816AC70}"/>
              </a:ext>
            </a:extLst>
          </p:cNvPr>
          <p:cNvSpPr txBox="1"/>
          <p:nvPr/>
        </p:nvSpPr>
        <p:spPr>
          <a:xfrm>
            <a:off x="743294" y="1406888"/>
            <a:ext cx="2304351" cy="109522"/>
          </a:xfrm>
          <a:prstGeom prst="rect">
            <a:avLst/>
          </a:prstGeom>
          <a:solidFill>
            <a:schemeClr val="accent4"/>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364" name="TextBox 363">
            <a:extLst>
              <a:ext uri="{FF2B5EF4-FFF2-40B4-BE49-F238E27FC236}">
                <a16:creationId xmlns:a16="http://schemas.microsoft.com/office/drawing/2014/main" id="{204B23F8-A378-4510-6BC2-7CF51ADC730D}"/>
              </a:ext>
            </a:extLst>
          </p:cNvPr>
          <p:cNvSpPr txBox="1"/>
          <p:nvPr/>
        </p:nvSpPr>
        <p:spPr>
          <a:xfrm>
            <a:off x="3479487" y="1410392"/>
            <a:ext cx="2304351" cy="100764"/>
          </a:xfrm>
          <a:prstGeom prst="rect">
            <a:avLst/>
          </a:prstGeom>
          <a:solidFill>
            <a:schemeClr val="accent4"/>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366" name="TextBox 365">
            <a:extLst>
              <a:ext uri="{FF2B5EF4-FFF2-40B4-BE49-F238E27FC236}">
                <a16:creationId xmlns:a16="http://schemas.microsoft.com/office/drawing/2014/main" id="{34839550-D186-DDC9-ACBD-AF05D2C63D6C}"/>
              </a:ext>
            </a:extLst>
          </p:cNvPr>
          <p:cNvSpPr txBox="1"/>
          <p:nvPr/>
        </p:nvSpPr>
        <p:spPr>
          <a:xfrm>
            <a:off x="6180646" y="1413896"/>
            <a:ext cx="2304351" cy="100764"/>
          </a:xfrm>
          <a:prstGeom prst="rect">
            <a:avLst/>
          </a:prstGeom>
          <a:solidFill>
            <a:schemeClr val="accent4"/>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368" name="TextBox 367">
            <a:extLst>
              <a:ext uri="{FF2B5EF4-FFF2-40B4-BE49-F238E27FC236}">
                <a16:creationId xmlns:a16="http://schemas.microsoft.com/office/drawing/2014/main" id="{D74EBAB7-EB7C-CCCE-612F-7CE023F2FC1C}"/>
              </a:ext>
            </a:extLst>
          </p:cNvPr>
          <p:cNvSpPr txBox="1"/>
          <p:nvPr/>
        </p:nvSpPr>
        <p:spPr>
          <a:xfrm>
            <a:off x="8873045" y="1408641"/>
            <a:ext cx="2567109" cy="109522"/>
          </a:xfrm>
          <a:prstGeom prst="rect">
            <a:avLst/>
          </a:prstGeom>
          <a:solidFill>
            <a:schemeClr val="accent4"/>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graphicFrame>
        <p:nvGraphicFramePr>
          <p:cNvPr id="4" name="Table 3">
            <a:extLst>
              <a:ext uri="{FF2B5EF4-FFF2-40B4-BE49-F238E27FC236}">
                <a16:creationId xmlns:a16="http://schemas.microsoft.com/office/drawing/2014/main" id="{B1698F21-E57D-B299-2A9B-3B3B29D83239}"/>
              </a:ext>
            </a:extLst>
          </p:cNvPr>
          <p:cNvGraphicFramePr>
            <a:graphicFrameLocks noGrp="1"/>
          </p:cNvGraphicFramePr>
          <p:nvPr>
            <p:extLst>
              <p:ext uri="{D42A27DB-BD31-4B8C-83A1-F6EECF244321}">
                <p14:modId xmlns:p14="http://schemas.microsoft.com/office/powerpoint/2010/main" val="2295084833"/>
              </p:ext>
            </p:extLst>
          </p:nvPr>
        </p:nvGraphicFramePr>
        <p:xfrm>
          <a:off x="1760482" y="2881585"/>
          <a:ext cx="6710525" cy="2467282"/>
        </p:xfrm>
        <a:graphic>
          <a:graphicData uri="http://schemas.openxmlformats.org/drawingml/2006/table">
            <a:tbl>
              <a:tblPr bandRow="1">
                <a:tableStyleId>{5C22544A-7EE6-4342-B048-85BDC9FD1C3A}</a:tableStyleId>
              </a:tblPr>
              <a:tblGrid>
                <a:gridCol w="1404557">
                  <a:extLst>
                    <a:ext uri="{9D8B030D-6E8A-4147-A177-3AD203B41FA5}">
                      <a16:colId xmlns:a16="http://schemas.microsoft.com/office/drawing/2014/main" val="1273764681"/>
                    </a:ext>
                  </a:extLst>
                </a:gridCol>
                <a:gridCol w="2184873">
                  <a:extLst>
                    <a:ext uri="{9D8B030D-6E8A-4147-A177-3AD203B41FA5}">
                      <a16:colId xmlns:a16="http://schemas.microsoft.com/office/drawing/2014/main" val="3550996128"/>
                    </a:ext>
                  </a:extLst>
                </a:gridCol>
                <a:gridCol w="3121095">
                  <a:extLst>
                    <a:ext uri="{9D8B030D-6E8A-4147-A177-3AD203B41FA5}">
                      <a16:colId xmlns:a16="http://schemas.microsoft.com/office/drawing/2014/main" val="3339817318"/>
                    </a:ext>
                  </a:extLst>
                </a:gridCol>
              </a:tblGrid>
              <a:tr h="272431">
                <a:tc>
                  <a:txBody>
                    <a:bodyPr/>
                    <a:lstStyle/>
                    <a:p>
                      <a:pPr algn="l" rtl="0" fontAlgn="base">
                        <a:lnSpc>
                          <a:spcPts val="1875"/>
                        </a:lnSpc>
                        <a:buNone/>
                      </a:pPr>
                      <a:r>
                        <a:rPr lang="en-US" sz="1800" b="1" i="0">
                          <a:solidFill>
                            <a:srgbClr val="FFFFFF"/>
                          </a:solidFill>
                          <a:effectLst/>
                          <a:latin typeface="Bierstadt" panose="020B0004020202020204" pitchFamily="34" charset="0"/>
                        </a:rPr>
                        <a:t>Year</a:t>
                      </a:r>
                      <a:endParaRPr lang="en-US" b="1" i="0">
                        <a:solidFill>
                          <a:srgbClr val="FFFFFF"/>
                        </a:solidFill>
                        <a:effectLst/>
                      </a:endParaRPr>
                    </a:p>
                  </a:txBody>
                  <a:tcPr marL="79553" marR="79553" marT="39776" marB="39776">
                    <a:lnL w="11049" cap="flat" cmpd="sng" algn="ctr">
                      <a:solidFill>
                        <a:srgbClr val="4D5A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1049" cap="flat" cmpd="sng" algn="ctr">
                      <a:solidFill>
                        <a:srgbClr val="4D5AFF"/>
                      </a:solidFill>
                      <a:prstDash val="solid"/>
                      <a:round/>
                      <a:headEnd type="none" w="med" len="med"/>
                      <a:tailEnd type="none" w="med" len="med"/>
                    </a:lnT>
                    <a:lnB w="11049" cap="flat" cmpd="sng" algn="ctr">
                      <a:solidFill>
                        <a:srgbClr val="4D5AFF"/>
                      </a:solidFill>
                      <a:prstDash val="solid"/>
                      <a:round/>
                      <a:headEnd type="none" w="med" len="med"/>
                      <a:tailEnd type="none" w="med" len="med"/>
                    </a:lnB>
                    <a:solidFill>
                      <a:srgbClr val="4D5AFF"/>
                    </a:solidFill>
                  </a:tcPr>
                </a:tc>
                <a:tc>
                  <a:txBody>
                    <a:bodyPr/>
                    <a:lstStyle/>
                    <a:p>
                      <a:pPr algn="l" rtl="0" fontAlgn="base">
                        <a:lnSpc>
                          <a:spcPts val="1875"/>
                        </a:lnSpc>
                        <a:buNone/>
                      </a:pPr>
                      <a:r>
                        <a:rPr lang="en-US" sz="1800" b="1" i="0">
                          <a:solidFill>
                            <a:srgbClr val="FFFFFF"/>
                          </a:solidFill>
                          <a:effectLst/>
                          <a:latin typeface="Bierstadt" panose="020B0004020202020204" pitchFamily="34" charset="0"/>
                        </a:rPr>
                        <a:t>Annual Total</a:t>
                      </a:r>
                      <a:endParaRPr lang="en-US" b="1" i="0">
                        <a:solidFill>
                          <a:srgbClr val="FFFFFF"/>
                        </a:solidFill>
                        <a:effectLst/>
                      </a:endParaRPr>
                    </a:p>
                  </a:txBody>
                  <a:tcPr marL="79553" marR="79553" marT="39776" marB="39776">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1049" cap="flat" cmpd="sng" algn="ctr">
                      <a:solidFill>
                        <a:srgbClr val="4D5AFF"/>
                      </a:solidFill>
                      <a:prstDash val="solid"/>
                      <a:round/>
                      <a:headEnd type="none" w="med" len="med"/>
                      <a:tailEnd type="none" w="med" len="med"/>
                    </a:lnT>
                    <a:lnB w="11049" cap="flat" cmpd="sng" algn="ctr">
                      <a:solidFill>
                        <a:srgbClr val="4D5AFF"/>
                      </a:solidFill>
                      <a:prstDash val="solid"/>
                      <a:round/>
                      <a:headEnd type="none" w="med" len="med"/>
                      <a:tailEnd type="none" w="med" len="med"/>
                    </a:lnB>
                    <a:solidFill>
                      <a:srgbClr val="4D5AFF"/>
                    </a:solidFill>
                  </a:tcPr>
                </a:tc>
                <a:tc>
                  <a:txBody>
                    <a:bodyPr/>
                    <a:lstStyle/>
                    <a:p>
                      <a:pPr algn="l" rtl="0" fontAlgn="base">
                        <a:lnSpc>
                          <a:spcPts val="1875"/>
                        </a:lnSpc>
                        <a:buNone/>
                      </a:pPr>
                      <a:r>
                        <a:rPr lang="en-US" sz="1800" b="1" i="0">
                          <a:solidFill>
                            <a:srgbClr val="FFFFFF"/>
                          </a:solidFill>
                          <a:effectLst/>
                          <a:latin typeface="Bierstadt" panose="020B0004020202020204" pitchFamily="34" charset="0"/>
                        </a:rPr>
                        <a:t>Average Weekly Peak</a:t>
                      </a:r>
                      <a:endParaRPr lang="en-US" b="1" i="0">
                        <a:solidFill>
                          <a:srgbClr val="FFFFFF"/>
                        </a:solidFill>
                        <a:effectLst/>
                      </a:endParaRPr>
                    </a:p>
                  </a:txBody>
                  <a:tcPr marL="79553" marR="79553" marT="39776" marB="39776">
                    <a:lnL w="12700" cap="flat" cmpd="sng" algn="ctr">
                      <a:solidFill>
                        <a:srgbClr val="FFFFFF"/>
                      </a:solidFill>
                      <a:prstDash val="solid"/>
                      <a:round/>
                      <a:headEnd type="none" w="med" len="med"/>
                      <a:tailEnd type="none" w="med" len="med"/>
                    </a:lnL>
                    <a:lnR w="11049" cap="flat" cmpd="sng" algn="ctr">
                      <a:solidFill>
                        <a:srgbClr val="4D5AFF"/>
                      </a:solidFill>
                      <a:prstDash val="solid"/>
                      <a:round/>
                      <a:headEnd type="none" w="med" len="med"/>
                      <a:tailEnd type="none" w="med" len="med"/>
                    </a:lnR>
                    <a:lnT w="11049" cap="flat" cmpd="sng" algn="ctr">
                      <a:solidFill>
                        <a:srgbClr val="4D5AFF"/>
                      </a:solidFill>
                      <a:prstDash val="solid"/>
                      <a:round/>
                      <a:headEnd type="none" w="med" len="med"/>
                      <a:tailEnd type="none" w="med" len="med"/>
                    </a:lnT>
                    <a:lnB w="11049" cap="flat" cmpd="sng" algn="ctr">
                      <a:solidFill>
                        <a:srgbClr val="4D5AFF"/>
                      </a:solidFill>
                      <a:prstDash val="solid"/>
                      <a:round/>
                      <a:headEnd type="none" w="med" len="med"/>
                      <a:tailEnd type="none" w="med" len="med"/>
                    </a:lnB>
                    <a:solidFill>
                      <a:srgbClr val="4D5AFF"/>
                    </a:solidFill>
                  </a:tcPr>
                </a:tc>
                <a:extLst>
                  <a:ext uri="{0D108BD9-81ED-4DB2-BD59-A6C34878D82A}">
                    <a16:rowId xmlns:a16="http://schemas.microsoft.com/office/drawing/2014/main" val="3067997801"/>
                  </a:ext>
                </a:extLst>
              </a:tr>
              <a:tr h="429286">
                <a:tc>
                  <a:txBody>
                    <a:bodyPr/>
                    <a:lstStyle/>
                    <a:p>
                      <a:pPr algn="l" rtl="0" fontAlgn="base">
                        <a:lnSpc>
                          <a:spcPts val="1650"/>
                        </a:lnSpc>
                        <a:buNone/>
                      </a:pPr>
                      <a:r>
                        <a:rPr lang="en-US" sz="1600" b="0" i="0">
                          <a:solidFill>
                            <a:srgbClr val="000000"/>
                          </a:solidFill>
                          <a:effectLst/>
                          <a:latin typeface="Bierstadt" panose="020B0004020202020204" pitchFamily="34" charset="0"/>
                        </a:rPr>
                        <a:t>2026</a:t>
                      </a:r>
                      <a:endParaRPr lang="en-US" b="0" i="0">
                        <a:solidFill>
                          <a:srgbClr val="000000"/>
                        </a:solidFill>
                        <a:effectLst/>
                      </a:endParaRPr>
                    </a:p>
                  </a:txBody>
                  <a:tcPr marL="79553" marR="79553" marT="39776" marB="39776">
                    <a:lnL w="11049" cap="flat" cmpd="sng" algn="ctr">
                      <a:solidFill>
                        <a:srgbClr val="4D5A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1049" cap="flat" cmpd="sng" algn="ctr">
                      <a:solidFill>
                        <a:srgbClr val="4D5AFF"/>
                      </a:solidFill>
                      <a:prstDash val="solid"/>
                      <a:round/>
                      <a:headEnd type="none" w="med" len="med"/>
                      <a:tailEnd type="none" w="med" len="med"/>
                    </a:lnT>
                    <a:lnB w="11049" cap="flat" cmpd="sng" algn="ctr">
                      <a:solidFill>
                        <a:srgbClr val="4D5AFF"/>
                      </a:solidFill>
                      <a:prstDash val="solid"/>
                      <a:round/>
                      <a:headEnd type="none" w="med" len="med"/>
                      <a:tailEnd type="none" w="med" len="med"/>
                    </a:lnB>
                    <a:solidFill>
                      <a:srgbClr val="E9EAFF"/>
                    </a:solidFill>
                  </a:tcPr>
                </a:tc>
                <a:tc>
                  <a:txBody>
                    <a:bodyPr/>
                    <a:lstStyle/>
                    <a:p>
                      <a:pPr algn="l" rtl="0" fontAlgn="base">
                        <a:lnSpc>
                          <a:spcPts val="1650"/>
                        </a:lnSpc>
                        <a:buNone/>
                      </a:pPr>
                      <a:r>
                        <a:rPr lang="en-US" sz="1600" b="0" i="0">
                          <a:solidFill>
                            <a:srgbClr val="000000"/>
                          </a:solidFill>
                          <a:effectLst/>
                          <a:latin typeface="Bierstadt" panose="020B0004020202020204" pitchFamily="34" charset="0"/>
                        </a:rPr>
                        <a:t>5.6 M</a:t>
                      </a:r>
                      <a:endParaRPr lang="en-US" b="0" i="0">
                        <a:solidFill>
                          <a:srgbClr val="000000"/>
                        </a:solidFill>
                        <a:effectLst/>
                      </a:endParaRPr>
                    </a:p>
                  </a:txBody>
                  <a:tcPr marL="79553" marR="79553" marT="39776" marB="39776">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1049" cap="flat" cmpd="sng" algn="ctr">
                      <a:solidFill>
                        <a:srgbClr val="4D5AFF"/>
                      </a:solidFill>
                      <a:prstDash val="solid"/>
                      <a:round/>
                      <a:headEnd type="none" w="med" len="med"/>
                      <a:tailEnd type="none" w="med" len="med"/>
                    </a:lnT>
                    <a:lnB w="11049" cap="flat" cmpd="sng" algn="ctr">
                      <a:solidFill>
                        <a:srgbClr val="4D5AFF"/>
                      </a:solidFill>
                      <a:prstDash val="solid"/>
                      <a:round/>
                      <a:headEnd type="none" w="med" len="med"/>
                      <a:tailEnd type="none" w="med" len="med"/>
                    </a:lnB>
                    <a:solidFill>
                      <a:srgbClr val="E9EAFF"/>
                    </a:solidFill>
                  </a:tcPr>
                </a:tc>
                <a:tc>
                  <a:txBody>
                    <a:bodyPr/>
                    <a:lstStyle/>
                    <a:p>
                      <a:pPr algn="l" rtl="0" fontAlgn="base">
                        <a:lnSpc>
                          <a:spcPts val="1650"/>
                        </a:lnSpc>
                        <a:buNone/>
                      </a:pPr>
                      <a:r>
                        <a:rPr lang="en-US" sz="1600" b="0" i="0">
                          <a:solidFill>
                            <a:srgbClr val="000000"/>
                          </a:solidFill>
                          <a:effectLst/>
                          <a:latin typeface="Bierstadt" panose="020B0004020202020204" pitchFamily="34" charset="0"/>
                        </a:rPr>
                        <a:t>~ 108 K</a:t>
                      </a:r>
                      <a:endParaRPr lang="en-US" b="0" i="0">
                        <a:solidFill>
                          <a:srgbClr val="000000"/>
                        </a:solidFill>
                        <a:effectLst/>
                      </a:endParaRPr>
                    </a:p>
                  </a:txBody>
                  <a:tcPr marL="79553" marR="79553" marT="39776" marB="39776">
                    <a:lnL w="12700" cap="flat" cmpd="sng" algn="ctr">
                      <a:solidFill>
                        <a:srgbClr val="FFFFFF"/>
                      </a:solidFill>
                      <a:prstDash val="solid"/>
                      <a:round/>
                      <a:headEnd type="none" w="med" len="med"/>
                      <a:tailEnd type="none" w="med" len="med"/>
                    </a:lnL>
                    <a:lnR w="11049" cap="flat" cmpd="sng" algn="ctr">
                      <a:solidFill>
                        <a:srgbClr val="4D5AFF"/>
                      </a:solidFill>
                      <a:prstDash val="solid"/>
                      <a:round/>
                      <a:headEnd type="none" w="med" len="med"/>
                      <a:tailEnd type="none" w="med" len="med"/>
                    </a:lnR>
                    <a:lnT w="11049" cap="flat" cmpd="sng" algn="ctr">
                      <a:solidFill>
                        <a:srgbClr val="4D5AFF"/>
                      </a:solidFill>
                      <a:prstDash val="solid"/>
                      <a:round/>
                      <a:headEnd type="none" w="med" len="med"/>
                      <a:tailEnd type="none" w="med" len="med"/>
                    </a:lnT>
                    <a:lnB w="11049" cap="flat" cmpd="sng" algn="ctr">
                      <a:solidFill>
                        <a:srgbClr val="4D5AFF"/>
                      </a:solidFill>
                      <a:prstDash val="solid"/>
                      <a:round/>
                      <a:headEnd type="none" w="med" len="med"/>
                      <a:tailEnd type="none" w="med" len="med"/>
                    </a:lnB>
                    <a:solidFill>
                      <a:srgbClr val="E9EAFF"/>
                    </a:solidFill>
                  </a:tcPr>
                </a:tc>
                <a:extLst>
                  <a:ext uri="{0D108BD9-81ED-4DB2-BD59-A6C34878D82A}">
                    <a16:rowId xmlns:a16="http://schemas.microsoft.com/office/drawing/2014/main" val="2187443699"/>
                  </a:ext>
                </a:extLst>
              </a:tr>
              <a:tr h="429286">
                <a:tc>
                  <a:txBody>
                    <a:bodyPr/>
                    <a:lstStyle/>
                    <a:p>
                      <a:pPr algn="l" rtl="0" fontAlgn="base">
                        <a:lnSpc>
                          <a:spcPts val="1650"/>
                        </a:lnSpc>
                        <a:buNone/>
                      </a:pPr>
                      <a:r>
                        <a:rPr lang="en-US" sz="1600" b="0" i="0">
                          <a:solidFill>
                            <a:srgbClr val="000000"/>
                          </a:solidFill>
                          <a:effectLst/>
                          <a:latin typeface="Bierstadt" panose="020B0004020202020204" pitchFamily="34" charset="0"/>
                        </a:rPr>
                        <a:t>2027</a:t>
                      </a:r>
                      <a:endParaRPr lang="en-US" b="0" i="0">
                        <a:solidFill>
                          <a:srgbClr val="000000"/>
                        </a:solidFill>
                        <a:effectLst/>
                      </a:endParaRPr>
                    </a:p>
                  </a:txBody>
                  <a:tcPr marL="79553" marR="79553" marT="39776" marB="39776">
                    <a:lnL w="11049" cap="flat" cmpd="sng" algn="ctr">
                      <a:solidFill>
                        <a:srgbClr val="4D5A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1049" cap="flat" cmpd="sng" algn="ctr">
                      <a:solidFill>
                        <a:srgbClr val="4D5AFF"/>
                      </a:solidFill>
                      <a:prstDash val="solid"/>
                      <a:round/>
                      <a:headEnd type="none" w="med" len="med"/>
                      <a:tailEnd type="none" w="med" len="med"/>
                    </a:lnT>
                    <a:lnB w="11049" cap="flat" cmpd="sng" algn="ctr">
                      <a:solidFill>
                        <a:srgbClr val="4D5AFF"/>
                      </a:solidFill>
                      <a:prstDash val="solid"/>
                      <a:round/>
                      <a:headEnd type="none" w="med" len="med"/>
                      <a:tailEnd type="none" w="med" len="med"/>
                    </a:lnB>
                    <a:solidFill>
                      <a:srgbClr val="FFFFFF"/>
                    </a:solidFill>
                  </a:tcPr>
                </a:tc>
                <a:tc>
                  <a:txBody>
                    <a:bodyPr/>
                    <a:lstStyle/>
                    <a:p>
                      <a:pPr algn="l" rtl="0" fontAlgn="base">
                        <a:lnSpc>
                          <a:spcPts val="1650"/>
                        </a:lnSpc>
                        <a:buNone/>
                      </a:pPr>
                      <a:r>
                        <a:rPr lang="en-US" sz="1600" b="0" i="0">
                          <a:solidFill>
                            <a:srgbClr val="000000"/>
                          </a:solidFill>
                          <a:effectLst/>
                          <a:latin typeface="Bierstadt" panose="020B0004020202020204" pitchFamily="34" charset="0"/>
                        </a:rPr>
                        <a:t>5.9 M</a:t>
                      </a:r>
                      <a:endParaRPr lang="en-US" b="0" i="0">
                        <a:solidFill>
                          <a:srgbClr val="000000"/>
                        </a:solidFill>
                        <a:effectLst/>
                      </a:endParaRPr>
                    </a:p>
                  </a:txBody>
                  <a:tcPr marL="79553" marR="79553" marT="39776" marB="39776">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1049" cap="flat" cmpd="sng" algn="ctr">
                      <a:solidFill>
                        <a:srgbClr val="4D5AFF"/>
                      </a:solidFill>
                      <a:prstDash val="solid"/>
                      <a:round/>
                      <a:headEnd type="none" w="med" len="med"/>
                      <a:tailEnd type="none" w="med" len="med"/>
                    </a:lnT>
                    <a:lnB w="11049" cap="flat" cmpd="sng" algn="ctr">
                      <a:solidFill>
                        <a:srgbClr val="4D5AFF"/>
                      </a:solidFill>
                      <a:prstDash val="solid"/>
                      <a:round/>
                      <a:headEnd type="none" w="med" len="med"/>
                      <a:tailEnd type="none" w="med" len="med"/>
                    </a:lnB>
                    <a:solidFill>
                      <a:srgbClr val="FFFFFF"/>
                    </a:solidFill>
                  </a:tcPr>
                </a:tc>
                <a:tc>
                  <a:txBody>
                    <a:bodyPr/>
                    <a:lstStyle/>
                    <a:p>
                      <a:pPr algn="l" rtl="0" fontAlgn="base">
                        <a:lnSpc>
                          <a:spcPts val="1650"/>
                        </a:lnSpc>
                        <a:buNone/>
                      </a:pPr>
                      <a:r>
                        <a:rPr lang="en-US" sz="1600" b="0" i="0">
                          <a:solidFill>
                            <a:srgbClr val="000000"/>
                          </a:solidFill>
                          <a:effectLst/>
                          <a:latin typeface="Bierstadt" panose="020B0004020202020204" pitchFamily="34" charset="0"/>
                        </a:rPr>
                        <a:t>~ 114 K</a:t>
                      </a:r>
                      <a:endParaRPr lang="en-US" b="0" i="0">
                        <a:solidFill>
                          <a:srgbClr val="000000"/>
                        </a:solidFill>
                        <a:effectLst/>
                      </a:endParaRPr>
                    </a:p>
                  </a:txBody>
                  <a:tcPr marL="79553" marR="79553" marT="39776" marB="39776">
                    <a:lnL w="12700" cap="flat" cmpd="sng" algn="ctr">
                      <a:solidFill>
                        <a:srgbClr val="FFFFFF"/>
                      </a:solidFill>
                      <a:prstDash val="solid"/>
                      <a:round/>
                      <a:headEnd type="none" w="med" len="med"/>
                      <a:tailEnd type="none" w="med" len="med"/>
                    </a:lnL>
                    <a:lnR w="11049" cap="flat" cmpd="sng" algn="ctr">
                      <a:solidFill>
                        <a:srgbClr val="4D5AFF"/>
                      </a:solidFill>
                      <a:prstDash val="solid"/>
                      <a:round/>
                      <a:headEnd type="none" w="med" len="med"/>
                      <a:tailEnd type="none" w="med" len="med"/>
                    </a:lnR>
                    <a:lnT w="11049" cap="flat" cmpd="sng" algn="ctr">
                      <a:solidFill>
                        <a:srgbClr val="4D5AFF"/>
                      </a:solidFill>
                      <a:prstDash val="solid"/>
                      <a:round/>
                      <a:headEnd type="none" w="med" len="med"/>
                      <a:tailEnd type="none" w="med" len="med"/>
                    </a:lnT>
                    <a:lnB w="11049" cap="flat" cmpd="sng" algn="ctr">
                      <a:solidFill>
                        <a:srgbClr val="4D5AFF"/>
                      </a:solidFill>
                      <a:prstDash val="solid"/>
                      <a:round/>
                      <a:headEnd type="none" w="med" len="med"/>
                      <a:tailEnd type="none" w="med" len="med"/>
                    </a:lnB>
                    <a:solidFill>
                      <a:srgbClr val="FFFFFF"/>
                    </a:solidFill>
                  </a:tcPr>
                </a:tc>
                <a:extLst>
                  <a:ext uri="{0D108BD9-81ED-4DB2-BD59-A6C34878D82A}">
                    <a16:rowId xmlns:a16="http://schemas.microsoft.com/office/drawing/2014/main" val="1453811542"/>
                  </a:ext>
                </a:extLst>
              </a:tr>
              <a:tr h="429286">
                <a:tc>
                  <a:txBody>
                    <a:bodyPr/>
                    <a:lstStyle/>
                    <a:p>
                      <a:pPr algn="l" rtl="0" fontAlgn="base">
                        <a:lnSpc>
                          <a:spcPts val="1650"/>
                        </a:lnSpc>
                        <a:buNone/>
                      </a:pPr>
                      <a:r>
                        <a:rPr lang="en-US" sz="1600" b="0" i="0">
                          <a:solidFill>
                            <a:srgbClr val="000000"/>
                          </a:solidFill>
                          <a:effectLst/>
                          <a:latin typeface="Bierstadt" panose="020B0004020202020204" pitchFamily="34" charset="0"/>
                        </a:rPr>
                        <a:t>2028</a:t>
                      </a:r>
                      <a:endParaRPr lang="en-US" b="0" i="0">
                        <a:solidFill>
                          <a:srgbClr val="000000"/>
                        </a:solidFill>
                        <a:effectLst/>
                      </a:endParaRPr>
                    </a:p>
                  </a:txBody>
                  <a:tcPr marL="79553" marR="79553" marT="39776" marB="39776">
                    <a:lnL w="11049" cap="flat" cmpd="sng" algn="ctr">
                      <a:solidFill>
                        <a:srgbClr val="4D5A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1049" cap="flat" cmpd="sng" algn="ctr">
                      <a:solidFill>
                        <a:srgbClr val="4D5AFF"/>
                      </a:solidFill>
                      <a:prstDash val="solid"/>
                      <a:round/>
                      <a:headEnd type="none" w="med" len="med"/>
                      <a:tailEnd type="none" w="med" len="med"/>
                    </a:lnT>
                    <a:lnB w="11049" cap="flat" cmpd="sng" algn="ctr">
                      <a:solidFill>
                        <a:srgbClr val="4D5AFF"/>
                      </a:solidFill>
                      <a:prstDash val="solid"/>
                      <a:round/>
                      <a:headEnd type="none" w="med" len="med"/>
                      <a:tailEnd type="none" w="med" len="med"/>
                    </a:lnB>
                    <a:solidFill>
                      <a:srgbClr val="E9EAFF"/>
                    </a:solidFill>
                  </a:tcPr>
                </a:tc>
                <a:tc>
                  <a:txBody>
                    <a:bodyPr/>
                    <a:lstStyle/>
                    <a:p>
                      <a:pPr algn="l" rtl="0" fontAlgn="base">
                        <a:lnSpc>
                          <a:spcPts val="1650"/>
                        </a:lnSpc>
                        <a:buNone/>
                      </a:pPr>
                      <a:r>
                        <a:rPr lang="en-US" sz="1600" b="0" i="0">
                          <a:solidFill>
                            <a:srgbClr val="000000"/>
                          </a:solidFill>
                          <a:effectLst/>
                          <a:latin typeface="Bierstadt" panose="020B0004020202020204" pitchFamily="34" charset="0"/>
                        </a:rPr>
                        <a:t>6.2 M</a:t>
                      </a:r>
                      <a:endParaRPr lang="en-US" b="0" i="0">
                        <a:solidFill>
                          <a:srgbClr val="000000"/>
                        </a:solidFill>
                        <a:effectLst/>
                      </a:endParaRPr>
                    </a:p>
                  </a:txBody>
                  <a:tcPr marL="79553" marR="79553" marT="39776" marB="39776">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1049" cap="flat" cmpd="sng" algn="ctr">
                      <a:solidFill>
                        <a:srgbClr val="4D5AFF"/>
                      </a:solidFill>
                      <a:prstDash val="solid"/>
                      <a:round/>
                      <a:headEnd type="none" w="med" len="med"/>
                      <a:tailEnd type="none" w="med" len="med"/>
                    </a:lnT>
                    <a:lnB w="11049" cap="flat" cmpd="sng" algn="ctr">
                      <a:solidFill>
                        <a:srgbClr val="4D5AFF"/>
                      </a:solidFill>
                      <a:prstDash val="solid"/>
                      <a:round/>
                      <a:headEnd type="none" w="med" len="med"/>
                      <a:tailEnd type="none" w="med" len="med"/>
                    </a:lnB>
                    <a:solidFill>
                      <a:srgbClr val="E9EAFF"/>
                    </a:solidFill>
                  </a:tcPr>
                </a:tc>
                <a:tc>
                  <a:txBody>
                    <a:bodyPr/>
                    <a:lstStyle/>
                    <a:p>
                      <a:pPr algn="l" rtl="0" fontAlgn="base">
                        <a:lnSpc>
                          <a:spcPts val="1650"/>
                        </a:lnSpc>
                        <a:buNone/>
                      </a:pPr>
                      <a:r>
                        <a:rPr lang="en-US" sz="1600" b="0" i="0">
                          <a:solidFill>
                            <a:srgbClr val="000000"/>
                          </a:solidFill>
                          <a:effectLst/>
                          <a:latin typeface="Bierstadt" panose="020B0004020202020204" pitchFamily="34" charset="0"/>
                        </a:rPr>
                        <a:t>~ 120 K</a:t>
                      </a:r>
                      <a:endParaRPr lang="en-US" b="0" i="0">
                        <a:solidFill>
                          <a:srgbClr val="000000"/>
                        </a:solidFill>
                        <a:effectLst/>
                      </a:endParaRPr>
                    </a:p>
                  </a:txBody>
                  <a:tcPr marL="79553" marR="79553" marT="39776" marB="39776">
                    <a:lnL w="12700" cap="flat" cmpd="sng" algn="ctr">
                      <a:solidFill>
                        <a:srgbClr val="FFFFFF"/>
                      </a:solidFill>
                      <a:prstDash val="solid"/>
                      <a:round/>
                      <a:headEnd type="none" w="med" len="med"/>
                      <a:tailEnd type="none" w="med" len="med"/>
                    </a:lnL>
                    <a:lnR w="11049" cap="flat" cmpd="sng" algn="ctr">
                      <a:solidFill>
                        <a:srgbClr val="4D5AFF"/>
                      </a:solidFill>
                      <a:prstDash val="solid"/>
                      <a:round/>
                      <a:headEnd type="none" w="med" len="med"/>
                      <a:tailEnd type="none" w="med" len="med"/>
                    </a:lnR>
                    <a:lnT w="11049" cap="flat" cmpd="sng" algn="ctr">
                      <a:solidFill>
                        <a:srgbClr val="4D5AFF"/>
                      </a:solidFill>
                      <a:prstDash val="solid"/>
                      <a:round/>
                      <a:headEnd type="none" w="med" len="med"/>
                      <a:tailEnd type="none" w="med" len="med"/>
                    </a:lnT>
                    <a:lnB w="11049" cap="flat" cmpd="sng" algn="ctr">
                      <a:solidFill>
                        <a:srgbClr val="4D5AFF"/>
                      </a:solidFill>
                      <a:prstDash val="solid"/>
                      <a:round/>
                      <a:headEnd type="none" w="med" len="med"/>
                      <a:tailEnd type="none" w="med" len="med"/>
                    </a:lnB>
                    <a:solidFill>
                      <a:srgbClr val="E9EAFF"/>
                    </a:solidFill>
                  </a:tcPr>
                </a:tc>
                <a:extLst>
                  <a:ext uri="{0D108BD9-81ED-4DB2-BD59-A6C34878D82A}">
                    <a16:rowId xmlns:a16="http://schemas.microsoft.com/office/drawing/2014/main" val="1096942788"/>
                  </a:ext>
                </a:extLst>
              </a:tr>
              <a:tr h="429286">
                <a:tc>
                  <a:txBody>
                    <a:bodyPr/>
                    <a:lstStyle/>
                    <a:p>
                      <a:pPr algn="l" rtl="0" fontAlgn="base">
                        <a:lnSpc>
                          <a:spcPts val="1650"/>
                        </a:lnSpc>
                        <a:buNone/>
                      </a:pPr>
                      <a:r>
                        <a:rPr lang="en-US" sz="1600" b="0" i="0">
                          <a:solidFill>
                            <a:srgbClr val="000000"/>
                          </a:solidFill>
                          <a:effectLst/>
                          <a:latin typeface="Bierstadt" panose="020B0004020202020204" pitchFamily="34" charset="0"/>
                        </a:rPr>
                        <a:t>2029</a:t>
                      </a:r>
                      <a:endParaRPr lang="en-US" b="0" i="0">
                        <a:solidFill>
                          <a:srgbClr val="000000"/>
                        </a:solidFill>
                        <a:effectLst/>
                      </a:endParaRPr>
                    </a:p>
                  </a:txBody>
                  <a:tcPr marL="79553" marR="79553" marT="39776" marB="39776">
                    <a:lnL w="11049" cap="flat" cmpd="sng" algn="ctr">
                      <a:solidFill>
                        <a:srgbClr val="4D5A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1049" cap="flat" cmpd="sng" algn="ctr">
                      <a:solidFill>
                        <a:srgbClr val="4D5AFF"/>
                      </a:solidFill>
                      <a:prstDash val="solid"/>
                      <a:round/>
                      <a:headEnd type="none" w="med" len="med"/>
                      <a:tailEnd type="none" w="med" len="med"/>
                    </a:lnT>
                    <a:lnB w="11049" cap="flat" cmpd="sng" algn="ctr">
                      <a:solidFill>
                        <a:srgbClr val="4D5AFF"/>
                      </a:solidFill>
                      <a:prstDash val="solid"/>
                      <a:round/>
                      <a:headEnd type="none" w="med" len="med"/>
                      <a:tailEnd type="none" w="med" len="med"/>
                    </a:lnB>
                    <a:solidFill>
                      <a:srgbClr val="FFFFFF"/>
                    </a:solidFill>
                  </a:tcPr>
                </a:tc>
                <a:tc>
                  <a:txBody>
                    <a:bodyPr/>
                    <a:lstStyle/>
                    <a:p>
                      <a:pPr algn="l" rtl="0" fontAlgn="base">
                        <a:lnSpc>
                          <a:spcPts val="1650"/>
                        </a:lnSpc>
                        <a:buNone/>
                      </a:pPr>
                      <a:r>
                        <a:rPr lang="en-US" sz="1600" b="0" i="0">
                          <a:solidFill>
                            <a:srgbClr val="000000"/>
                          </a:solidFill>
                          <a:effectLst/>
                          <a:latin typeface="Bierstadt" panose="020B0004020202020204" pitchFamily="34" charset="0"/>
                        </a:rPr>
                        <a:t>6.7 M</a:t>
                      </a:r>
                      <a:endParaRPr lang="en-US" b="0" i="0">
                        <a:solidFill>
                          <a:srgbClr val="000000"/>
                        </a:solidFill>
                        <a:effectLst/>
                      </a:endParaRPr>
                    </a:p>
                  </a:txBody>
                  <a:tcPr marL="79553" marR="79553" marT="39776" marB="39776">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1049" cap="flat" cmpd="sng" algn="ctr">
                      <a:solidFill>
                        <a:srgbClr val="4D5AFF"/>
                      </a:solidFill>
                      <a:prstDash val="solid"/>
                      <a:round/>
                      <a:headEnd type="none" w="med" len="med"/>
                      <a:tailEnd type="none" w="med" len="med"/>
                    </a:lnT>
                    <a:lnB w="11049" cap="flat" cmpd="sng" algn="ctr">
                      <a:solidFill>
                        <a:srgbClr val="4D5AFF"/>
                      </a:solidFill>
                      <a:prstDash val="solid"/>
                      <a:round/>
                      <a:headEnd type="none" w="med" len="med"/>
                      <a:tailEnd type="none" w="med" len="med"/>
                    </a:lnB>
                    <a:solidFill>
                      <a:srgbClr val="FFFFFF"/>
                    </a:solidFill>
                  </a:tcPr>
                </a:tc>
                <a:tc>
                  <a:txBody>
                    <a:bodyPr/>
                    <a:lstStyle/>
                    <a:p>
                      <a:pPr algn="l" rtl="0" fontAlgn="base">
                        <a:lnSpc>
                          <a:spcPts val="1650"/>
                        </a:lnSpc>
                        <a:buNone/>
                      </a:pPr>
                      <a:r>
                        <a:rPr lang="en-US" sz="1600" b="0" i="0">
                          <a:solidFill>
                            <a:srgbClr val="000000"/>
                          </a:solidFill>
                          <a:effectLst/>
                          <a:latin typeface="Bierstadt" panose="020B0004020202020204" pitchFamily="34" charset="0"/>
                        </a:rPr>
                        <a:t>~ 125.5 K</a:t>
                      </a:r>
                      <a:endParaRPr lang="en-US" b="0" i="0">
                        <a:solidFill>
                          <a:srgbClr val="000000"/>
                        </a:solidFill>
                        <a:effectLst/>
                      </a:endParaRPr>
                    </a:p>
                  </a:txBody>
                  <a:tcPr marL="79553" marR="79553" marT="39776" marB="39776">
                    <a:lnL w="12700" cap="flat" cmpd="sng" algn="ctr">
                      <a:solidFill>
                        <a:srgbClr val="FFFFFF"/>
                      </a:solidFill>
                      <a:prstDash val="solid"/>
                      <a:round/>
                      <a:headEnd type="none" w="med" len="med"/>
                      <a:tailEnd type="none" w="med" len="med"/>
                    </a:lnL>
                    <a:lnR w="11049" cap="flat" cmpd="sng" algn="ctr">
                      <a:solidFill>
                        <a:srgbClr val="4D5AFF"/>
                      </a:solidFill>
                      <a:prstDash val="solid"/>
                      <a:round/>
                      <a:headEnd type="none" w="med" len="med"/>
                      <a:tailEnd type="none" w="med" len="med"/>
                    </a:lnR>
                    <a:lnT w="11049" cap="flat" cmpd="sng" algn="ctr">
                      <a:solidFill>
                        <a:srgbClr val="4D5AFF"/>
                      </a:solidFill>
                      <a:prstDash val="solid"/>
                      <a:round/>
                      <a:headEnd type="none" w="med" len="med"/>
                      <a:tailEnd type="none" w="med" len="med"/>
                    </a:lnT>
                    <a:lnB w="11049" cap="flat" cmpd="sng" algn="ctr">
                      <a:solidFill>
                        <a:srgbClr val="4D5AFF"/>
                      </a:solidFill>
                      <a:prstDash val="solid"/>
                      <a:round/>
                      <a:headEnd type="none" w="med" len="med"/>
                      <a:tailEnd type="none" w="med" len="med"/>
                    </a:lnB>
                    <a:solidFill>
                      <a:srgbClr val="FFFFFF"/>
                    </a:solidFill>
                  </a:tcPr>
                </a:tc>
                <a:extLst>
                  <a:ext uri="{0D108BD9-81ED-4DB2-BD59-A6C34878D82A}">
                    <a16:rowId xmlns:a16="http://schemas.microsoft.com/office/drawing/2014/main" val="2294977838"/>
                  </a:ext>
                </a:extLst>
              </a:tr>
              <a:tr h="429286">
                <a:tc>
                  <a:txBody>
                    <a:bodyPr/>
                    <a:lstStyle/>
                    <a:p>
                      <a:pPr algn="l" rtl="0" fontAlgn="base">
                        <a:lnSpc>
                          <a:spcPts val="1650"/>
                        </a:lnSpc>
                        <a:buNone/>
                      </a:pPr>
                      <a:r>
                        <a:rPr lang="en-US" sz="1600" b="0" i="0">
                          <a:solidFill>
                            <a:srgbClr val="000000"/>
                          </a:solidFill>
                          <a:effectLst/>
                          <a:latin typeface="Bierstadt" panose="020B0004020202020204" pitchFamily="34" charset="0"/>
                        </a:rPr>
                        <a:t>2030</a:t>
                      </a:r>
                      <a:endParaRPr lang="en-US" b="0" i="0">
                        <a:solidFill>
                          <a:srgbClr val="000000"/>
                        </a:solidFill>
                        <a:effectLst/>
                      </a:endParaRPr>
                    </a:p>
                  </a:txBody>
                  <a:tcPr marL="79553" marR="79553" marT="39776" marB="39776">
                    <a:lnL w="11049" cap="flat" cmpd="sng" algn="ctr">
                      <a:solidFill>
                        <a:srgbClr val="4D5A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1049" cap="flat" cmpd="sng" algn="ctr">
                      <a:solidFill>
                        <a:srgbClr val="4D5AFF"/>
                      </a:solidFill>
                      <a:prstDash val="solid"/>
                      <a:round/>
                      <a:headEnd type="none" w="med" len="med"/>
                      <a:tailEnd type="none" w="med" len="med"/>
                    </a:lnT>
                    <a:lnB w="11049" cap="flat" cmpd="sng" algn="ctr">
                      <a:solidFill>
                        <a:srgbClr val="4D5AFF"/>
                      </a:solidFill>
                      <a:prstDash val="solid"/>
                      <a:round/>
                      <a:headEnd type="none" w="med" len="med"/>
                      <a:tailEnd type="none" w="med" len="med"/>
                    </a:lnB>
                    <a:solidFill>
                      <a:srgbClr val="E9EAFF"/>
                    </a:solidFill>
                  </a:tcPr>
                </a:tc>
                <a:tc>
                  <a:txBody>
                    <a:bodyPr/>
                    <a:lstStyle/>
                    <a:p>
                      <a:pPr algn="l" rtl="0" fontAlgn="base">
                        <a:lnSpc>
                          <a:spcPts val="1650"/>
                        </a:lnSpc>
                        <a:buNone/>
                      </a:pPr>
                      <a:r>
                        <a:rPr lang="en-US" sz="1600" b="0" i="0">
                          <a:solidFill>
                            <a:srgbClr val="000000"/>
                          </a:solidFill>
                          <a:effectLst/>
                          <a:latin typeface="Bierstadt" panose="020B0004020202020204" pitchFamily="34" charset="0"/>
                        </a:rPr>
                        <a:t>6.85 M</a:t>
                      </a:r>
                      <a:endParaRPr lang="en-US" b="0" i="0">
                        <a:solidFill>
                          <a:srgbClr val="000000"/>
                        </a:solidFill>
                        <a:effectLst/>
                      </a:endParaRPr>
                    </a:p>
                  </a:txBody>
                  <a:tcPr marL="79553" marR="79553" marT="39776" marB="39776">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1049" cap="flat" cmpd="sng" algn="ctr">
                      <a:solidFill>
                        <a:srgbClr val="4D5AFF"/>
                      </a:solidFill>
                      <a:prstDash val="solid"/>
                      <a:round/>
                      <a:headEnd type="none" w="med" len="med"/>
                      <a:tailEnd type="none" w="med" len="med"/>
                    </a:lnT>
                    <a:lnB w="11049" cap="flat" cmpd="sng" algn="ctr">
                      <a:solidFill>
                        <a:srgbClr val="4D5AFF"/>
                      </a:solidFill>
                      <a:prstDash val="solid"/>
                      <a:round/>
                      <a:headEnd type="none" w="med" len="med"/>
                      <a:tailEnd type="none" w="med" len="med"/>
                    </a:lnB>
                    <a:solidFill>
                      <a:srgbClr val="E9EAFF"/>
                    </a:solidFill>
                  </a:tcPr>
                </a:tc>
                <a:tc>
                  <a:txBody>
                    <a:bodyPr/>
                    <a:lstStyle/>
                    <a:p>
                      <a:pPr algn="l" rtl="0" fontAlgn="base">
                        <a:lnSpc>
                          <a:spcPts val="1650"/>
                        </a:lnSpc>
                        <a:buNone/>
                      </a:pPr>
                      <a:r>
                        <a:rPr lang="en-US" sz="1600" b="0" i="0">
                          <a:solidFill>
                            <a:srgbClr val="000000"/>
                          </a:solidFill>
                          <a:effectLst/>
                          <a:latin typeface="Bierstadt" panose="020B0004020202020204" pitchFamily="34" charset="0"/>
                        </a:rPr>
                        <a:t>~ 132 K</a:t>
                      </a:r>
                      <a:endParaRPr lang="en-US" b="0" i="0">
                        <a:solidFill>
                          <a:srgbClr val="000000"/>
                        </a:solidFill>
                        <a:effectLst/>
                      </a:endParaRPr>
                    </a:p>
                  </a:txBody>
                  <a:tcPr marL="79553" marR="79553" marT="39776" marB="39776">
                    <a:lnL w="12700" cap="flat" cmpd="sng" algn="ctr">
                      <a:solidFill>
                        <a:srgbClr val="FFFFFF"/>
                      </a:solidFill>
                      <a:prstDash val="solid"/>
                      <a:round/>
                      <a:headEnd type="none" w="med" len="med"/>
                      <a:tailEnd type="none" w="med" len="med"/>
                    </a:lnL>
                    <a:lnR w="11049" cap="flat" cmpd="sng" algn="ctr">
                      <a:solidFill>
                        <a:srgbClr val="4D5AFF"/>
                      </a:solidFill>
                      <a:prstDash val="solid"/>
                      <a:round/>
                      <a:headEnd type="none" w="med" len="med"/>
                      <a:tailEnd type="none" w="med" len="med"/>
                    </a:lnR>
                    <a:lnT w="11049" cap="flat" cmpd="sng" algn="ctr">
                      <a:solidFill>
                        <a:srgbClr val="4D5AFF"/>
                      </a:solidFill>
                      <a:prstDash val="solid"/>
                      <a:round/>
                      <a:headEnd type="none" w="med" len="med"/>
                      <a:tailEnd type="none" w="med" len="med"/>
                    </a:lnT>
                    <a:lnB w="11049" cap="flat" cmpd="sng" algn="ctr">
                      <a:solidFill>
                        <a:srgbClr val="4D5AFF"/>
                      </a:solidFill>
                      <a:prstDash val="solid"/>
                      <a:round/>
                      <a:headEnd type="none" w="med" len="med"/>
                      <a:tailEnd type="none" w="med" len="med"/>
                    </a:lnB>
                    <a:solidFill>
                      <a:srgbClr val="E9EAFF"/>
                    </a:solidFill>
                  </a:tcPr>
                </a:tc>
                <a:extLst>
                  <a:ext uri="{0D108BD9-81ED-4DB2-BD59-A6C34878D82A}">
                    <a16:rowId xmlns:a16="http://schemas.microsoft.com/office/drawing/2014/main" val="227057776"/>
                  </a:ext>
                </a:extLst>
              </a:tr>
            </a:tbl>
          </a:graphicData>
        </a:graphic>
      </p:graphicFrame>
      <p:sp>
        <p:nvSpPr>
          <p:cNvPr id="11" name="TextBox 10">
            <a:extLst>
              <a:ext uri="{FF2B5EF4-FFF2-40B4-BE49-F238E27FC236}">
                <a16:creationId xmlns:a16="http://schemas.microsoft.com/office/drawing/2014/main" id="{56F75BA5-EA28-BCC7-1F89-D632E4496976}"/>
              </a:ext>
            </a:extLst>
          </p:cNvPr>
          <p:cNvSpPr txBox="1"/>
          <p:nvPr/>
        </p:nvSpPr>
        <p:spPr>
          <a:xfrm>
            <a:off x="746864" y="5614063"/>
            <a:ext cx="1026221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ea typeface="+mn-lt"/>
                <a:cs typeface="+mn-lt"/>
              </a:rPr>
              <a:t>A jump from 108K to 132K weekly passengers between 2026 and 2030 means the terminal needs to process roughly 3,400 additional passengers per day by 2030 compared to opening day.</a:t>
            </a:r>
            <a:endParaRPr lang="en-US"/>
          </a:p>
        </p:txBody>
      </p:sp>
    </p:spTree>
    <p:extLst>
      <p:ext uri="{BB962C8B-B14F-4D97-AF65-F5344CB8AC3E}">
        <p14:creationId xmlns:p14="http://schemas.microsoft.com/office/powerpoint/2010/main" val="9354981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F70FC-3F3A-A2AE-C889-74815AD5F267}"/>
              </a:ext>
            </a:extLst>
          </p:cNvPr>
          <p:cNvSpPr>
            <a:spLocks noGrp="1"/>
          </p:cNvSpPr>
          <p:nvPr>
            <p:ph type="title"/>
          </p:nvPr>
        </p:nvSpPr>
        <p:spPr>
          <a:xfrm>
            <a:off x="521208" y="794477"/>
            <a:ext cx="11155680" cy="727316"/>
          </a:xfrm>
        </p:spPr>
        <p:txBody>
          <a:bodyPr/>
          <a:lstStyle/>
          <a:p>
            <a:r>
              <a:rPr lang="en-US" sz="3200">
                <a:ea typeface="+mj-lt"/>
                <a:cs typeface="+mj-lt"/>
              </a:rPr>
              <a:t>Forecasting Methodology: Why Prophet was Selected?</a:t>
            </a:r>
            <a:endParaRPr lang="en-US"/>
          </a:p>
        </p:txBody>
      </p:sp>
      <p:graphicFrame>
        <p:nvGraphicFramePr>
          <p:cNvPr id="16" name="Diagram 15">
            <a:extLst>
              <a:ext uri="{FF2B5EF4-FFF2-40B4-BE49-F238E27FC236}">
                <a16:creationId xmlns:a16="http://schemas.microsoft.com/office/drawing/2014/main" id="{67E0DF69-CEC5-6007-A67D-E988817EEABD}"/>
              </a:ext>
            </a:extLst>
          </p:cNvPr>
          <p:cNvGraphicFramePr/>
          <p:nvPr>
            <p:extLst>
              <p:ext uri="{D42A27DB-BD31-4B8C-83A1-F6EECF244321}">
                <p14:modId xmlns:p14="http://schemas.microsoft.com/office/powerpoint/2010/main" val="3443663092"/>
              </p:ext>
            </p:extLst>
          </p:nvPr>
        </p:nvGraphicFramePr>
        <p:xfrm>
          <a:off x="622312" y="1718244"/>
          <a:ext cx="5064614" cy="413613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46" name="Table 345">
            <a:extLst>
              <a:ext uri="{FF2B5EF4-FFF2-40B4-BE49-F238E27FC236}">
                <a16:creationId xmlns:a16="http://schemas.microsoft.com/office/drawing/2014/main" id="{BCF3E9DF-E83E-4A5A-B809-BA6CB21E84AB}"/>
              </a:ext>
            </a:extLst>
          </p:cNvPr>
          <p:cNvGraphicFramePr>
            <a:graphicFrameLocks noGrp="1"/>
          </p:cNvGraphicFramePr>
          <p:nvPr>
            <p:extLst>
              <p:ext uri="{D42A27DB-BD31-4B8C-83A1-F6EECF244321}">
                <p14:modId xmlns:p14="http://schemas.microsoft.com/office/powerpoint/2010/main" val="70725598"/>
              </p:ext>
            </p:extLst>
          </p:nvPr>
        </p:nvGraphicFramePr>
        <p:xfrm>
          <a:off x="6348799" y="1987129"/>
          <a:ext cx="4758293" cy="3430216"/>
        </p:xfrm>
        <a:graphic>
          <a:graphicData uri="http://schemas.openxmlformats.org/drawingml/2006/table">
            <a:tbl>
              <a:tblPr firstRow="1" bandRow="1">
                <a:tableStyleId>{D27102A9-8310-4765-A935-A1911B00CA55}</a:tableStyleId>
              </a:tblPr>
              <a:tblGrid>
                <a:gridCol w="3065517">
                  <a:extLst>
                    <a:ext uri="{9D8B030D-6E8A-4147-A177-3AD203B41FA5}">
                      <a16:colId xmlns:a16="http://schemas.microsoft.com/office/drawing/2014/main" val="2897632794"/>
                    </a:ext>
                  </a:extLst>
                </a:gridCol>
                <a:gridCol w="1692776">
                  <a:extLst>
                    <a:ext uri="{9D8B030D-6E8A-4147-A177-3AD203B41FA5}">
                      <a16:colId xmlns:a16="http://schemas.microsoft.com/office/drawing/2014/main" val="3984244189"/>
                    </a:ext>
                  </a:extLst>
                </a:gridCol>
              </a:tblGrid>
              <a:tr h="537514">
                <a:tc gridSpan="2">
                  <a:txBody>
                    <a:bodyPr/>
                    <a:lstStyle/>
                    <a:p>
                      <a:pPr algn="ctr"/>
                      <a:r>
                        <a:rPr lang="en-US"/>
                        <a:t>Forecast Accuracy Summary</a:t>
                      </a:r>
                    </a:p>
                  </a:txBody>
                  <a:tcPr/>
                </a:tc>
                <a:tc hMerge="1">
                  <a:txBody>
                    <a:bodyPr/>
                    <a:lstStyle/>
                    <a:p>
                      <a:endParaRPr lang="en-US"/>
                    </a:p>
                  </a:txBody>
                  <a:tcPr/>
                </a:tc>
                <a:extLst>
                  <a:ext uri="{0D108BD9-81ED-4DB2-BD59-A6C34878D82A}">
                    <a16:rowId xmlns:a16="http://schemas.microsoft.com/office/drawing/2014/main" val="3259956223"/>
                  </a:ext>
                </a:extLst>
              </a:tr>
              <a:tr h="611290">
                <a:tc>
                  <a:txBody>
                    <a:bodyPr/>
                    <a:lstStyle/>
                    <a:p>
                      <a:pPr lvl="0">
                        <a:buNone/>
                      </a:pPr>
                      <a:r>
                        <a:rPr lang="en-US" sz="1800" b="0" i="0" u="none" strike="noStrike" noProof="0">
                          <a:latin typeface="Bierstadt"/>
                        </a:rPr>
                        <a:t>High-reliability carriers (MAPE &lt;10%)</a:t>
                      </a:r>
                      <a:endParaRPr lang="en-US"/>
                    </a:p>
                  </a:txBody>
                  <a:tcPr/>
                </a:tc>
                <a:tc>
                  <a:txBody>
                    <a:bodyPr/>
                    <a:lstStyle/>
                    <a:p>
                      <a:r>
                        <a:rPr lang="en-US"/>
                        <a:t>4</a:t>
                      </a:r>
                    </a:p>
                  </a:txBody>
                  <a:tcPr/>
                </a:tc>
                <a:extLst>
                  <a:ext uri="{0D108BD9-81ED-4DB2-BD59-A6C34878D82A}">
                    <a16:rowId xmlns:a16="http://schemas.microsoft.com/office/drawing/2014/main" val="3936600758"/>
                  </a:ext>
                </a:extLst>
              </a:tr>
              <a:tr h="537514">
                <a:tc>
                  <a:txBody>
                    <a:bodyPr/>
                    <a:lstStyle/>
                    <a:p>
                      <a:pPr lvl="0">
                        <a:buNone/>
                      </a:pPr>
                      <a:r>
                        <a:rPr lang="en-US" sz="1800" b="0" i="0" u="none" strike="noStrike" noProof="0">
                          <a:latin typeface="Bierstadt"/>
                        </a:rPr>
                        <a:t>Moderate-volatility carriers</a:t>
                      </a:r>
                      <a:endParaRPr lang="en-US"/>
                    </a:p>
                  </a:txBody>
                  <a:tcPr/>
                </a:tc>
                <a:tc>
                  <a:txBody>
                    <a:bodyPr/>
                    <a:lstStyle/>
                    <a:p>
                      <a:pPr lvl="0">
                        <a:buNone/>
                      </a:pPr>
                      <a:r>
                        <a:rPr lang="en-US" sz="1800" b="0" i="0" u="none" strike="noStrike" noProof="0">
                          <a:latin typeface="Bierstadt"/>
                        </a:rPr>
                        <a:t>6</a:t>
                      </a:r>
                      <a:endParaRPr lang="en-US"/>
                    </a:p>
                  </a:txBody>
                  <a:tcPr/>
                </a:tc>
                <a:extLst>
                  <a:ext uri="{0D108BD9-81ED-4DB2-BD59-A6C34878D82A}">
                    <a16:rowId xmlns:a16="http://schemas.microsoft.com/office/drawing/2014/main" val="431443561"/>
                  </a:ext>
                </a:extLst>
              </a:tr>
              <a:tr h="611290">
                <a:tc>
                  <a:txBody>
                    <a:bodyPr/>
                    <a:lstStyle/>
                    <a:p>
                      <a:pPr lvl="0">
                        <a:buNone/>
                      </a:pPr>
                      <a:r>
                        <a:rPr lang="en-US" sz="1800" b="0" i="0" u="none" strike="noStrike" noProof="0">
                          <a:latin typeface="Bierstadt"/>
                        </a:rPr>
                        <a:t>Dominant carrier forecast quality</a:t>
                      </a:r>
                      <a:endParaRPr lang="en-US"/>
                    </a:p>
                  </a:txBody>
                  <a:tcPr/>
                </a:tc>
                <a:tc>
                  <a:txBody>
                    <a:bodyPr/>
                    <a:lstStyle/>
                    <a:p>
                      <a:pPr lvl="0">
                        <a:buNone/>
                      </a:pPr>
                      <a:r>
                        <a:rPr lang="en-US" sz="1800" b="0" i="0" u="none" strike="noStrike" noProof="0">
                          <a:solidFill>
                            <a:srgbClr val="000000"/>
                          </a:solidFill>
                          <a:latin typeface="Bierstadt"/>
                        </a:rPr>
                        <a:t>R² = 0.987</a:t>
                      </a:r>
                      <a:endParaRPr lang="en-US"/>
                    </a:p>
                  </a:txBody>
                  <a:tcPr/>
                </a:tc>
                <a:extLst>
                  <a:ext uri="{0D108BD9-81ED-4DB2-BD59-A6C34878D82A}">
                    <a16:rowId xmlns:a16="http://schemas.microsoft.com/office/drawing/2014/main" val="2612151320"/>
                  </a:ext>
                </a:extLst>
              </a:tr>
              <a:tr h="537514">
                <a:tc>
                  <a:txBody>
                    <a:bodyPr/>
                    <a:lstStyle/>
                    <a:p>
                      <a:pPr lvl="0">
                        <a:buNone/>
                      </a:pPr>
                      <a:r>
                        <a:rPr lang="en-US" sz="1800" b="0" i="0" u="none" strike="noStrike" noProof="0">
                          <a:latin typeface="Bierstadt"/>
                        </a:rPr>
                        <a:t>Forecast horizon</a:t>
                      </a:r>
                      <a:endParaRPr lang="en-US"/>
                    </a:p>
                  </a:txBody>
                  <a:tcPr/>
                </a:tc>
                <a:tc>
                  <a:txBody>
                    <a:bodyPr/>
                    <a:lstStyle/>
                    <a:p>
                      <a:r>
                        <a:rPr lang="en-US"/>
                        <a:t>2025-2030</a:t>
                      </a:r>
                    </a:p>
                  </a:txBody>
                  <a:tcPr/>
                </a:tc>
                <a:extLst>
                  <a:ext uri="{0D108BD9-81ED-4DB2-BD59-A6C34878D82A}">
                    <a16:rowId xmlns:a16="http://schemas.microsoft.com/office/drawing/2014/main" val="2981083984"/>
                  </a:ext>
                </a:extLst>
              </a:tr>
              <a:tr h="537514">
                <a:tc>
                  <a:txBody>
                    <a:bodyPr/>
                    <a:lstStyle/>
                    <a:p>
                      <a:pPr lvl="0">
                        <a:buNone/>
                      </a:pPr>
                      <a:r>
                        <a:rPr lang="en-US" sz="1800" b="0" i="0" u="none" strike="noStrike" noProof="0">
                          <a:latin typeface="Bierstadt"/>
                        </a:rPr>
                        <a:t>Prediction intervals included</a:t>
                      </a:r>
                      <a:endParaRPr lang="en-US"/>
                    </a:p>
                  </a:txBody>
                  <a:tcPr/>
                </a:tc>
                <a:tc>
                  <a:txBody>
                    <a:bodyPr/>
                    <a:lstStyle/>
                    <a:p>
                      <a:r>
                        <a:rPr lang="en-US"/>
                        <a:t>Yes</a:t>
                      </a:r>
                    </a:p>
                  </a:txBody>
                  <a:tcPr/>
                </a:tc>
                <a:extLst>
                  <a:ext uri="{0D108BD9-81ED-4DB2-BD59-A6C34878D82A}">
                    <a16:rowId xmlns:a16="http://schemas.microsoft.com/office/drawing/2014/main" val="2970976490"/>
                  </a:ext>
                </a:extLst>
              </a:tr>
            </a:tbl>
          </a:graphicData>
        </a:graphic>
      </p:graphicFrame>
    </p:spTree>
    <p:extLst>
      <p:ext uri="{BB962C8B-B14F-4D97-AF65-F5344CB8AC3E}">
        <p14:creationId xmlns:p14="http://schemas.microsoft.com/office/powerpoint/2010/main" val="23350182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4213918-F1EB-4BCE-BE23-F5E9851EE0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CA6965-CA5C-64C4-B3AB-BFF073A430E9}"/>
              </a:ext>
            </a:extLst>
          </p:cNvPr>
          <p:cNvSpPr>
            <a:spLocks noGrp="1"/>
          </p:cNvSpPr>
          <p:nvPr>
            <p:ph type="title"/>
          </p:nvPr>
        </p:nvSpPr>
        <p:spPr>
          <a:xfrm>
            <a:off x="521208" y="804237"/>
            <a:ext cx="11144795" cy="646612"/>
          </a:xfrm>
        </p:spPr>
        <p:txBody>
          <a:bodyPr>
            <a:normAutofit fontScale="90000"/>
          </a:bodyPr>
          <a:lstStyle/>
          <a:p>
            <a:r>
              <a:rPr lang="en-US"/>
              <a:t>Key Drivers of Ridership</a:t>
            </a:r>
            <a:br>
              <a:rPr lang="en-US"/>
            </a:br>
            <a:endParaRPr lang="en-US" sz="2400" b="0">
              <a:ea typeface="+mj-lt"/>
              <a:cs typeface="+mj-lt"/>
            </a:endParaRPr>
          </a:p>
          <a:p>
            <a:br>
              <a:rPr lang="en-US"/>
            </a:br>
            <a:r>
              <a:rPr lang="en-US" b="0"/>
              <a:t> </a:t>
            </a:r>
          </a:p>
        </p:txBody>
      </p:sp>
      <p:sp>
        <p:nvSpPr>
          <p:cNvPr id="11" name="Rectangle 10">
            <a:extLst>
              <a:ext uri="{FF2B5EF4-FFF2-40B4-BE49-F238E27FC236}">
                <a16:creationId xmlns:a16="http://schemas.microsoft.com/office/drawing/2014/main" id="{2062E862-C7F7-4CA1-B929-D0B75F5E9F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20" name="Table 819">
            <a:extLst>
              <a:ext uri="{FF2B5EF4-FFF2-40B4-BE49-F238E27FC236}">
                <a16:creationId xmlns:a16="http://schemas.microsoft.com/office/drawing/2014/main" id="{9AC5ACE5-42C7-5073-931D-A72380EA21A6}"/>
              </a:ext>
            </a:extLst>
          </p:cNvPr>
          <p:cNvGraphicFramePr>
            <a:graphicFrameLocks noGrp="1"/>
          </p:cNvGraphicFramePr>
          <p:nvPr>
            <p:extLst>
              <p:ext uri="{D42A27DB-BD31-4B8C-83A1-F6EECF244321}">
                <p14:modId xmlns:p14="http://schemas.microsoft.com/office/powerpoint/2010/main" val="597073622"/>
              </p:ext>
            </p:extLst>
          </p:nvPr>
        </p:nvGraphicFramePr>
        <p:xfrm>
          <a:off x="934369" y="3901755"/>
          <a:ext cx="10302845" cy="2361229"/>
        </p:xfrm>
        <a:graphic>
          <a:graphicData uri="http://schemas.openxmlformats.org/drawingml/2006/table">
            <a:tbl>
              <a:tblPr firstRow="1" bandRow="1">
                <a:tableStyleId>{00A15C55-8517-42AA-B614-E9B94910E393}</a:tableStyleId>
              </a:tblPr>
              <a:tblGrid>
                <a:gridCol w="2145861">
                  <a:extLst>
                    <a:ext uri="{9D8B030D-6E8A-4147-A177-3AD203B41FA5}">
                      <a16:colId xmlns:a16="http://schemas.microsoft.com/office/drawing/2014/main" val="2084209460"/>
                    </a:ext>
                  </a:extLst>
                </a:gridCol>
                <a:gridCol w="2145862">
                  <a:extLst>
                    <a:ext uri="{9D8B030D-6E8A-4147-A177-3AD203B41FA5}">
                      <a16:colId xmlns:a16="http://schemas.microsoft.com/office/drawing/2014/main" val="3019694897"/>
                    </a:ext>
                  </a:extLst>
                </a:gridCol>
                <a:gridCol w="6011122">
                  <a:extLst>
                    <a:ext uri="{9D8B030D-6E8A-4147-A177-3AD203B41FA5}">
                      <a16:colId xmlns:a16="http://schemas.microsoft.com/office/drawing/2014/main" val="4117209874"/>
                    </a:ext>
                  </a:extLst>
                </a:gridCol>
              </a:tblGrid>
              <a:tr h="440989">
                <a:tc>
                  <a:txBody>
                    <a:bodyPr/>
                    <a:lstStyle/>
                    <a:p>
                      <a:r>
                        <a:rPr lang="en-US"/>
                        <a:t>Variable</a:t>
                      </a:r>
                    </a:p>
                  </a:txBody>
                  <a:tcPr/>
                </a:tc>
                <a:tc>
                  <a:txBody>
                    <a:bodyPr/>
                    <a:lstStyle/>
                    <a:p>
                      <a:r>
                        <a:rPr lang="en-US"/>
                        <a:t>Coefficient</a:t>
                      </a:r>
                    </a:p>
                  </a:txBody>
                  <a:tcPr/>
                </a:tc>
                <a:tc>
                  <a:txBody>
                    <a:bodyPr/>
                    <a:lstStyle/>
                    <a:p>
                      <a:r>
                        <a:rPr lang="en-US"/>
                        <a:t>Business Meaning</a:t>
                      </a:r>
                    </a:p>
                  </a:txBody>
                  <a:tcPr/>
                </a:tc>
                <a:extLst>
                  <a:ext uri="{0D108BD9-81ED-4DB2-BD59-A6C34878D82A}">
                    <a16:rowId xmlns:a16="http://schemas.microsoft.com/office/drawing/2014/main" val="1230938778"/>
                  </a:ext>
                </a:extLst>
              </a:tr>
              <a:tr h="440989">
                <a:tc>
                  <a:txBody>
                    <a:bodyPr/>
                    <a:lstStyle/>
                    <a:p>
                      <a:r>
                        <a:rPr lang="en-US"/>
                        <a:t>Bus Count</a:t>
                      </a:r>
                    </a:p>
                  </a:txBody>
                  <a:tcPr/>
                </a:tc>
                <a:tc>
                  <a:txBody>
                    <a:bodyPr/>
                    <a:lstStyle/>
                    <a:p>
                      <a:pPr lvl="0">
                        <a:buNone/>
                      </a:pPr>
                      <a:r>
                        <a:rPr lang="en-US" sz="1800" b="0" i="0" u="none" strike="noStrike" noProof="0">
                          <a:latin typeface="Bierstadt"/>
                        </a:rPr>
                        <a:t>42.32</a:t>
                      </a:r>
                      <a:endParaRPr lang="en-US"/>
                    </a:p>
                  </a:txBody>
                  <a:tcPr/>
                </a:tc>
                <a:tc>
                  <a:txBody>
                    <a:bodyPr/>
                    <a:lstStyle/>
                    <a:p>
                      <a:pPr lvl="0">
                        <a:buNone/>
                      </a:pPr>
                      <a:r>
                        <a:rPr lang="en-US" sz="1800" b="0" i="0" u="none" strike="noStrike" noProof="0">
                          <a:latin typeface="Bierstadt"/>
                        </a:rPr>
                        <a:t>Each additional bus deployed in a week adds ~42 passengers</a:t>
                      </a:r>
                      <a:endParaRPr lang="en-US"/>
                    </a:p>
                  </a:txBody>
                  <a:tcPr/>
                </a:tc>
                <a:extLst>
                  <a:ext uri="{0D108BD9-81ED-4DB2-BD59-A6C34878D82A}">
                    <a16:rowId xmlns:a16="http://schemas.microsoft.com/office/drawing/2014/main" val="3687460527"/>
                  </a:ext>
                </a:extLst>
              </a:tr>
              <a:tr h="440989">
                <a:tc>
                  <a:txBody>
                    <a:bodyPr/>
                    <a:lstStyle/>
                    <a:p>
                      <a:r>
                        <a:rPr lang="en-US"/>
                        <a:t>Temperature</a:t>
                      </a:r>
                    </a:p>
                  </a:txBody>
                  <a:tcPr/>
                </a:tc>
                <a:tc>
                  <a:txBody>
                    <a:bodyPr/>
                    <a:lstStyle/>
                    <a:p>
                      <a:pPr lvl="0">
                        <a:buNone/>
                      </a:pPr>
                      <a:r>
                        <a:rPr lang="en-US" sz="1800" b="0" i="0" u="none" strike="noStrike" noProof="0">
                          <a:latin typeface="Bierstadt"/>
                        </a:rPr>
                        <a:t>166</a:t>
                      </a:r>
                      <a:endParaRPr lang="en-US"/>
                    </a:p>
                  </a:txBody>
                  <a:tcPr/>
                </a:tc>
                <a:tc>
                  <a:txBody>
                    <a:bodyPr/>
                    <a:lstStyle/>
                    <a:p>
                      <a:pPr lvl="0">
                        <a:buNone/>
                      </a:pPr>
                      <a:r>
                        <a:rPr lang="en-US" sz="1800" b="0" i="0" u="none" strike="noStrike" noProof="0">
                          <a:latin typeface="Bierstadt"/>
                        </a:rPr>
                        <a:t>Each 1°F warmer adds ~166 passengers — summer peaks are real</a:t>
                      </a:r>
                      <a:endParaRPr lang="en-US"/>
                    </a:p>
                  </a:txBody>
                  <a:tcPr/>
                </a:tc>
                <a:extLst>
                  <a:ext uri="{0D108BD9-81ED-4DB2-BD59-A6C34878D82A}">
                    <a16:rowId xmlns:a16="http://schemas.microsoft.com/office/drawing/2014/main" val="1818077266"/>
                  </a:ext>
                </a:extLst>
              </a:tr>
              <a:tr h="440989">
                <a:tc>
                  <a:txBody>
                    <a:bodyPr/>
                    <a:lstStyle/>
                    <a:p>
                      <a:r>
                        <a:rPr lang="en-US"/>
                        <a:t>Snowfall</a:t>
                      </a:r>
                    </a:p>
                  </a:txBody>
                  <a:tcPr/>
                </a:tc>
                <a:tc>
                  <a:txBody>
                    <a:bodyPr/>
                    <a:lstStyle/>
                    <a:p>
                      <a:pPr lvl="0">
                        <a:buNone/>
                      </a:pPr>
                      <a:r>
                        <a:rPr lang="en-US" sz="1800" b="0" i="0" u="none" strike="noStrike" noProof="0">
                          <a:latin typeface="Bierstadt"/>
                        </a:rPr>
                        <a:t>-2425</a:t>
                      </a:r>
                      <a:endParaRPr lang="en-US"/>
                    </a:p>
                  </a:txBody>
                  <a:tcPr/>
                </a:tc>
                <a:tc>
                  <a:txBody>
                    <a:bodyPr/>
                    <a:lstStyle/>
                    <a:p>
                      <a:pPr lvl="0">
                        <a:buNone/>
                      </a:pPr>
                      <a:r>
                        <a:rPr lang="en-US" sz="1800" b="0" i="0" u="none" strike="noStrike" noProof="0">
                          <a:latin typeface="Bierstadt"/>
                        </a:rPr>
                        <a:t>Each additional inch of snow suppresses ~2425 passengers</a:t>
                      </a:r>
                      <a:endParaRPr lang="en-US"/>
                    </a:p>
                  </a:txBody>
                  <a:tcPr/>
                </a:tc>
                <a:extLst>
                  <a:ext uri="{0D108BD9-81ED-4DB2-BD59-A6C34878D82A}">
                    <a16:rowId xmlns:a16="http://schemas.microsoft.com/office/drawing/2014/main" val="2457009860"/>
                  </a:ext>
                </a:extLst>
              </a:tr>
            </a:tbl>
          </a:graphicData>
        </a:graphic>
      </p:graphicFrame>
      <p:sp>
        <p:nvSpPr>
          <p:cNvPr id="31" name="TextBox 30">
            <a:extLst>
              <a:ext uri="{FF2B5EF4-FFF2-40B4-BE49-F238E27FC236}">
                <a16:creationId xmlns:a16="http://schemas.microsoft.com/office/drawing/2014/main" id="{7424C8DF-D938-43C4-EE0C-1A6A044281C3}"/>
              </a:ext>
            </a:extLst>
          </p:cNvPr>
          <p:cNvSpPr txBox="1"/>
          <p:nvPr/>
        </p:nvSpPr>
        <p:spPr>
          <a:xfrm>
            <a:off x="639599" y="1629920"/>
            <a:ext cx="10897447"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t>Passenger Count =  −1.917×107  +  42.32×BusCount  +  166.0×Temp  −  2425×Snow  +  9448×Year + (Monthly Seasonal Variations)</a:t>
            </a:r>
          </a:p>
        </p:txBody>
      </p:sp>
      <p:graphicFrame>
        <p:nvGraphicFramePr>
          <p:cNvPr id="32" name="Content Placeholder 2">
            <a:extLst>
              <a:ext uri="{FF2B5EF4-FFF2-40B4-BE49-F238E27FC236}">
                <a16:creationId xmlns:a16="http://schemas.microsoft.com/office/drawing/2014/main" id="{11886042-FA2B-26D8-828F-AE2DE4F2B3B7}"/>
              </a:ext>
            </a:extLst>
          </p:cNvPr>
          <p:cNvGraphicFramePr>
            <a:graphicFrameLocks noGrp="1"/>
          </p:cNvGraphicFramePr>
          <p:nvPr>
            <p:extLst>
              <p:ext uri="{D42A27DB-BD31-4B8C-83A1-F6EECF244321}">
                <p14:modId xmlns:p14="http://schemas.microsoft.com/office/powerpoint/2010/main" val="2231283002"/>
              </p:ext>
            </p:extLst>
          </p:nvPr>
        </p:nvGraphicFramePr>
        <p:xfrm>
          <a:off x="279963" y="1983570"/>
          <a:ext cx="11139433" cy="22606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97" name="TextBox 796">
            <a:extLst>
              <a:ext uri="{FF2B5EF4-FFF2-40B4-BE49-F238E27FC236}">
                <a16:creationId xmlns:a16="http://schemas.microsoft.com/office/drawing/2014/main" id="{28D720EA-43B0-0BDB-995E-EB948864B972}"/>
              </a:ext>
            </a:extLst>
          </p:cNvPr>
          <p:cNvSpPr txBox="1"/>
          <p:nvPr/>
        </p:nvSpPr>
        <p:spPr>
          <a:xfrm>
            <a:off x="2137827" y="2630708"/>
            <a:ext cx="117188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42.32</a:t>
            </a:r>
          </a:p>
        </p:txBody>
      </p:sp>
      <p:sp>
        <p:nvSpPr>
          <p:cNvPr id="798" name="TextBox 797">
            <a:extLst>
              <a:ext uri="{FF2B5EF4-FFF2-40B4-BE49-F238E27FC236}">
                <a16:creationId xmlns:a16="http://schemas.microsoft.com/office/drawing/2014/main" id="{E91779BB-F61E-1BDD-03A5-EC56AAF79F31}"/>
              </a:ext>
            </a:extLst>
          </p:cNvPr>
          <p:cNvSpPr txBox="1"/>
          <p:nvPr/>
        </p:nvSpPr>
        <p:spPr>
          <a:xfrm>
            <a:off x="5675375" y="2635094"/>
            <a:ext cx="116093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166</a:t>
            </a:r>
          </a:p>
        </p:txBody>
      </p:sp>
      <p:sp>
        <p:nvSpPr>
          <p:cNvPr id="799" name="TextBox 798">
            <a:extLst>
              <a:ext uri="{FF2B5EF4-FFF2-40B4-BE49-F238E27FC236}">
                <a16:creationId xmlns:a16="http://schemas.microsoft.com/office/drawing/2014/main" id="{AC7234EA-D2DD-8953-8A76-B2BA3E0721E8}"/>
              </a:ext>
            </a:extLst>
          </p:cNvPr>
          <p:cNvSpPr txBox="1"/>
          <p:nvPr/>
        </p:nvSpPr>
        <p:spPr>
          <a:xfrm>
            <a:off x="8761767" y="2639482"/>
            <a:ext cx="106236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2425</a:t>
            </a:r>
          </a:p>
        </p:txBody>
      </p:sp>
    </p:spTree>
    <p:extLst>
      <p:ext uri="{BB962C8B-B14F-4D97-AF65-F5344CB8AC3E}">
        <p14:creationId xmlns:p14="http://schemas.microsoft.com/office/powerpoint/2010/main" val="17599393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452FC2B-53E6-85E4-79CD-83CB39790C82}"/>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9D9834A-7577-2E90-5DB2-AC66549368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F9BDE9-35BB-834D-2B6F-11EE1DAA5AD9}"/>
              </a:ext>
            </a:extLst>
          </p:cNvPr>
          <p:cNvSpPr>
            <a:spLocks noGrp="1"/>
          </p:cNvSpPr>
          <p:nvPr>
            <p:ph type="title"/>
          </p:nvPr>
        </p:nvSpPr>
        <p:spPr>
          <a:xfrm>
            <a:off x="521208" y="804237"/>
            <a:ext cx="11144795" cy="646612"/>
          </a:xfrm>
        </p:spPr>
        <p:txBody>
          <a:bodyPr>
            <a:normAutofit fontScale="90000"/>
          </a:bodyPr>
          <a:lstStyle/>
          <a:p>
            <a:r>
              <a:rPr lang="en-US"/>
              <a:t>Key Drivers of Ridership</a:t>
            </a:r>
            <a:br>
              <a:rPr lang="en-US"/>
            </a:br>
            <a:br>
              <a:rPr lang="en-US"/>
            </a:br>
            <a:endParaRPr lang="en-US" b="0"/>
          </a:p>
        </p:txBody>
      </p:sp>
      <p:sp>
        <p:nvSpPr>
          <p:cNvPr id="11" name="Rectangle 10">
            <a:extLst>
              <a:ext uri="{FF2B5EF4-FFF2-40B4-BE49-F238E27FC236}">
                <a16:creationId xmlns:a16="http://schemas.microsoft.com/office/drawing/2014/main" id="{2F0453E3-77E0-A07C-5770-F9791424E1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graph with numbers and a red and green bar&#10;&#10;AI-generated content may be incorrect.">
            <a:extLst>
              <a:ext uri="{FF2B5EF4-FFF2-40B4-BE49-F238E27FC236}">
                <a16:creationId xmlns:a16="http://schemas.microsoft.com/office/drawing/2014/main" id="{9F4484DB-C5CF-2711-1564-2C39F196D832}"/>
              </a:ext>
            </a:extLst>
          </p:cNvPr>
          <p:cNvPicPr>
            <a:picLocks noChangeAspect="1"/>
          </p:cNvPicPr>
          <p:nvPr/>
        </p:nvPicPr>
        <p:blipFill>
          <a:blip r:embed="rId2"/>
          <a:stretch>
            <a:fillRect/>
          </a:stretch>
        </p:blipFill>
        <p:spPr>
          <a:xfrm>
            <a:off x="522514" y="1806895"/>
            <a:ext cx="10929258" cy="4430750"/>
          </a:xfrm>
          <a:prstGeom prst="rect">
            <a:avLst/>
          </a:prstGeom>
        </p:spPr>
      </p:pic>
    </p:spTree>
    <p:extLst>
      <p:ext uri="{BB962C8B-B14F-4D97-AF65-F5344CB8AC3E}">
        <p14:creationId xmlns:p14="http://schemas.microsoft.com/office/powerpoint/2010/main" val="17123336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AD111-C5E7-4AA8-35D1-375DD45AE752}"/>
              </a:ext>
            </a:extLst>
          </p:cNvPr>
          <p:cNvSpPr>
            <a:spLocks noGrp="1"/>
          </p:cNvSpPr>
          <p:nvPr>
            <p:ph type="title"/>
          </p:nvPr>
        </p:nvSpPr>
        <p:spPr>
          <a:xfrm>
            <a:off x="521208" y="705692"/>
            <a:ext cx="11155680" cy="741146"/>
          </a:xfrm>
        </p:spPr>
        <p:txBody>
          <a:bodyPr>
            <a:normAutofit/>
          </a:bodyPr>
          <a:lstStyle/>
          <a:p>
            <a:r>
              <a:rPr lang="en-US" sz="3200"/>
              <a:t>Passengers Per Bus</a:t>
            </a:r>
          </a:p>
        </p:txBody>
      </p:sp>
      <p:graphicFrame>
        <p:nvGraphicFramePr>
          <p:cNvPr id="5" name="Table 4">
            <a:extLst>
              <a:ext uri="{FF2B5EF4-FFF2-40B4-BE49-F238E27FC236}">
                <a16:creationId xmlns:a16="http://schemas.microsoft.com/office/drawing/2014/main" id="{A854DDB5-3F52-F4B2-197A-A81FEAF2A7A3}"/>
              </a:ext>
            </a:extLst>
          </p:cNvPr>
          <p:cNvGraphicFramePr>
            <a:graphicFrameLocks noGrp="1"/>
          </p:cNvGraphicFramePr>
          <p:nvPr>
            <p:extLst>
              <p:ext uri="{D42A27DB-BD31-4B8C-83A1-F6EECF244321}">
                <p14:modId xmlns:p14="http://schemas.microsoft.com/office/powerpoint/2010/main" val="1697751837"/>
              </p:ext>
            </p:extLst>
          </p:nvPr>
        </p:nvGraphicFramePr>
        <p:xfrm>
          <a:off x="731665" y="1549446"/>
          <a:ext cx="9575537" cy="3448701"/>
        </p:xfrm>
        <a:graphic>
          <a:graphicData uri="http://schemas.openxmlformats.org/drawingml/2006/table">
            <a:tbl>
              <a:tblPr firstRow="1" bandRow="1">
                <a:tableStyleId>{00A15C55-8517-42AA-B614-E9B94910E393}</a:tableStyleId>
              </a:tblPr>
              <a:tblGrid>
                <a:gridCol w="2906460">
                  <a:extLst>
                    <a:ext uri="{9D8B030D-6E8A-4147-A177-3AD203B41FA5}">
                      <a16:colId xmlns:a16="http://schemas.microsoft.com/office/drawing/2014/main" val="1088417343"/>
                    </a:ext>
                  </a:extLst>
                </a:gridCol>
                <a:gridCol w="984977">
                  <a:extLst>
                    <a:ext uri="{9D8B030D-6E8A-4147-A177-3AD203B41FA5}">
                      <a16:colId xmlns:a16="http://schemas.microsoft.com/office/drawing/2014/main" val="2595078275"/>
                    </a:ext>
                  </a:extLst>
                </a:gridCol>
                <a:gridCol w="1108266">
                  <a:extLst>
                    <a:ext uri="{9D8B030D-6E8A-4147-A177-3AD203B41FA5}">
                      <a16:colId xmlns:a16="http://schemas.microsoft.com/office/drawing/2014/main" val="2462740522"/>
                    </a:ext>
                  </a:extLst>
                </a:gridCol>
                <a:gridCol w="1151545">
                  <a:extLst>
                    <a:ext uri="{9D8B030D-6E8A-4147-A177-3AD203B41FA5}">
                      <a16:colId xmlns:a16="http://schemas.microsoft.com/office/drawing/2014/main" val="2910261927"/>
                    </a:ext>
                  </a:extLst>
                </a:gridCol>
                <a:gridCol w="1223687">
                  <a:extLst>
                    <a:ext uri="{9D8B030D-6E8A-4147-A177-3AD203B41FA5}">
                      <a16:colId xmlns:a16="http://schemas.microsoft.com/office/drawing/2014/main" val="1937907756"/>
                    </a:ext>
                  </a:extLst>
                </a:gridCol>
                <a:gridCol w="974396">
                  <a:extLst>
                    <a:ext uri="{9D8B030D-6E8A-4147-A177-3AD203B41FA5}">
                      <a16:colId xmlns:a16="http://schemas.microsoft.com/office/drawing/2014/main" val="2499025302"/>
                    </a:ext>
                  </a:extLst>
                </a:gridCol>
                <a:gridCol w="1226206">
                  <a:extLst>
                    <a:ext uri="{9D8B030D-6E8A-4147-A177-3AD203B41FA5}">
                      <a16:colId xmlns:a16="http://schemas.microsoft.com/office/drawing/2014/main" val="516027850"/>
                    </a:ext>
                  </a:extLst>
                </a:gridCol>
              </a:tblGrid>
              <a:tr h="383189">
                <a:tc>
                  <a:txBody>
                    <a:bodyPr/>
                    <a:lstStyle/>
                    <a:p>
                      <a:pPr algn="ctr">
                        <a:buNone/>
                      </a:pPr>
                      <a:r>
                        <a:rPr lang="en-US" sz="1800" u="none" strike="noStrike">
                          <a:solidFill>
                            <a:srgbClr val="000000"/>
                          </a:solidFill>
                          <a:effectLst/>
                        </a:rPr>
                        <a:t>Carrier</a:t>
                      </a:r>
                    </a:p>
                  </a:txBody>
                  <a:tcPr marL="0" marR="0" marT="0" marB="0" anchor="ctr"/>
                </a:tc>
                <a:tc>
                  <a:txBody>
                    <a:bodyPr/>
                    <a:lstStyle/>
                    <a:p>
                      <a:pPr algn="ctr">
                        <a:buNone/>
                      </a:pPr>
                      <a:r>
                        <a:rPr lang="en-US" sz="1800" u="none" strike="noStrike">
                          <a:solidFill>
                            <a:srgbClr val="000000"/>
                          </a:solidFill>
                          <a:effectLst/>
                        </a:rPr>
                        <a:t>2021</a:t>
                      </a:r>
                    </a:p>
                  </a:txBody>
                  <a:tcPr marL="0" marR="0" marT="0" marB="0" anchor="ctr"/>
                </a:tc>
                <a:tc>
                  <a:txBody>
                    <a:bodyPr/>
                    <a:lstStyle/>
                    <a:p>
                      <a:pPr algn="ctr">
                        <a:buNone/>
                      </a:pPr>
                      <a:r>
                        <a:rPr lang="en-US" sz="1800" u="none" strike="noStrike">
                          <a:solidFill>
                            <a:srgbClr val="000000"/>
                          </a:solidFill>
                          <a:effectLst/>
                        </a:rPr>
                        <a:t>2022</a:t>
                      </a:r>
                    </a:p>
                  </a:txBody>
                  <a:tcPr marL="0" marR="0" marT="0" marB="0" anchor="ctr"/>
                </a:tc>
                <a:tc>
                  <a:txBody>
                    <a:bodyPr/>
                    <a:lstStyle/>
                    <a:p>
                      <a:pPr algn="ctr">
                        <a:buNone/>
                      </a:pPr>
                      <a:r>
                        <a:rPr lang="en-US" sz="1800" u="none" strike="noStrike">
                          <a:solidFill>
                            <a:srgbClr val="000000"/>
                          </a:solidFill>
                          <a:effectLst/>
                        </a:rPr>
                        <a:t>2023</a:t>
                      </a:r>
                    </a:p>
                  </a:txBody>
                  <a:tcPr marL="0" marR="0" marT="0" marB="0" anchor="ctr"/>
                </a:tc>
                <a:tc>
                  <a:txBody>
                    <a:bodyPr/>
                    <a:lstStyle/>
                    <a:p>
                      <a:pPr algn="ctr">
                        <a:buNone/>
                      </a:pPr>
                      <a:r>
                        <a:rPr lang="en-US" sz="1800" u="none" strike="noStrike">
                          <a:solidFill>
                            <a:srgbClr val="000000"/>
                          </a:solidFill>
                          <a:effectLst/>
                        </a:rPr>
                        <a:t>2024</a:t>
                      </a:r>
                    </a:p>
                  </a:txBody>
                  <a:tcPr marL="0" marR="0" marT="0" marB="0" anchor="ctr"/>
                </a:tc>
                <a:tc>
                  <a:txBody>
                    <a:bodyPr/>
                    <a:lstStyle/>
                    <a:p>
                      <a:pPr algn="ctr">
                        <a:buNone/>
                      </a:pPr>
                      <a:r>
                        <a:rPr lang="en-US" sz="1800" u="none" strike="noStrike">
                          <a:solidFill>
                            <a:srgbClr val="000000"/>
                          </a:solidFill>
                          <a:effectLst/>
                        </a:rPr>
                        <a:t>2025</a:t>
                      </a:r>
                    </a:p>
                  </a:txBody>
                  <a:tcPr marL="0" marR="0" marT="0" marB="0" anchor="ctr"/>
                </a:tc>
                <a:tc>
                  <a:txBody>
                    <a:bodyPr/>
                    <a:lstStyle/>
                    <a:p>
                      <a:pPr lvl="0" algn="ctr">
                        <a:buNone/>
                      </a:pPr>
                      <a:r>
                        <a:rPr lang="en-US" sz="1800" u="none" strike="noStrike">
                          <a:solidFill>
                            <a:srgbClr val="000000"/>
                          </a:solidFill>
                          <a:effectLst/>
                        </a:rPr>
                        <a:t>Capacity</a:t>
                      </a:r>
                    </a:p>
                  </a:txBody>
                  <a:tcPr marL="0" marR="0" marT="0" marB="0" anchor="ctr"/>
                </a:tc>
                <a:extLst>
                  <a:ext uri="{0D108BD9-81ED-4DB2-BD59-A6C34878D82A}">
                    <a16:rowId xmlns:a16="http://schemas.microsoft.com/office/drawing/2014/main" val="2758940323"/>
                  </a:ext>
                </a:extLst>
              </a:tr>
              <a:tr h="361293">
                <a:tc>
                  <a:txBody>
                    <a:bodyPr/>
                    <a:lstStyle/>
                    <a:p>
                      <a:pPr algn="ctr">
                        <a:buNone/>
                      </a:pPr>
                      <a:r>
                        <a:rPr lang="en-US">
                          <a:effectLst/>
                        </a:rPr>
                        <a:t>Academy</a:t>
                      </a:r>
                    </a:p>
                  </a:txBody>
                  <a:tcPr marL="0" marR="0" marT="0" marB="0" anchor="ctr"/>
                </a:tc>
                <a:tc>
                  <a:txBody>
                    <a:bodyPr/>
                    <a:lstStyle/>
                    <a:p>
                      <a:pPr algn="ctr">
                        <a:buNone/>
                      </a:pPr>
                      <a:r>
                        <a:rPr lang="en-US"/>
                        <a:t>23</a:t>
                      </a:r>
                    </a:p>
                  </a:txBody>
                  <a:tcPr marL="0" marR="0" marT="0" marB="0" anchor="ctr"/>
                </a:tc>
                <a:tc>
                  <a:txBody>
                    <a:bodyPr/>
                    <a:lstStyle/>
                    <a:p>
                      <a:pPr algn="ctr">
                        <a:buNone/>
                      </a:pPr>
                      <a:r>
                        <a:rPr lang="en-US"/>
                        <a:t>31</a:t>
                      </a:r>
                    </a:p>
                  </a:txBody>
                  <a:tcPr marL="0" marR="0" marT="0" marB="0" anchor="ctr"/>
                </a:tc>
                <a:tc>
                  <a:txBody>
                    <a:bodyPr/>
                    <a:lstStyle/>
                    <a:p>
                      <a:pPr algn="ctr">
                        <a:buNone/>
                      </a:pPr>
                      <a:r>
                        <a:rPr lang="en-US"/>
                        <a:t>32</a:t>
                      </a:r>
                    </a:p>
                  </a:txBody>
                  <a:tcPr marL="0" marR="0" marT="0" marB="0" anchor="ctr"/>
                </a:tc>
                <a:tc>
                  <a:txBody>
                    <a:bodyPr/>
                    <a:lstStyle/>
                    <a:p>
                      <a:pPr algn="ctr">
                        <a:buNone/>
                      </a:pPr>
                      <a:r>
                        <a:rPr lang="en-US"/>
                        <a:t>30</a:t>
                      </a:r>
                    </a:p>
                  </a:txBody>
                  <a:tcPr marL="0" marR="0" marT="0" marB="0" anchor="ctr"/>
                </a:tc>
                <a:tc>
                  <a:txBody>
                    <a:bodyPr/>
                    <a:lstStyle/>
                    <a:p>
                      <a:pPr algn="ctr">
                        <a:buNone/>
                      </a:pPr>
                      <a:r>
                        <a:rPr lang="en-US"/>
                        <a:t>32</a:t>
                      </a:r>
                    </a:p>
                  </a:txBody>
                  <a:tcPr marL="0" marR="0" marT="0" marB="0" anchor="ctr"/>
                </a:tc>
                <a:tc>
                  <a:txBody>
                    <a:bodyPr/>
                    <a:lstStyle/>
                    <a:p>
                      <a:pPr lvl="0" algn="ctr">
                        <a:buNone/>
                      </a:pPr>
                      <a:r>
                        <a:rPr lang="en-US"/>
                        <a:t>54</a:t>
                      </a:r>
                    </a:p>
                  </a:txBody>
                  <a:tcPr marL="0" marR="0" marT="0" marB="0" anchor="ctr"/>
                </a:tc>
                <a:extLst>
                  <a:ext uri="{0D108BD9-81ED-4DB2-BD59-A6C34878D82A}">
                    <a16:rowId xmlns:a16="http://schemas.microsoft.com/office/drawing/2014/main" val="983951433"/>
                  </a:ext>
                </a:extLst>
              </a:tr>
              <a:tr h="284654">
                <a:tc>
                  <a:txBody>
                    <a:bodyPr/>
                    <a:lstStyle/>
                    <a:p>
                      <a:pPr algn="ctr">
                        <a:buNone/>
                      </a:pPr>
                      <a:r>
                        <a:rPr lang="en-US">
                          <a:effectLst/>
                        </a:rPr>
                        <a:t>Coach USA</a:t>
                      </a:r>
                    </a:p>
                  </a:txBody>
                  <a:tcPr marL="0" marR="0" marT="0" marB="0" anchor="ctr"/>
                </a:tc>
                <a:tc>
                  <a:txBody>
                    <a:bodyPr/>
                    <a:lstStyle/>
                    <a:p>
                      <a:pPr algn="ctr">
                        <a:buNone/>
                      </a:pPr>
                      <a:r>
                        <a:rPr lang="en-US"/>
                        <a:t>24</a:t>
                      </a:r>
                    </a:p>
                  </a:txBody>
                  <a:tcPr marL="0" marR="0" marT="0" marB="0" anchor="ctr"/>
                </a:tc>
                <a:tc>
                  <a:txBody>
                    <a:bodyPr/>
                    <a:lstStyle/>
                    <a:p>
                      <a:pPr algn="ctr">
                        <a:buNone/>
                      </a:pPr>
                      <a:r>
                        <a:rPr lang="en-US"/>
                        <a:t>31</a:t>
                      </a:r>
                    </a:p>
                  </a:txBody>
                  <a:tcPr marL="0" marR="0" marT="0" marB="0" anchor="ctr"/>
                </a:tc>
                <a:tc>
                  <a:txBody>
                    <a:bodyPr/>
                    <a:lstStyle/>
                    <a:p>
                      <a:pPr algn="ctr">
                        <a:buNone/>
                      </a:pPr>
                      <a:r>
                        <a:rPr lang="en-US"/>
                        <a:t>33</a:t>
                      </a:r>
                    </a:p>
                  </a:txBody>
                  <a:tcPr marL="0" marR="0" marT="0" marB="0" anchor="ctr"/>
                </a:tc>
                <a:tc>
                  <a:txBody>
                    <a:bodyPr/>
                    <a:lstStyle/>
                    <a:p>
                      <a:pPr algn="ctr">
                        <a:buNone/>
                      </a:pPr>
                      <a:r>
                        <a:rPr lang="en-US"/>
                        <a:t>29</a:t>
                      </a:r>
                    </a:p>
                  </a:txBody>
                  <a:tcPr marL="0" marR="0" marT="0" marB="0" anchor="ctr"/>
                </a:tc>
                <a:tc>
                  <a:txBody>
                    <a:bodyPr/>
                    <a:lstStyle/>
                    <a:p>
                      <a:pPr algn="ctr">
                        <a:buNone/>
                      </a:pPr>
                      <a:r>
                        <a:rPr lang="en-US"/>
                        <a:t>29</a:t>
                      </a:r>
                    </a:p>
                  </a:txBody>
                  <a:tcPr marL="0" marR="0" marT="0" marB="0" anchor="ctr"/>
                </a:tc>
                <a:tc>
                  <a:txBody>
                    <a:bodyPr/>
                    <a:lstStyle/>
                    <a:p>
                      <a:pPr lvl="0" algn="ctr">
                        <a:buNone/>
                      </a:pPr>
                      <a:r>
                        <a:rPr lang="en-US"/>
                        <a:t>56</a:t>
                      </a:r>
                    </a:p>
                  </a:txBody>
                  <a:tcPr marL="0" marR="0" marT="0" marB="0" anchor="ctr"/>
                </a:tc>
                <a:extLst>
                  <a:ext uri="{0D108BD9-81ED-4DB2-BD59-A6C34878D82A}">
                    <a16:rowId xmlns:a16="http://schemas.microsoft.com/office/drawing/2014/main" val="4115800604"/>
                  </a:ext>
                </a:extLst>
              </a:tr>
              <a:tr h="350344">
                <a:tc>
                  <a:txBody>
                    <a:bodyPr/>
                    <a:lstStyle/>
                    <a:p>
                      <a:pPr algn="ctr">
                        <a:buNone/>
                      </a:pPr>
                      <a:r>
                        <a:rPr lang="en-US">
                          <a:effectLst/>
                        </a:rPr>
                        <a:t>Greyhound</a:t>
                      </a:r>
                    </a:p>
                  </a:txBody>
                  <a:tcPr marL="0" marR="0" marT="0" marB="0" anchor="ctr"/>
                </a:tc>
                <a:tc>
                  <a:txBody>
                    <a:bodyPr/>
                    <a:lstStyle/>
                    <a:p>
                      <a:pPr algn="ctr">
                        <a:buNone/>
                      </a:pPr>
                      <a:r>
                        <a:rPr lang="en-US"/>
                        <a:t>27</a:t>
                      </a:r>
                    </a:p>
                  </a:txBody>
                  <a:tcPr marL="0" marR="0" marT="0" marB="0" anchor="ctr"/>
                </a:tc>
                <a:tc>
                  <a:txBody>
                    <a:bodyPr/>
                    <a:lstStyle/>
                    <a:p>
                      <a:pPr algn="ctr">
                        <a:buNone/>
                      </a:pPr>
                      <a:r>
                        <a:rPr lang="en-US"/>
                        <a:t>29</a:t>
                      </a:r>
                    </a:p>
                  </a:txBody>
                  <a:tcPr marL="0" marR="0" marT="0" marB="0" anchor="ctr"/>
                </a:tc>
                <a:tc>
                  <a:txBody>
                    <a:bodyPr/>
                    <a:lstStyle/>
                    <a:p>
                      <a:pPr algn="ctr">
                        <a:buNone/>
                      </a:pPr>
                      <a:r>
                        <a:rPr lang="en-US"/>
                        <a:t>27</a:t>
                      </a:r>
                    </a:p>
                  </a:txBody>
                  <a:tcPr marL="0" marR="0" marT="0" marB="0" anchor="ctr"/>
                </a:tc>
                <a:tc>
                  <a:txBody>
                    <a:bodyPr/>
                    <a:lstStyle/>
                    <a:p>
                      <a:pPr algn="ctr">
                        <a:buNone/>
                      </a:pPr>
                      <a:r>
                        <a:rPr lang="en-US"/>
                        <a:t>26</a:t>
                      </a:r>
                    </a:p>
                  </a:txBody>
                  <a:tcPr marL="0" marR="0" marT="0" marB="0" anchor="ctr"/>
                </a:tc>
                <a:tc>
                  <a:txBody>
                    <a:bodyPr/>
                    <a:lstStyle/>
                    <a:p>
                      <a:pPr algn="ctr">
                        <a:buNone/>
                      </a:pPr>
                      <a:r>
                        <a:rPr lang="en-US"/>
                        <a:t>21</a:t>
                      </a:r>
                    </a:p>
                  </a:txBody>
                  <a:tcPr marL="0" marR="0" marT="0" marB="0" anchor="ctr"/>
                </a:tc>
                <a:tc>
                  <a:txBody>
                    <a:bodyPr/>
                    <a:lstStyle/>
                    <a:p>
                      <a:pPr lvl="0" algn="ctr">
                        <a:buNone/>
                      </a:pPr>
                      <a:r>
                        <a:rPr lang="en-US"/>
                        <a:t>40-56</a:t>
                      </a:r>
                    </a:p>
                  </a:txBody>
                  <a:tcPr marL="0" marR="0" marT="0" marB="0" anchor="ctr"/>
                </a:tc>
                <a:extLst>
                  <a:ext uri="{0D108BD9-81ED-4DB2-BD59-A6C34878D82A}">
                    <a16:rowId xmlns:a16="http://schemas.microsoft.com/office/drawing/2014/main" val="1916508642"/>
                  </a:ext>
                </a:extLst>
              </a:tr>
              <a:tr h="306551">
                <a:tc>
                  <a:txBody>
                    <a:bodyPr/>
                    <a:lstStyle/>
                    <a:p>
                      <a:pPr algn="ctr">
                        <a:buNone/>
                      </a:pPr>
                      <a:r>
                        <a:rPr lang="en-US">
                          <a:effectLst/>
                        </a:rPr>
                        <a:t>Lakeland</a:t>
                      </a:r>
                    </a:p>
                  </a:txBody>
                  <a:tcPr marL="0" marR="0" marT="0" marB="0" anchor="ctr"/>
                </a:tc>
                <a:tc>
                  <a:txBody>
                    <a:bodyPr/>
                    <a:lstStyle/>
                    <a:p>
                      <a:pPr algn="ctr">
                        <a:buNone/>
                      </a:pPr>
                      <a:r>
                        <a:rPr lang="en-US"/>
                        <a:t>26</a:t>
                      </a:r>
                    </a:p>
                  </a:txBody>
                  <a:tcPr marL="0" marR="0" marT="0" marB="0" anchor="ctr"/>
                </a:tc>
                <a:tc>
                  <a:txBody>
                    <a:bodyPr/>
                    <a:lstStyle/>
                    <a:p>
                      <a:pPr algn="ctr">
                        <a:buNone/>
                      </a:pPr>
                      <a:r>
                        <a:rPr lang="en-US"/>
                        <a:t>35</a:t>
                      </a:r>
                    </a:p>
                  </a:txBody>
                  <a:tcPr marL="0" marR="0" marT="0" marB="0" anchor="ctr"/>
                </a:tc>
                <a:tc>
                  <a:txBody>
                    <a:bodyPr/>
                    <a:lstStyle/>
                    <a:p>
                      <a:pPr algn="ctr">
                        <a:buNone/>
                      </a:pPr>
                      <a:r>
                        <a:rPr lang="en-US"/>
                        <a:t>38</a:t>
                      </a:r>
                    </a:p>
                  </a:txBody>
                  <a:tcPr marL="0" marR="0" marT="0" marB="0" anchor="ctr"/>
                </a:tc>
                <a:tc>
                  <a:txBody>
                    <a:bodyPr/>
                    <a:lstStyle/>
                    <a:p>
                      <a:pPr algn="ctr">
                        <a:buNone/>
                      </a:pPr>
                      <a:r>
                        <a:rPr lang="en-US"/>
                        <a:t>33</a:t>
                      </a:r>
                    </a:p>
                  </a:txBody>
                  <a:tcPr marL="0" marR="0" marT="0" marB="0" anchor="ctr"/>
                </a:tc>
                <a:tc>
                  <a:txBody>
                    <a:bodyPr/>
                    <a:lstStyle/>
                    <a:p>
                      <a:pPr algn="ctr">
                        <a:buNone/>
                      </a:pPr>
                      <a:r>
                        <a:rPr lang="en-US"/>
                        <a:t>34</a:t>
                      </a:r>
                    </a:p>
                  </a:txBody>
                  <a:tcPr marL="0" marR="0" marT="0" marB="0" anchor="ctr"/>
                </a:tc>
                <a:tc>
                  <a:txBody>
                    <a:bodyPr/>
                    <a:lstStyle/>
                    <a:p>
                      <a:pPr lvl="0" algn="ctr">
                        <a:buNone/>
                      </a:pPr>
                      <a:r>
                        <a:rPr lang="en-US"/>
                        <a:t>50-55</a:t>
                      </a:r>
                    </a:p>
                  </a:txBody>
                  <a:tcPr marL="0" marR="0" marT="0" marB="0" anchor="ctr"/>
                </a:tc>
                <a:extLst>
                  <a:ext uri="{0D108BD9-81ED-4DB2-BD59-A6C34878D82A}">
                    <a16:rowId xmlns:a16="http://schemas.microsoft.com/office/drawing/2014/main" val="1917934186"/>
                  </a:ext>
                </a:extLst>
              </a:tr>
              <a:tr h="295603">
                <a:tc>
                  <a:txBody>
                    <a:bodyPr/>
                    <a:lstStyle/>
                    <a:p>
                      <a:pPr algn="ctr">
                        <a:buNone/>
                      </a:pPr>
                      <a:r>
                        <a:rPr lang="en-US">
                          <a:effectLst/>
                        </a:rPr>
                        <a:t>Martz</a:t>
                      </a:r>
                    </a:p>
                  </a:txBody>
                  <a:tcPr marL="0" marR="0" marT="0" marB="0" anchor="ctr"/>
                </a:tc>
                <a:tc>
                  <a:txBody>
                    <a:bodyPr/>
                    <a:lstStyle/>
                    <a:p>
                      <a:pPr algn="ctr">
                        <a:buNone/>
                      </a:pPr>
                      <a:r>
                        <a:rPr lang="en-US"/>
                        <a:t>38</a:t>
                      </a:r>
                    </a:p>
                  </a:txBody>
                  <a:tcPr marL="0" marR="0" marT="0" marB="0" anchor="ctr"/>
                </a:tc>
                <a:tc>
                  <a:txBody>
                    <a:bodyPr/>
                    <a:lstStyle/>
                    <a:p>
                      <a:pPr algn="ctr">
                        <a:buNone/>
                      </a:pPr>
                      <a:r>
                        <a:rPr lang="en-US"/>
                        <a:t>40</a:t>
                      </a:r>
                    </a:p>
                  </a:txBody>
                  <a:tcPr marL="0" marR="0" marT="0" marB="0" anchor="ctr"/>
                </a:tc>
                <a:tc>
                  <a:txBody>
                    <a:bodyPr/>
                    <a:lstStyle/>
                    <a:p>
                      <a:pPr algn="ctr">
                        <a:buNone/>
                      </a:pPr>
                      <a:r>
                        <a:rPr lang="en-US"/>
                        <a:t>40</a:t>
                      </a:r>
                    </a:p>
                  </a:txBody>
                  <a:tcPr marL="0" marR="0" marT="0" marB="0" anchor="ctr"/>
                </a:tc>
                <a:tc>
                  <a:txBody>
                    <a:bodyPr/>
                    <a:lstStyle/>
                    <a:p>
                      <a:pPr algn="ctr">
                        <a:buNone/>
                      </a:pPr>
                      <a:r>
                        <a:rPr lang="en-US"/>
                        <a:t>41</a:t>
                      </a:r>
                    </a:p>
                  </a:txBody>
                  <a:tcPr marL="0" marR="0" marT="0" marB="0" anchor="ctr"/>
                </a:tc>
                <a:tc>
                  <a:txBody>
                    <a:bodyPr/>
                    <a:lstStyle/>
                    <a:p>
                      <a:pPr algn="ctr">
                        <a:buNone/>
                      </a:pPr>
                      <a:r>
                        <a:rPr lang="en-US"/>
                        <a:t>41</a:t>
                      </a:r>
                    </a:p>
                  </a:txBody>
                  <a:tcPr marL="0" marR="0" marT="0" marB="0" anchor="ctr"/>
                </a:tc>
                <a:tc>
                  <a:txBody>
                    <a:bodyPr/>
                    <a:lstStyle/>
                    <a:p>
                      <a:pPr lvl="0" algn="ctr">
                        <a:buNone/>
                      </a:pPr>
                      <a:r>
                        <a:rPr lang="en-US"/>
                        <a:t>55-58</a:t>
                      </a:r>
                    </a:p>
                  </a:txBody>
                  <a:tcPr marL="0" marR="0" marT="0" marB="0" anchor="ctr"/>
                </a:tc>
                <a:extLst>
                  <a:ext uri="{0D108BD9-81ED-4DB2-BD59-A6C34878D82A}">
                    <a16:rowId xmlns:a16="http://schemas.microsoft.com/office/drawing/2014/main" val="3166909679"/>
                  </a:ext>
                </a:extLst>
              </a:tr>
              <a:tr h="372241">
                <a:tc>
                  <a:txBody>
                    <a:bodyPr/>
                    <a:lstStyle/>
                    <a:p>
                      <a:pPr algn="ctr">
                        <a:buNone/>
                      </a:pPr>
                      <a:r>
                        <a:rPr lang="en-US">
                          <a:effectLst/>
                        </a:rPr>
                        <a:t>NJ Transit</a:t>
                      </a:r>
                    </a:p>
                  </a:txBody>
                  <a:tcPr marL="0" marR="0" marT="0" marB="0" anchor="ctr"/>
                </a:tc>
                <a:tc>
                  <a:txBody>
                    <a:bodyPr/>
                    <a:lstStyle/>
                    <a:p>
                      <a:pPr algn="ctr">
                        <a:buNone/>
                      </a:pPr>
                      <a:r>
                        <a:rPr lang="en-US"/>
                        <a:t>18</a:t>
                      </a:r>
                    </a:p>
                  </a:txBody>
                  <a:tcPr marL="0" marR="0" marT="0" marB="0" anchor="ctr"/>
                </a:tc>
                <a:tc>
                  <a:txBody>
                    <a:bodyPr/>
                    <a:lstStyle/>
                    <a:p>
                      <a:pPr algn="ctr">
                        <a:buNone/>
                      </a:pPr>
                      <a:r>
                        <a:rPr lang="en-US"/>
                        <a:t>26</a:t>
                      </a:r>
                    </a:p>
                  </a:txBody>
                  <a:tcPr marL="0" marR="0" marT="0" marB="0" anchor="ctr"/>
                </a:tc>
                <a:tc>
                  <a:txBody>
                    <a:bodyPr/>
                    <a:lstStyle/>
                    <a:p>
                      <a:pPr algn="ctr">
                        <a:buNone/>
                      </a:pPr>
                      <a:r>
                        <a:rPr lang="en-US"/>
                        <a:t>31</a:t>
                      </a:r>
                    </a:p>
                  </a:txBody>
                  <a:tcPr marL="0" marR="0" marT="0" marB="0" anchor="ctr"/>
                </a:tc>
                <a:tc>
                  <a:txBody>
                    <a:bodyPr/>
                    <a:lstStyle/>
                    <a:p>
                      <a:pPr algn="ctr">
                        <a:buNone/>
                      </a:pPr>
                      <a:r>
                        <a:rPr lang="en-US"/>
                        <a:t>34</a:t>
                      </a:r>
                    </a:p>
                  </a:txBody>
                  <a:tcPr marL="0" marR="0" marT="0" marB="0" anchor="ctr"/>
                </a:tc>
                <a:tc>
                  <a:txBody>
                    <a:bodyPr/>
                    <a:lstStyle/>
                    <a:p>
                      <a:pPr algn="ctr">
                        <a:buNone/>
                      </a:pPr>
                      <a:r>
                        <a:rPr lang="en-US"/>
                        <a:t>35</a:t>
                      </a:r>
                    </a:p>
                  </a:txBody>
                  <a:tcPr marL="0" marR="0" marT="0" marB="0" anchor="ctr"/>
                </a:tc>
                <a:tc>
                  <a:txBody>
                    <a:bodyPr/>
                    <a:lstStyle/>
                    <a:p>
                      <a:pPr lvl="0" algn="ctr">
                        <a:buNone/>
                      </a:pPr>
                      <a:r>
                        <a:rPr lang="en-US"/>
                        <a:t>50-57</a:t>
                      </a:r>
                    </a:p>
                  </a:txBody>
                  <a:tcPr marL="0" marR="0" marT="0" marB="0" anchor="ctr"/>
                </a:tc>
                <a:extLst>
                  <a:ext uri="{0D108BD9-81ED-4DB2-BD59-A6C34878D82A}">
                    <a16:rowId xmlns:a16="http://schemas.microsoft.com/office/drawing/2014/main" val="2740382558"/>
                  </a:ext>
                </a:extLst>
              </a:tr>
              <a:tr h="361293">
                <a:tc>
                  <a:txBody>
                    <a:bodyPr/>
                    <a:lstStyle/>
                    <a:p>
                      <a:pPr algn="ctr">
                        <a:buNone/>
                      </a:pPr>
                      <a:r>
                        <a:rPr lang="en-US">
                          <a:effectLst/>
                        </a:rPr>
                        <a:t>Peter Pan/Bonanza</a:t>
                      </a:r>
                    </a:p>
                  </a:txBody>
                  <a:tcPr marL="0" marR="0" marT="0" marB="0" anchor="ctr"/>
                </a:tc>
                <a:tc>
                  <a:txBody>
                    <a:bodyPr/>
                    <a:lstStyle/>
                    <a:p>
                      <a:pPr algn="ctr">
                        <a:buNone/>
                      </a:pPr>
                      <a:r>
                        <a:rPr lang="en-US"/>
                        <a:t>29</a:t>
                      </a:r>
                    </a:p>
                  </a:txBody>
                  <a:tcPr marL="0" marR="0" marT="0" marB="0" anchor="ctr"/>
                </a:tc>
                <a:tc>
                  <a:txBody>
                    <a:bodyPr/>
                    <a:lstStyle/>
                    <a:p>
                      <a:pPr algn="ctr">
                        <a:buNone/>
                      </a:pPr>
                      <a:r>
                        <a:rPr lang="en-US"/>
                        <a:t>32</a:t>
                      </a:r>
                    </a:p>
                  </a:txBody>
                  <a:tcPr marL="0" marR="0" marT="0" marB="0" anchor="ctr"/>
                </a:tc>
                <a:tc>
                  <a:txBody>
                    <a:bodyPr/>
                    <a:lstStyle/>
                    <a:p>
                      <a:pPr algn="ctr">
                        <a:buNone/>
                      </a:pPr>
                      <a:r>
                        <a:rPr lang="en-US"/>
                        <a:t>32</a:t>
                      </a:r>
                    </a:p>
                  </a:txBody>
                  <a:tcPr marL="0" marR="0" marT="0" marB="0" anchor="ctr"/>
                </a:tc>
                <a:tc>
                  <a:txBody>
                    <a:bodyPr/>
                    <a:lstStyle/>
                    <a:p>
                      <a:pPr algn="ctr">
                        <a:buNone/>
                      </a:pPr>
                      <a:r>
                        <a:rPr lang="en-US"/>
                        <a:t>34</a:t>
                      </a:r>
                    </a:p>
                  </a:txBody>
                  <a:tcPr marL="0" marR="0" marT="0" marB="0" anchor="ctr"/>
                </a:tc>
                <a:tc>
                  <a:txBody>
                    <a:bodyPr/>
                    <a:lstStyle/>
                    <a:p>
                      <a:pPr algn="ctr">
                        <a:buNone/>
                      </a:pPr>
                      <a:r>
                        <a:rPr lang="en-US"/>
                        <a:t>30</a:t>
                      </a:r>
                    </a:p>
                  </a:txBody>
                  <a:tcPr marL="0" marR="0" marT="0" marB="0" anchor="ctr"/>
                </a:tc>
                <a:tc>
                  <a:txBody>
                    <a:bodyPr/>
                    <a:lstStyle/>
                    <a:p>
                      <a:pPr lvl="0" algn="ctr">
                        <a:buNone/>
                      </a:pPr>
                      <a:r>
                        <a:rPr lang="en-US"/>
                        <a:t>50-55</a:t>
                      </a:r>
                    </a:p>
                  </a:txBody>
                  <a:tcPr marL="0" marR="0" marT="0" marB="0" anchor="ctr"/>
                </a:tc>
                <a:extLst>
                  <a:ext uri="{0D108BD9-81ED-4DB2-BD59-A6C34878D82A}">
                    <a16:rowId xmlns:a16="http://schemas.microsoft.com/office/drawing/2014/main" val="122344620"/>
                  </a:ext>
                </a:extLst>
              </a:tr>
              <a:tr h="339396">
                <a:tc>
                  <a:txBody>
                    <a:bodyPr/>
                    <a:lstStyle/>
                    <a:p>
                      <a:pPr algn="ctr">
                        <a:buNone/>
                      </a:pPr>
                      <a:r>
                        <a:rPr lang="en-US">
                          <a:effectLst/>
                        </a:rPr>
                        <a:t>Trailways</a:t>
                      </a:r>
                    </a:p>
                  </a:txBody>
                  <a:tcPr marL="0" marR="0" marT="0" marB="0" anchor="ctr"/>
                </a:tc>
                <a:tc>
                  <a:txBody>
                    <a:bodyPr/>
                    <a:lstStyle/>
                    <a:p>
                      <a:pPr algn="ctr">
                        <a:buNone/>
                      </a:pPr>
                      <a:r>
                        <a:rPr lang="en-US"/>
                        <a:t>25</a:t>
                      </a:r>
                    </a:p>
                  </a:txBody>
                  <a:tcPr marL="0" marR="0" marT="0" marB="0" anchor="ctr"/>
                </a:tc>
                <a:tc>
                  <a:txBody>
                    <a:bodyPr/>
                    <a:lstStyle/>
                    <a:p>
                      <a:pPr algn="ctr">
                        <a:buNone/>
                      </a:pPr>
                      <a:r>
                        <a:rPr lang="en-US"/>
                        <a:t>22</a:t>
                      </a:r>
                    </a:p>
                  </a:txBody>
                  <a:tcPr marL="0" marR="0" marT="0" marB="0" anchor="ctr"/>
                </a:tc>
                <a:tc>
                  <a:txBody>
                    <a:bodyPr/>
                    <a:lstStyle/>
                    <a:p>
                      <a:pPr algn="ctr">
                        <a:buNone/>
                      </a:pPr>
                      <a:r>
                        <a:rPr lang="en-US"/>
                        <a:t>25</a:t>
                      </a:r>
                    </a:p>
                  </a:txBody>
                  <a:tcPr marL="0" marR="0" marT="0" marB="0" anchor="ctr"/>
                </a:tc>
                <a:tc>
                  <a:txBody>
                    <a:bodyPr/>
                    <a:lstStyle/>
                    <a:p>
                      <a:pPr algn="ctr">
                        <a:buNone/>
                      </a:pPr>
                      <a:r>
                        <a:rPr lang="en-US"/>
                        <a:t>25</a:t>
                      </a:r>
                    </a:p>
                  </a:txBody>
                  <a:tcPr marL="0" marR="0" marT="0" marB="0" anchor="ctr"/>
                </a:tc>
                <a:tc>
                  <a:txBody>
                    <a:bodyPr/>
                    <a:lstStyle/>
                    <a:p>
                      <a:pPr algn="ctr">
                        <a:buNone/>
                      </a:pPr>
                      <a:r>
                        <a:rPr lang="en-US"/>
                        <a:t>21</a:t>
                      </a:r>
                    </a:p>
                  </a:txBody>
                  <a:tcPr marL="0" marR="0" marT="0" marB="0" anchor="ctr"/>
                </a:tc>
                <a:tc>
                  <a:txBody>
                    <a:bodyPr/>
                    <a:lstStyle/>
                    <a:p>
                      <a:pPr lvl="0" algn="ctr">
                        <a:buNone/>
                      </a:pPr>
                      <a:r>
                        <a:rPr lang="en-US"/>
                        <a:t>50-55</a:t>
                      </a:r>
                    </a:p>
                  </a:txBody>
                  <a:tcPr marL="0" marR="0" marT="0" marB="0" anchor="ctr"/>
                </a:tc>
                <a:extLst>
                  <a:ext uri="{0D108BD9-81ED-4DB2-BD59-A6C34878D82A}">
                    <a16:rowId xmlns:a16="http://schemas.microsoft.com/office/drawing/2014/main" val="3899377306"/>
                  </a:ext>
                </a:extLst>
              </a:tr>
              <a:tr h="394137">
                <a:tc>
                  <a:txBody>
                    <a:bodyPr/>
                    <a:lstStyle/>
                    <a:p>
                      <a:pPr algn="ctr">
                        <a:buNone/>
                      </a:pPr>
                      <a:r>
                        <a:rPr lang="en-US">
                          <a:effectLst/>
                        </a:rPr>
                        <a:t>TransBridge</a:t>
                      </a:r>
                    </a:p>
                  </a:txBody>
                  <a:tcPr marL="0" marR="0" marT="0" marB="0" anchor="ctr"/>
                </a:tc>
                <a:tc>
                  <a:txBody>
                    <a:bodyPr/>
                    <a:lstStyle/>
                    <a:p>
                      <a:pPr algn="ctr">
                        <a:buNone/>
                      </a:pPr>
                      <a:r>
                        <a:rPr lang="en-US"/>
                        <a:t>30</a:t>
                      </a:r>
                    </a:p>
                  </a:txBody>
                  <a:tcPr marL="0" marR="0" marT="0" marB="0" anchor="ctr"/>
                </a:tc>
                <a:tc>
                  <a:txBody>
                    <a:bodyPr/>
                    <a:lstStyle/>
                    <a:p>
                      <a:pPr algn="ctr">
                        <a:buNone/>
                      </a:pPr>
                      <a:r>
                        <a:rPr lang="en-US"/>
                        <a:t>30</a:t>
                      </a:r>
                    </a:p>
                  </a:txBody>
                  <a:tcPr marL="0" marR="0" marT="0" marB="0" anchor="ctr"/>
                </a:tc>
                <a:tc>
                  <a:txBody>
                    <a:bodyPr/>
                    <a:lstStyle/>
                    <a:p>
                      <a:pPr algn="ctr">
                        <a:buNone/>
                      </a:pPr>
                      <a:r>
                        <a:rPr lang="en-US"/>
                        <a:t>30</a:t>
                      </a:r>
                    </a:p>
                  </a:txBody>
                  <a:tcPr marL="0" marR="0" marT="0" marB="0" anchor="ctr"/>
                </a:tc>
                <a:tc>
                  <a:txBody>
                    <a:bodyPr/>
                    <a:lstStyle/>
                    <a:p>
                      <a:pPr algn="ctr">
                        <a:buNone/>
                      </a:pPr>
                      <a:r>
                        <a:rPr lang="en-US"/>
                        <a:t>28</a:t>
                      </a:r>
                    </a:p>
                  </a:txBody>
                  <a:tcPr marL="0" marR="0" marT="0" marB="0" anchor="ctr"/>
                </a:tc>
                <a:tc>
                  <a:txBody>
                    <a:bodyPr/>
                    <a:lstStyle/>
                    <a:p>
                      <a:pPr algn="ctr">
                        <a:buNone/>
                      </a:pPr>
                      <a:r>
                        <a:rPr lang="en-US"/>
                        <a:t>30</a:t>
                      </a:r>
                    </a:p>
                  </a:txBody>
                  <a:tcPr marL="0" marR="0" marT="0" marB="0" anchor="ctr"/>
                </a:tc>
                <a:tc>
                  <a:txBody>
                    <a:bodyPr/>
                    <a:lstStyle/>
                    <a:p>
                      <a:pPr lvl="0" algn="ctr">
                        <a:buNone/>
                      </a:pPr>
                      <a:r>
                        <a:rPr lang="en-US"/>
                        <a:t>56</a:t>
                      </a:r>
                    </a:p>
                  </a:txBody>
                  <a:tcPr marL="0" marR="0" marT="0" marB="0" anchor="ctr"/>
                </a:tc>
                <a:extLst>
                  <a:ext uri="{0D108BD9-81ED-4DB2-BD59-A6C34878D82A}">
                    <a16:rowId xmlns:a16="http://schemas.microsoft.com/office/drawing/2014/main" val="603676526"/>
                  </a:ext>
                </a:extLst>
              </a:tr>
            </a:tbl>
          </a:graphicData>
        </a:graphic>
      </p:graphicFrame>
      <p:sp>
        <p:nvSpPr>
          <p:cNvPr id="6" name="TextBox 5">
            <a:extLst>
              <a:ext uri="{FF2B5EF4-FFF2-40B4-BE49-F238E27FC236}">
                <a16:creationId xmlns:a16="http://schemas.microsoft.com/office/drawing/2014/main" id="{DCC0E7C1-BA68-6C3C-2E09-7921DB8E0207}"/>
              </a:ext>
            </a:extLst>
          </p:cNvPr>
          <p:cNvSpPr txBox="1"/>
          <p:nvPr/>
        </p:nvSpPr>
        <p:spPr>
          <a:xfrm>
            <a:off x="970358" y="5119632"/>
            <a:ext cx="9787123"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Assuming  a baseline capacity of 56 for all carriers, in 2025:</a:t>
            </a:r>
            <a:endParaRPr lang="en-US"/>
          </a:p>
          <a:p>
            <a:r>
              <a:rPr lang="en-US">
                <a:ea typeface="+mn-lt"/>
                <a:cs typeface="+mn-lt"/>
              </a:rPr>
              <a:t> - the highest load factor is at 73% for Martz</a:t>
            </a:r>
          </a:p>
          <a:p>
            <a:r>
              <a:rPr lang="en-US">
                <a:ea typeface="+mn-lt"/>
                <a:cs typeface="+mn-lt"/>
              </a:rPr>
              <a:t> - NJ Transit and Lakeland at 63%</a:t>
            </a:r>
          </a:p>
          <a:p>
            <a:r>
              <a:rPr lang="en-US">
                <a:ea typeface="+mn-lt"/>
                <a:cs typeface="+mn-lt"/>
              </a:rPr>
              <a:t> - The lowest load factor is at 38% for Greyhound and Trailways.</a:t>
            </a:r>
            <a:endParaRPr lang="en-US"/>
          </a:p>
        </p:txBody>
      </p:sp>
    </p:spTree>
    <p:extLst>
      <p:ext uri="{BB962C8B-B14F-4D97-AF65-F5344CB8AC3E}">
        <p14:creationId xmlns:p14="http://schemas.microsoft.com/office/powerpoint/2010/main" val="37228620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F30AD-4F86-1ACD-E57E-E53E8C6689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D12304-5B50-5D9A-40BA-0BA2953F17FB}"/>
              </a:ext>
            </a:extLst>
          </p:cNvPr>
          <p:cNvSpPr>
            <a:spLocks noGrp="1"/>
          </p:cNvSpPr>
          <p:nvPr>
            <p:ph type="title"/>
          </p:nvPr>
        </p:nvSpPr>
        <p:spPr>
          <a:xfrm>
            <a:off x="521208" y="724408"/>
            <a:ext cx="11155680" cy="674765"/>
          </a:xfrm>
        </p:spPr>
        <p:txBody>
          <a:bodyPr>
            <a:normAutofit/>
          </a:bodyPr>
          <a:lstStyle/>
          <a:p>
            <a:r>
              <a:rPr lang="en-US" sz="3200"/>
              <a:t>Carrier Level Projections</a:t>
            </a:r>
          </a:p>
        </p:txBody>
      </p:sp>
      <p:sp>
        <p:nvSpPr>
          <p:cNvPr id="6" name="TextBox 5">
            <a:extLst>
              <a:ext uri="{FF2B5EF4-FFF2-40B4-BE49-F238E27FC236}">
                <a16:creationId xmlns:a16="http://schemas.microsoft.com/office/drawing/2014/main" id="{A12D062E-68E3-BBFC-A09E-73CDFADA46BD}"/>
              </a:ext>
            </a:extLst>
          </p:cNvPr>
          <p:cNvSpPr txBox="1"/>
          <p:nvPr/>
        </p:nvSpPr>
        <p:spPr>
          <a:xfrm>
            <a:off x="898080" y="4731354"/>
            <a:ext cx="10065079"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NJ Transit dominates total volume (4.8M → 5.8M annually). Peter Pan </a:t>
            </a:r>
            <a:r>
              <a:rPr lang="en-US" err="1">
                <a:ea typeface="+mn-lt"/>
                <a:cs typeface="+mn-lt"/>
              </a:rPr>
              <a:t>Bonzana</a:t>
            </a:r>
            <a:r>
              <a:rPr lang="en-US" dirty="0">
                <a:ea typeface="+mn-lt"/>
                <a:cs typeface="+mn-lt"/>
              </a:rPr>
              <a:t> shows the strongest relative growth (~2135 in 2026 to ~4057 passengers per week in 2030). Coach USA also grows aggressively. Transbridge and Martz are relatively flat. Lakeland has slight increase </a:t>
            </a:r>
            <a:r>
              <a:rPr lang="en-US" err="1">
                <a:ea typeface="+mn-lt"/>
                <a:cs typeface="+mn-lt"/>
              </a:rPr>
              <a:t>anf</a:t>
            </a:r>
            <a:r>
              <a:rPr lang="en-US">
                <a:ea typeface="+mn-lt"/>
                <a:cs typeface="+mn-lt"/>
              </a:rPr>
              <a:t> greyhound declines.</a:t>
            </a:r>
          </a:p>
        </p:txBody>
      </p:sp>
      <p:graphicFrame>
        <p:nvGraphicFramePr>
          <p:cNvPr id="4" name="Table 3">
            <a:extLst>
              <a:ext uri="{FF2B5EF4-FFF2-40B4-BE49-F238E27FC236}">
                <a16:creationId xmlns:a16="http://schemas.microsoft.com/office/drawing/2014/main" id="{1FD34D6C-BE3E-2EA7-346C-32A69560FCE6}"/>
              </a:ext>
            </a:extLst>
          </p:cNvPr>
          <p:cNvGraphicFramePr>
            <a:graphicFrameLocks noGrp="1"/>
          </p:cNvGraphicFramePr>
          <p:nvPr>
            <p:extLst>
              <p:ext uri="{D42A27DB-BD31-4B8C-83A1-F6EECF244321}">
                <p14:modId xmlns:p14="http://schemas.microsoft.com/office/powerpoint/2010/main" val="2548202709"/>
              </p:ext>
            </p:extLst>
          </p:nvPr>
        </p:nvGraphicFramePr>
        <p:xfrm>
          <a:off x="1176337" y="1516743"/>
          <a:ext cx="8312602" cy="3054630"/>
        </p:xfrm>
        <a:graphic>
          <a:graphicData uri="http://schemas.openxmlformats.org/drawingml/2006/table">
            <a:tbl>
              <a:tblPr bandRow="1">
                <a:tableStyleId>{5C22544A-7EE6-4342-B048-85BDC9FD1C3A}</a:tableStyleId>
              </a:tblPr>
              <a:tblGrid>
                <a:gridCol w="2236454">
                  <a:extLst>
                    <a:ext uri="{9D8B030D-6E8A-4147-A177-3AD203B41FA5}">
                      <a16:colId xmlns:a16="http://schemas.microsoft.com/office/drawing/2014/main" val="3061058812"/>
                    </a:ext>
                  </a:extLst>
                </a:gridCol>
                <a:gridCol w="1239480">
                  <a:extLst>
                    <a:ext uri="{9D8B030D-6E8A-4147-A177-3AD203B41FA5}">
                      <a16:colId xmlns:a16="http://schemas.microsoft.com/office/drawing/2014/main" val="708217458"/>
                    </a:ext>
                  </a:extLst>
                </a:gridCol>
                <a:gridCol w="1293371">
                  <a:extLst>
                    <a:ext uri="{9D8B030D-6E8A-4147-A177-3AD203B41FA5}">
                      <a16:colId xmlns:a16="http://schemas.microsoft.com/office/drawing/2014/main" val="1354287098"/>
                    </a:ext>
                  </a:extLst>
                </a:gridCol>
                <a:gridCol w="1401152">
                  <a:extLst>
                    <a:ext uri="{9D8B030D-6E8A-4147-A177-3AD203B41FA5}">
                      <a16:colId xmlns:a16="http://schemas.microsoft.com/office/drawing/2014/main" val="1992049283"/>
                    </a:ext>
                  </a:extLst>
                </a:gridCol>
                <a:gridCol w="2142145">
                  <a:extLst>
                    <a:ext uri="{9D8B030D-6E8A-4147-A177-3AD203B41FA5}">
                      <a16:colId xmlns:a16="http://schemas.microsoft.com/office/drawing/2014/main" val="2334715101"/>
                    </a:ext>
                  </a:extLst>
                </a:gridCol>
              </a:tblGrid>
              <a:tr h="284147">
                <a:tc>
                  <a:txBody>
                    <a:bodyPr/>
                    <a:lstStyle/>
                    <a:p>
                      <a:pPr algn="ctr" rtl="0" fontAlgn="base">
                        <a:lnSpc>
                          <a:spcPts val="1350"/>
                        </a:lnSpc>
                        <a:buNone/>
                      </a:pPr>
                      <a:r>
                        <a:rPr lang="en-US" sz="1800" b="1" i="0" u="none" strike="noStrike">
                          <a:solidFill>
                            <a:srgbClr val="FFFFFF"/>
                          </a:solidFill>
                          <a:effectLst/>
                          <a:latin typeface="Aptos"/>
                        </a:rPr>
                        <a:t>Carrier</a:t>
                      </a:r>
                      <a:r>
                        <a:rPr lang="en-US" sz="1800" b="1" i="0" dirty="0">
                          <a:solidFill>
                            <a:srgbClr val="FFFFFF"/>
                          </a:solidFill>
                          <a:effectLst/>
                          <a:latin typeface="Aptos"/>
                        </a:rPr>
                        <a:t> </a:t>
                      </a:r>
                    </a:p>
                  </a:txBody>
                  <a:tcPr marL="66675" marR="66675">
                    <a:lnL w="9525" cap="flat" cmpd="sng" algn="ctr">
                      <a:solidFill>
                        <a:srgbClr val="3055B4"/>
                      </a:solidFill>
                      <a:prstDash val="solid"/>
                      <a:round/>
                      <a:headEnd type="none" w="med" len="med"/>
                      <a:tailEnd type="none" w="med" len="med"/>
                    </a:lnL>
                    <a:lnR>
                      <a:noFill/>
                    </a:lnR>
                    <a:lnT w="9525" cap="flat" cmpd="sng" algn="ctr">
                      <a:solidFill>
                        <a:srgbClr val="3055B4"/>
                      </a:solidFill>
                      <a:prstDash val="solid"/>
                      <a:round/>
                      <a:headEnd type="none" w="med" len="med"/>
                      <a:tailEnd type="none" w="med" len="med"/>
                    </a:lnT>
                    <a:lnB w="9525" cap="flat" cmpd="sng" algn="ctr">
                      <a:solidFill>
                        <a:srgbClr val="45B0E1"/>
                      </a:solidFill>
                      <a:prstDash val="solid"/>
                      <a:round/>
                      <a:headEnd type="none" w="med" len="med"/>
                      <a:tailEnd type="none" w="med" len="med"/>
                    </a:lnB>
                    <a:solidFill>
                      <a:srgbClr val="156082"/>
                    </a:solidFill>
                  </a:tcPr>
                </a:tc>
                <a:tc>
                  <a:txBody>
                    <a:bodyPr/>
                    <a:lstStyle/>
                    <a:p>
                      <a:pPr algn="ctr" rtl="0" fontAlgn="base">
                        <a:lnSpc>
                          <a:spcPts val="1350"/>
                        </a:lnSpc>
                        <a:buNone/>
                      </a:pPr>
                      <a:r>
                        <a:rPr lang="en-US" sz="1800" b="1" i="0" u="none" strike="noStrike">
                          <a:solidFill>
                            <a:srgbClr val="FFFFFF"/>
                          </a:solidFill>
                          <a:effectLst/>
                          <a:latin typeface="Aptos"/>
                        </a:rPr>
                        <a:t>2026</a:t>
                      </a:r>
                      <a:r>
                        <a:rPr lang="en-US" sz="1800" b="1" i="0" dirty="0">
                          <a:solidFill>
                            <a:srgbClr val="FFFFFF"/>
                          </a:solidFill>
                          <a:effectLst/>
                          <a:latin typeface="Aptos"/>
                        </a:rPr>
                        <a:t> </a:t>
                      </a:r>
                    </a:p>
                  </a:txBody>
                  <a:tcPr marL="66675" marR="66675">
                    <a:lnL>
                      <a:noFill/>
                    </a:lnL>
                    <a:lnR>
                      <a:noFill/>
                    </a:lnR>
                    <a:lnT w="9525" cap="flat" cmpd="sng" algn="ctr">
                      <a:solidFill>
                        <a:srgbClr val="B0E8B9"/>
                      </a:solidFill>
                      <a:prstDash val="solid"/>
                      <a:round/>
                      <a:headEnd type="none" w="med" len="med"/>
                      <a:tailEnd type="none" w="med" len="med"/>
                    </a:lnT>
                    <a:lnB w="9525" cap="flat" cmpd="sng" algn="ctr">
                      <a:solidFill>
                        <a:srgbClr val="45B0E1"/>
                      </a:solidFill>
                      <a:prstDash val="solid"/>
                      <a:round/>
                      <a:headEnd type="none" w="med" len="med"/>
                      <a:tailEnd type="none" w="med" len="med"/>
                    </a:lnB>
                    <a:solidFill>
                      <a:srgbClr val="156082"/>
                    </a:solidFill>
                  </a:tcPr>
                </a:tc>
                <a:tc>
                  <a:txBody>
                    <a:bodyPr/>
                    <a:lstStyle/>
                    <a:p>
                      <a:pPr algn="ctr" rtl="0" fontAlgn="base">
                        <a:lnSpc>
                          <a:spcPts val="1350"/>
                        </a:lnSpc>
                        <a:buNone/>
                      </a:pPr>
                      <a:r>
                        <a:rPr lang="en-US" sz="1800" b="1" i="0" u="none" strike="noStrike">
                          <a:solidFill>
                            <a:srgbClr val="FFFFFF"/>
                          </a:solidFill>
                          <a:effectLst/>
                          <a:latin typeface="Aptos"/>
                        </a:rPr>
                        <a:t>2028</a:t>
                      </a:r>
                      <a:r>
                        <a:rPr lang="en-US" sz="1800" b="1" i="0" dirty="0">
                          <a:solidFill>
                            <a:srgbClr val="FFFFFF"/>
                          </a:solidFill>
                          <a:effectLst/>
                          <a:latin typeface="Aptos"/>
                        </a:rPr>
                        <a:t> </a:t>
                      </a:r>
                    </a:p>
                  </a:txBody>
                  <a:tcPr marL="66675" marR="66675">
                    <a:lnL>
                      <a:noFill/>
                    </a:lnL>
                    <a:lnR>
                      <a:noFill/>
                    </a:lnR>
                    <a:lnT w="9525" cap="flat" cmpd="sng" algn="ctr">
                      <a:solidFill>
                        <a:srgbClr val="10EEB9"/>
                      </a:solidFill>
                      <a:prstDash val="solid"/>
                      <a:round/>
                      <a:headEnd type="none" w="med" len="med"/>
                      <a:tailEnd type="none" w="med" len="med"/>
                    </a:lnT>
                    <a:lnB w="9525" cap="flat" cmpd="sng" algn="ctr">
                      <a:solidFill>
                        <a:srgbClr val="45B0E1"/>
                      </a:solidFill>
                      <a:prstDash val="solid"/>
                      <a:round/>
                      <a:headEnd type="none" w="med" len="med"/>
                      <a:tailEnd type="none" w="med" len="med"/>
                    </a:lnB>
                    <a:solidFill>
                      <a:srgbClr val="156082"/>
                    </a:solidFill>
                  </a:tcPr>
                </a:tc>
                <a:tc>
                  <a:txBody>
                    <a:bodyPr/>
                    <a:lstStyle/>
                    <a:p>
                      <a:pPr algn="ctr" rtl="0" fontAlgn="base">
                        <a:lnSpc>
                          <a:spcPts val="1350"/>
                        </a:lnSpc>
                        <a:buNone/>
                      </a:pPr>
                      <a:r>
                        <a:rPr lang="en-US" sz="1800" b="1" i="0" u="none" strike="noStrike">
                          <a:solidFill>
                            <a:srgbClr val="FFFFFF"/>
                          </a:solidFill>
                          <a:effectLst/>
                          <a:latin typeface="Aptos"/>
                        </a:rPr>
                        <a:t>2030</a:t>
                      </a:r>
                      <a:r>
                        <a:rPr lang="en-US" sz="1800" b="1" i="0" dirty="0">
                          <a:solidFill>
                            <a:srgbClr val="FFFFFF"/>
                          </a:solidFill>
                          <a:effectLst/>
                          <a:latin typeface="Aptos"/>
                        </a:rPr>
                        <a:t> </a:t>
                      </a:r>
                    </a:p>
                  </a:txBody>
                  <a:tcPr marL="66675" marR="66675">
                    <a:lnL>
                      <a:noFill/>
                    </a:lnL>
                    <a:lnR>
                      <a:noFill/>
                    </a:lnR>
                    <a:lnT w="9525" cap="flat" cmpd="sng" algn="ctr">
                      <a:solidFill>
                        <a:srgbClr val="B0F3B9"/>
                      </a:solidFill>
                      <a:prstDash val="solid"/>
                      <a:round/>
                      <a:headEnd type="none" w="med" len="med"/>
                      <a:tailEnd type="none" w="med" len="med"/>
                    </a:lnT>
                    <a:lnB w="9525" cap="flat" cmpd="sng" algn="ctr">
                      <a:solidFill>
                        <a:srgbClr val="45B0E1"/>
                      </a:solidFill>
                      <a:prstDash val="solid"/>
                      <a:round/>
                      <a:headEnd type="none" w="med" len="med"/>
                      <a:tailEnd type="none" w="med" len="med"/>
                    </a:lnB>
                    <a:solidFill>
                      <a:srgbClr val="156082"/>
                    </a:solidFill>
                  </a:tcPr>
                </a:tc>
                <a:tc>
                  <a:txBody>
                    <a:bodyPr/>
                    <a:lstStyle/>
                    <a:p>
                      <a:pPr algn="ctr" rtl="0" fontAlgn="base">
                        <a:lnSpc>
                          <a:spcPts val="1350"/>
                        </a:lnSpc>
                        <a:buNone/>
                      </a:pPr>
                      <a:r>
                        <a:rPr lang="en-US" sz="1800" b="1" i="0" u="none" strike="noStrike">
                          <a:solidFill>
                            <a:srgbClr val="FFFFFF"/>
                          </a:solidFill>
                          <a:effectLst/>
                          <a:latin typeface="Aptos"/>
                        </a:rPr>
                        <a:t>Trend</a:t>
                      </a:r>
                      <a:r>
                        <a:rPr lang="en-US" sz="1800" b="1" i="0" dirty="0">
                          <a:solidFill>
                            <a:srgbClr val="FFFFFF"/>
                          </a:solidFill>
                          <a:effectLst/>
                          <a:latin typeface="Aptos"/>
                        </a:rPr>
                        <a:t> </a:t>
                      </a:r>
                    </a:p>
                  </a:txBody>
                  <a:tcPr marL="66675" marR="66675">
                    <a:lnL>
                      <a:noFill/>
                    </a:lnL>
                    <a:lnR w="9525" cap="flat" cmpd="sng" algn="ctr">
                      <a:solidFill>
                        <a:srgbClr val="70F2B9"/>
                      </a:solidFill>
                      <a:prstDash val="solid"/>
                      <a:round/>
                      <a:headEnd type="none" w="med" len="med"/>
                      <a:tailEnd type="none" w="med" len="med"/>
                    </a:lnR>
                    <a:lnT w="9525" cap="flat" cmpd="sng" algn="ctr">
                      <a:solidFill>
                        <a:srgbClr val="70F2B9"/>
                      </a:solidFill>
                      <a:prstDash val="solid"/>
                      <a:round/>
                      <a:headEnd type="none" w="med" len="med"/>
                      <a:tailEnd type="none" w="med" len="med"/>
                    </a:lnT>
                    <a:lnB w="9525" cap="flat" cmpd="sng" algn="ctr">
                      <a:solidFill>
                        <a:srgbClr val="45B0E1"/>
                      </a:solidFill>
                      <a:prstDash val="solid"/>
                      <a:round/>
                      <a:headEnd type="none" w="med" len="med"/>
                      <a:tailEnd type="none" w="med" len="med"/>
                    </a:lnB>
                    <a:solidFill>
                      <a:srgbClr val="156082"/>
                    </a:solidFill>
                  </a:tcPr>
                </a:tc>
                <a:extLst>
                  <a:ext uri="{0D108BD9-81ED-4DB2-BD59-A6C34878D82A}">
                    <a16:rowId xmlns:a16="http://schemas.microsoft.com/office/drawing/2014/main" val="1856546564"/>
                  </a:ext>
                </a:extLst>
              </a:tr>
              <a:tr h="284147">
                <a:tc>
                  <a:txBody>
                    <a:bodyPr/>
                    <a:lstStyle/>
                    <a:p>
                      <a:pPr algn="ctr" rtl="0" fontAlgn="base">
                        <a:lnSpc>
                          <a:spcPts val="1350"/>
                        </a:lnSpc>
                        <a:buNone/>
                      </a:pPr>
                      <a:r>
                        <a:rPr lang="en-US" sz="1800" b="0" i="0" u="none" strike="noStrike">
                          <a:solidFill>
                            <a:srgbClr val="000000"/>
                          </a:solidFill>
                          <a:effectLst/>
                          <a:latin typeface="Aptos"/>
                        </a:rPr>
                        <a:t>NJ Transit</a:t>
                      </a:r>
                      <a:r>
                        <a:rPr lang="en-US" sz="1800" b="1" i="0" dirty="0">
                          <a:solidFill>
                            <a:srgbClr val="000000"/>
                          </a:solidFill>
                          <a:effectLst/>
                          <a:latin typeface="Aptos"/>
                        </a:rPr>
                        <a:t> </a:t>
                      </a:r>
                      <a:endParaRPr lang="en-US" sz="1800" b="1" i="0" dirty="0">
                        <a:effectLst/>
                        <a:latin typeface="Aptos"/>
                      </a:endParaRPr>
                    </a:p>
                  </a:txBody>
                  <a:tcPr marL="66675" marR="66675">
                    <a:lnL w="9525" cap="flat" cmpd="sng" algn="ctr">
                      <a:solidFill>
                        <a:srgbClr val="45B0E1"/>
                      </a:solidFill>
                      <a:prstDash val="solid"/>
                      <a:round/>
                      <a:headEnd type="none" w="med" len="med"/>
                      <a:tailEnd type="none" w="med" len="med"/>
                    </a:lnL>
                    <a:lnR w="9525" cap="flat" cmpd="sng" algn="ctr">
                      <a:solidFill>
                        <a:srgbClr val="45B0E1"/>
                      </a:solidFill>
                      <a:prstDash val="solid"/>
                      <a:round/>
                      <a:headEnd type="none" w="med" len="med"/>
                      <a:tailEnd type="none" w="med" len="med"/>
                    </a:lnR>
                    <a:lnT w="9525" cap="flat" cmpd="sng" algn="ctr">
                      <a:solidFill>
                        <a:srgbClr val="45B0E1"/>
                      </a:solidFill>
                      <a:prstDash val="solid"/>
                      <a:round/>
                      <a:headEnd type="none" w="med" len="med"/>
                      <a:tailEnd type="none" w="med" len="med"/>
                    </a:lnT>
                    <a:lnB w="9525" cap="flat" cmpd="sng" algn="ctr">
                      <a:solidFill>
                        <a:srgbClr val="45B0E1"/>
                      </a:solidFill>
                      <a:prstDash val="solid"/>
                      <a:round/>
                      <a:headEnd type="none" w="med" len="med"/>
                      <a:tailEnd type="none" w="med" len="med"/>
                    </a:lnB>
                    <a:noFill/>
                  </a:tcPr>
                </a:tc>
                <a:tc>
                  <a:txBody>
                    <a:bodyPr/>
                    <a:lstStyle/>
                    <a:p>
                      <a:pPr algn="ctr" rtl="0" fontAlgn="base">
                        <a:lnSpc>
                          <a:spcPts val="1350"/>
                        </a:lnSpc>
                        <a:buNone/>
                      </a:pPr>
                      <a:r>
                        <a:rPr lang="en-US" sz="1800" b="0" i="0" u="none" strike="noStrike">
                          <a:solidFill>
                            <a:srgbClr val="000000"/>
                          </a:solidFill>
                          <a:effectLst/>
                          <a:latin typeface="Aptos"/>
                        </a:rPr>
                        <a:t>4.8 M</a:t>
                      </a:r>
                      <a:r>
                        <a:rPr lang="en-US" sz="1800" b="0" i="0" dirty="0">
                          <a:solidFill>
                            <a:srgbClr val="000000"/>
                          </a:solidFill>
                          <a:effectLst/>
                          <a:latin typeface="Aptos"/>
                        </a:rPr>
                        <a:t> </a:t>
                      </a:r>
                      <a:endParaRPr lang="en-US" sz="1800" b="0" i="0" dirty="0">
                        <a:effectLst/>
                        <a:latin typeface="Aptos"/>
                      </a:endParaRPr>
                    </a:p>
                  </a:txBody>
                  <a:tcPr marL="66675" marR="66675">
                    <a:lnL w="9525" cap="flat" cmpd="sng" algn="ctr">
                      <a:solidFill>
                        <a:srgbClr val="45B0E1"/>
                      </a:solidFill>
                      <a:prstDash val="solid"/>
                      <a:round/>
                      <a:headEnd type="none" w="med" len="med"/>
                      <a:tailEnd type="none" w="med" len="med"/>
                    </a:lnL>
                    <a:lnR w="9525" cap="flat" cmpd="sng" algn="ctr">
                      <a:solidFill>
                        <a:srgbClr val="45B0E1"/>
                      </a:solidFill>
                      <a:prstDash val="solid"/>
                      <a:round/>
                      <a:headEnd type="none" w="med" len="med"/>
                      <a:tailEnd type="none" w="med" len="med"/>
                    </a:lnR>
                    <a:lnT w="9525" cap="flat" cmpd="sng" algn="ctr">
                      <a:solidFill>
                        <a:srgbClr val="45B0E1"/>
                      </a:solidFill>
                      <a:prstDash val="solid"/>
                      <a:round/>
                      <a:headEnd type="none" w="med" len="med"/>
                      <a:tailEnd type="none" w="med" len="med"/>
                    </a:lnT>
                    <a:lnB w="9525" cap="flat" cmpd="sng" algn="ctr">
                      <a:solidFill>
                        <a:srgbClr val="45B0E1"/>
                      </a:solidFill>
                      <a:prstDash val="solid"/>
                      <a:round/>
                      <a:headEnd type="none" w="med" len="med"/>
                      <a:tailEnd type="none" w="med" len="med"/>
                    </a:lnB>
                    <a:noFill/>
                  </a:tcPr>
                </a:tc>
                <a:tc>
                  <a:txBody>
                    <a:bodyPr/>
                    <a:lstStyle/>
                    <a:p>
                      <a:pPr algn="ctr" rtl="0" fontAlgn="base">
                        <a:lnSpc>
                          <a:spcPts val="1350"/>
                        </a:lnSpc>
                        <a:buNone/>
                      </a:pPr>
                      <a:r>
                        <a:rPr lang="en-US" sz="1800" b="0" i="0" u="none" strike="noStrike">
                          <a:solidFill>
                            <a:srgbClr val="000000"/>
                          </a:solidFill>
                          <a:effectLst/>
                          <a:latin typeface="Aptos"/>
                        </a:rPr>
                        <a:t>5.3 M</a:t>
                      </a:r>
                      <a:r>
                        <a:rPr lang="en-US" sz="1800" b="0" i="0" dirty="0">
                          <a:solidFill>
                            <a:srgbClr val="000000"/>
                          </a:solidFill>
                          <a:effectLst/>
                          <a:latin typeface="Aptos"/>
                        </a:rPr>
                        <a:t> </a:t>
                      </a:r>
                      <a:endParaRPr lang="en-US" sz="1800" b="0" i="0" dirty="0">
                        <a:effectLst/>
                        <a:latin typeface="Aptos"/>
                      </a:endParaRPr>
                    </a:p>
                  </a:txBody>
                  <a:tcPr marL="66675" marR="66675">
                    <a:lnL w="9525" cap="flat" cmpd="sng" algn="ctr">
                      <a:solidFill>
                        <a:srgbClr val="45B0E1"/>
                      </a:solidFill>
                      <a:prstDash val="solid"/>
                      <a:round/>
                      <a:headEnd type="none" w="med" len="med"/>
                      <a:tailEnd type="none" w="med" len="med"/>
                    </a:lnL>
                    <a:lnR w="9525" cap="flat" cmpd="sng" algn="ctr">
                      <a:solidFill>
                        <a:srgbClr val="45B0E1"/>
                      </a:solidFill>
                      <a:prstDash val="solid"/>
                      <a:round/>
                      <a:headEnd type="none" w="med" len="med"/>
                      <a:tailEnd type="none" w="med" len="med"/>
                    </a:lnR>
                    <a:lnT w="9525" cap="flat" cmpd="sng" algn="ctr">
                      <a:solidFill>
                        <a:srgbClr val="45B0E1"/>
                      </a:solidFill>
                      <a:prstDash val="solid"/>
                      <a:round/>
                      <a:headEnd type="none" w="med" len="med"/>
                      <a:tailEnd type="none" w="med" len="med"/>
                    </a:lnT>
                    <a:lnB w="9525" cap="flat" cmpd="sng" algn="ctr">
                      <a:solidFill>
                        <a:srgbClr val="45B0E1"/>
                      </a:solidFill>
                      <a:prstDash val="solid"/>
                      <a:round/>
                      <a:headEnd type="none" w="med" len="med"/>
                      <a:tailEnd type="none" w="med" len="med"/>
                    </a:lnB>
                    <a:noFill/>
                  </a:tcPr>
                </a:tc>
                <a:tc>
                  <a:txBody>
                    <a:bodyPr/>
                    <a:lstStyle/>
                    <a:p>
                      <a:pPr algn="ctr" rtl="0" fontAlgn="base">
                        <a:lnSpc>
                          <a:spcPts val="1350"/>
                        </a:lnSpc>
                        <a:buNone/>
                      </a:pPr>
                      <a:r>
                        <a:rPr lang="en-US" sz="1800" b="0" i="0" u="none" strike="noStrike">
                          <a:solidFill>
                            <a:srgbClr val="000000"/>
                          </a:solidFill>
                          <a:effectLst/>
                          <a:latin typeface="Aptos"/>
                        </a:rPr>
                        <a:t>5.8 M</a:t>
                      </a:r>
                      <a:r>
                        <a:rPr lang="en-US" sz="1800" b="0" i="0" dirty="0">
                          <a:solidFill>
                            <a:srgbClr val="000000"/>
                          </a:solidFill>
                          <a:effectLst/>
                          <a:latin typeface="Aptos"/>
                        </a:rPr>
                        <a:t> </a:t>
                      </a:r>
                      <a:endParaRPr lang="en-US" sz="1800" b="0" i="0" dirty="0">
                        <a:effectLst/>
                        <a:latin typeface="Aptos"/>
                      </a:endParaRPr>
                    </a:p>
                  </a:txBody>
                  <a:tcPr marL="66675" marR="66675">
                    <a:lnL w="9525" cap="flat" cmpd="sng" algn="ctr">
                      <a:solidFill>
                        <a:srgbClr val="45B0E1"/>
                      </a:solidFill>
                      <a:prstDash val="solid"/>
                      <a:round/>
                      <a:headEnd type="none" w="med" len="med"/>
                      <a:tailEnd type="none" w="med" len="med"/>
                    </a:lnL>
                    <a:lnR w="9525" cap="flat" cmpd="sng" algn="ctr">
                      <a:solidFill>
                        <a:srgbClr val="45B0E1"/>
                      </a:solidFill>
                      <a:prstDash val="solid"/>
                      <a:round/>
                      <a:headEnd type="none" w="med" len="med"/>
                      <a:tailEnd type="none" w="med" len="med"/>
                    </a:lnR>
                    <a:lnT w="9525" cap="flat" cmpd="sng" algn="ctr">
                      <a:solidFill>
                        <a:srgbClr val="45B0E1"/>
                      </a:solidFill>
                      <a:prstDash val="solid"/>
                      <a:round/>
                      <a:headEnd type="none" w="med" len="med"/>
                      <a:tailEnd type="none" w="med" len="med"/>
                    </a:lnT>
                    <a:lnB w="9525" cap="flat" cmpd="sng" algn="ctr">
                      <a:solidFill>
                        <a:srgbClr val="45B0E1"/>
                      </a:solidFill>
                      <a:prstDash val="solid"/>
                      <a:round/>
                      <a:headEnd type="none" w="med" len="med"/>
                      <a:tailEnd type="none" w="med" len="med"/>
                    </a:lnB>
                    <a:noFill/>
                  </a:tcPr>
                </a:tc>
                <a:tc>
                  <a:txBody>
                    <a:bodyPr/>
                    <a:lstStyle/>
                    <a:p>
                      <a:pPr algn="ctr" rtl="0" fontAlgn="base">
                        <a:lnSpc>
                          <a:spcPts val="1350"/>
                        </a:lnSpc>
                        <a:buNone/>
                      </a:pPr>
                      <a:r>
                        <a:rPr lang="en-US" sz="1800" b="1" i="0" u="none" strike="noStrike">
                          <a:solidFill>
                            <a:srgbClr val="1E8449"/>
                          </a:solidFill>
                          <a:effectLst/>
                          <a:latin typeface="Aptos"/>
                        </a:rPr>
                        <a:t>↑</a:t>
                      </a:r>
                      <a:r>
                        <a:rPr lang="en-US" sz="1800" b="0" i="0" u="none" strike="noStrike">
                          <a:solidFill>
                            <a:srgbClr val="1E8449"/>
                          </a:solidFill>
                          <a:effectLst/>
                          <a:latin typeface="Aptos"/>
                        </a:rPr>
                        <a:t> Dominant</a:t>
                      </a:r>
                      <a:r>
                        <a:rPr lang="en-US" sz="1800" b="0" i="0" dirty="0">
                          <a:solidFill>
                            <a:srgbClr val="1E8449"/>
                          </a:solidFill>
                          <a:effectLst/>
                          <a:latin typeface="Aptos"/>
                        </a:rPr>
                        <a:t> </a:t>
                      </a:r>
                      <a:endParaRPr lang="en-US" sz="1800" b="0" i="0" dirty="0">
                        <a:effectLst/>
                        <a:latin typeface="Aptos"/>
                      </a:endParaRPr>
                    </a:p>
                  </a:txBody>
                  <a:tcPr marL="66675" marR="66675">
                    <a:lnL w="9525" cap="flat" cmpd="sng" algn="ctr">
                      <a:solidFill>
                        <a:srgbClr val="45B0E1"/>
                      </a:solidFill>
                      <a:prstDash val="solid"/>
                      <a:round/>
                      <a:headEnd type="none" w="med" len="med"/>
                      <a:tailEnd type="none" w="med" len="med"/>
                    </a:lnL>
                    <a:lnR w="9525" cap="flat" cmpd="sng" algn="ctr">
                      <a:solidFill>
                        <a:srgbClr val="45B0E1"/>
                      </a:solidFill>
                      <a:prstDash val="solid"/>
                      <a:round/>
                      <a:headEnd type="none" w="med" len="med"/>
                      <a:tailEnd type="none" w="med" len="med"/>
                    </a:lnR>
                    <a:lnT w="9525" cap="flat" cmpd="sng" algn="ctr">
                      <a:solidFill>
                        <a:srgbClr val="45B0E1"/>
                      </a:solidFill>
                      <a:prstDash val="solid"/>
                      <a:round/>
                      <a:headEnd type="none" w="med" len="med"/>
                      <a:tailEnd type="none" w="med" len="med"/>
                    </a:lnT>
                    <a:lnB w="9525" cap="flat" cmpd="sng" algn="ctr">
                      <a:solidFill>
                        <a:srgbClr val="45B0E1"/>
                      </a:solidFill>
                      <a:prstDash val="solid"/>
                      <a:round/>
                      <a:headEnd type="none" w="med" len="med"/>
                      <a:tailEnd type="none" w="med" len="med"/>
                    </a:lnB>
                    <a:noFill/>
                  </a:tcPr>
                </a:tc>
                <a:extLst>
                  <a:ext uri="{0D108BD9-81ED-4DB2-BD59-A6C34878D82A}">
                    <a16:rowId xmlns:a16="http://schemas.microsoft.com/office/drawing/2014/main" val="2146569708"/>
                  </a:ext>
                </a:extLst>
              </a:tr>
              <a:tr h="284147">
                <a:tc>
                  <a:txBody>
                    <a:bodyPr/>
                    <a:lstStyle/>
                    <a:p>
                      <a:pPr algn="ctr" rtl="0" fontAlgn="base">
                        <a:lnSpc>
                          <a:spcPts val="1350"/>
                        </a:lnSpc>
                        <a:buNone/>
                      </a:pPr>
                      <a:r>
                        <a:rPr lang="en-US" sz="1800" b="0" i="0" u="none" strike="noStrike">
                          <a:solidFill>
                            <a:srgbClr val="000000"/>
                          </a:solidFill>
                          <a:effectLst/>
                          <a:latin typeface="Aptos"/>
                        </a:rPr>
                        <a:t>Coach USA</a:t>
                      </a:r>
                      <a:r>
                        <a:rPr lang="en-US" sz="1800" b="1" i="0" dirty="0">
                          <a:solidFill>
                            <a:srgbClr val="000000"/>
                          </a:solidFill>
                          <a:effectLst/>
                          <a:latin typeface="Aptos"/>
                        </a:rPr>
                        <a:t> </a:t>
                      </a:r>
                      <a:endParaRPr lang="en-US" sz="1800" b="1" i="0" dirty="0">
                        <a:effectLst/>
                        <a:latin typeface="Aptos"/>
                      </a:endParaRPr>
                    </a:p>
                  </a:txBody>
                  <a:tcPr marL="66675" marR="66675">
                    <a:lnL w="9525" cap="flat" cmpd="sng" algn="ctr">
                      <a:solidFill>
                        <a:srgbClr val="45B0E1"/>
                      </a:solidFill>
                      <a:prstDash val="solid"/>
                      <a:round/>
                      <a:headEnd type="none" w="med" len="med"/>
                      <a:tailEnd type="none" w="med" len="med"/>
                    </a:lnL>
                    <a:lnR w="9525" cap="flat" cmpd="sng" algn="ctr">
                      <a:solidFill>
                        <a:srgbClr val="45B0E1"/>
                      </a:solidFill>
                      <a:prstDash val="solid"/>
                      <a:round/>
                      <a:headEnd type="none" w="med" len="med"/>
                      <a:tailEnd type="none" w="med" len="med"/>
                    </a:lnR>
                    <a:lnT w="9525" cap="flat" cmpd="sng" algn="ctr">
                      <a:solidFill>
                        <a:srgbClr val="45B0E1"/>
                      </a:solidFill>
                      <a:prstDash val="solid"/>
                      <a:round/>
                      <a:headEnd type="none" w="med" len="med"/>
                      <a:tailEnd type="none" w="med" len="med"/>
                    </a:lnT>
                    <a:lnB w="9525" cap="flat" cmpd="sng" algn="ctr">
                      <a:solidFill>
                        <a:srgbClr val="45B0E1"/>
                      </a:solidFill>
                      <a:prstDash val="solid"/>
                      <a:round/>
                      <a:headEnd type="none" w="med" len="med"/>
                      <a:tailEnd type="none" w="med" len="med"/>
                    </a:lnB>
                    <a:noFill/>
                  </a:tcPr>
                </a:tc>
                <a:tc>
                  <a:txBody>
                    <a:bodyPr/>
                    <a:lstStyle/>
                    <a:p>
                      <a:pPr algn="ctr" rtl="0" fontAlgn="base">
                        <a:lnSpc>
                          <a:spcPts val="1350"/>
                        </a:lnSpc>
                        <a:buNone/>
                      </a:pPr>
                      <a:r>
                        <a:rPr lang="en-US" sz="1800" b="0" i="0" u="none" strike="noStrike">
                          <a:solidFill>
                            <a:srgbClr val="000000"/>
                          </a:solidFill>
                          <a:effectLst/>
                          <a:latin typeface="Aptos"/>
                        </a:rPr>
                        <a:t>307 K</a:t>
                      </a:r>
                      <a:r>
                        <a:rPr lang="en-US" sz="1800" b="0" i="0" dirty="0">
                          <a:solidFill>
                            <a:srgbClr val="000000"/>
                          </a:solidFill>
                          <a:effectLst/>
                          <a:latin typeface="Aptos"/>
                        </a:rPr>
                        <a:t> </a:t>
                      </a:r>
                      <a:endParaRPr lang="en-US" sz="1800" b="0" i="0" dirty="0">
                        <a:effectLst/>
                        <a:latin typeface="Aptos"/>
                      </a:endParaRPr>
                    </a:p>
                  </a:txBody>
                  <a:tcPr marL="66675" marR="66675">
                    <a:lnL w="9525" cap="flat" cmpd="sng" algn="ctr">
                      <a:solidFill>
                        <a:srgbClr val="45B0E1"/>
                      </a:solidFill>
                      <a:prstDash val="solid"/>
                      <a:round/>
                      <a:headEnd type="none" w="med" len="med"/>
                      <a:tailEnd type="none" w="med" len="med"/>
                    </a:lnL>
                    <a:lnR w="9525" cap="flat" cmpd="sng" algn="ctr">
                      <a:solidFill>
                        <a:srgbClr val="45B0E1"/>
                      </a:solidFill>
                      <a:prstDash val="solid"/>
                      <a:round/>
                      <a:headEnd type="none" w="med" len="med"/>
                      <a:tailEnd type="none" w="med" len="med"/>
                    </a:lnR>
                    <a:lnT w="9525" cap="flat" cmpd="sng" algn="ctr">
                      <a:solidFill>
                        <a:srgbClr val="45B0E1"/>
                      </a:solidFill>
                      <a:prstDash val="solid"/>
                      <a:round/>
                      <a:headEnd type="none" w="med" len="med"/>
                      <a:tailEnd type="none" w="med" len="med"/>
                    </a:lnT>
                    <a:lnB w="9525" cap="flat" cmpd="sng" algn="ctr">
                      <a:solidFill>
                        <a:srgbClr val="45B0E1"/>
                      </a:solidFill>
                      <a:prstDash val="solid"/>
                      <a:round/>
                      <a:headEnd type="none" w="med" len="med"/>
                      <a:tailEnd type="none" w="med" len="med"/>
                    </a:lnB>
                    <a:noFill/>
                  </a:tcPr>
                </a:tc>
                <a:tc>
                  <a:txBody>
                    <a:bodyPr/>
                    <a:lstStyle/>
                    <a:p>
                      <a:pPr algn="ctr" rtl="0" fontAlgn="base">
                        <a:lnSpc>
                          <a:spcPts val="1350"/>
                        </a:lnSpc>
                        <a:buNone/>
                      </a:pPr>
                      <a:r>
                        <a:rPr lang="en-US" sz="1800" b="0" i="0" u="none" strike="noStrike">
                          <a:solidFill>
                            <a:srgbClr val="000000"/>
                          </a:solidFill>
                          <a:effectLst/>
                          <a:latin typeface="Aptos"/>
                        </a:rPr>
                        <a:t>336 K</a:t>
                      </a:r>
                      <a:r>
                        <a:rPr lang="en-US" sz="1800" b="0" i="0" dirty="0">
                          <a:solidFill>
                            <a:srgbClr val="000000"/>
                          </a:solidFill>
                          <a:effectLst/>
                          <a:latin typeface="Aptos"/>
                        </a:rPr>
                        <a:t> </a:t>
                      </a:r>
                      <a:endParaRPr lang="en-US" sz="1800" b="0" i="0" dirty="0">
                        <a:effectLst/>
                        <a:latin typeface="Aptos"/>
                      </a:endParaRPr>
                    </a:p>
                  </a:txBody>
                  <a:tcPr marL="66675" marR="66675">
                    <a:lnL w="9525" cap="flat" cmpd="sng" algn="ctr">
                      <a:solidFill>
                        <a:srgbClr val="45B0E1"/>
                      </a:solidFill>
                      <a:prstDash val="solid"/>
                      <a:round/>
                      <a:headEnd type="none" w="med" len="med"/>
                      <a:tailEnd type="none" w="med" len="med"/>
                    </a:lnL>
                    <a:lnR w="9525" cap="flat" cmpd="sng" algn="ctr">
                      <a:solidFill>
                        <a:srgbClr val="45B0E1"/>
                      </a:solidFill>
                      <a:prstDash val="solid"/>
                      <a:round/>
                      <a:headEnd type="none" w="med" len="med"/>
                      <a:tailEnd type="none" w="med" len="med"/>
                    </a:lnR>
                    <a:lnT w="9525" cap="flat" cmpd="sng" algn="ctr">
                      <a:solidFill>
                        <a:srgbClr val="45B0E1"/>
                      </a:solidFill>
                      <a:prstDash val="solid"/>
                      <a:round/>
                      <a:headEnd type="none" w="med" len="med"/>
                      <a:tailEnd type="none" w="med" len="med"/>
                    </a:lnT>
                    <a:lnB w="9525" cap="flat" cmpd="sng" algn="ctr">
                      <a:solidFill>
                        <a:srgbClr val="45B0E1"/>
                      </a:solidFill>
                      <a:prstDash val="solid"/>
                      <a:round/>
                      <a:headEnd type="none" w="med" len="med"/>
                      <a:tailEnd type="none" w="med" len="med"/>
                    </a:lnB>
                    <a:noFill/>
                  </a:tcPr>
                </a:tc>
                <a:tc>
                  <a:txBody>
                    <a:bodyPr/>
                    <a:lstStyle/>
                    <a:p>
                      <a:pPr algn="ctr" rtl="0" fontAlgn="base">
                        <a:lnSpc>
                          <a:spcPts val="1350"/>
                        </a:lnSpc>
                        <a:buNone/>
                      </a:pPr>
                      <a:r>
                        <a:rPr lang="en-US" sz="1800" b="0" i="0" u="none" strike="noStrike">
                          <a:solidFill>
                            <a:srgbClr val="000000"/>
                          </a:solidFill>
                          <a:effectLst/>
                          <a:latin typeface="Aptos"/>
                        </a:rPr>
                        <a:t>366 K</a:t>
                      </a:r>
                      <a:r>
                        <a:rPr lang="en-US" sz="1800" b="0" i="0" dirty="0">
                          <a:solidFill>
                            <a:srgbClr val="000000"/>
                          </a:solidFill>
                          <a:effectLst/>
                          <a:latin typeface="Aptos"/>
                        </a:rPr>
                        <a:t> </a:t>
                      </a:r>
                      <a:endParaRPr lang="en-US" sz="1800" b="0" i="0" dirty="0">
                        <a:effectLst/>
                        <a:latin typeface="Aptos"/>
                      </a:endParaRPr>
                    </a:p>
                  </a:txBody>
                  <a:tcPr marL="66675" marR="66675">
                    <a:lnL w="9525" cap="flat" cmpd="sng" algn="ctr">
                      <a:solidFill>
                        <a:srgbClr val="45B0E1"/>
                      </a:solidFill>
                      <a:prstDash val="solid"/>
                      <a:round/>
                      <a:headEnd type="none" w="med" len="med"/>
                      <a:tailEnd type="none" w="med" len="med"/>
                    </a:lnL>
                    <a:lnR w="9525" cap="flat" cmpd="sng" algn="ctr">
                      <a:solidFill>
                        <a:srgbClr val="45B0E1"/>
                      </a:solidFill>
                      <a:prstDash val="solid"/>
                      <a:round/>
                      <a:headEnd type="none" w="med" len="med"/>
                      <a:tailEnd type="none" w="med" len="med"/>
                    </a:lnR>
                    <a:lnT w="9525" cap="flat" cmpd="sng" algn="ctr">
                      <a:solidFill>
                        <a:srgbClr val="45B0E1"/>
                      </a:solidFill>
                      <a:prstDash val="solid"/>
                      <a:round/>
                      <a:headEnd type="none" w="med" len="med"/>
                      <a:tailEnd type="none" w="med" len="med"/>
                    </a:lnT>
                    <a:lnB w="9525" cap="flat" cmpd="sng" algn="ctr">
                      <a:solidFill>
                        <a:srgbClr val="45B0E1"/>
                      </a:solidFill>
                      <a:prstDash val="solid"/>
                      <a:round/>
                      <a:headEnd type="none" w="med" len="med"/>
                      <a:tailEnd type="none" w="med" len="med"/>
                    </a:lnB>
                    <a:noFill/>
                  </a:tcPr>
                </a:tc>
                <a:tc>
                  <a:txBody>
                    <a:bodyPr/>
                    <a:lstStyle/>
                    <a:p>
                      <a:pPr algn="ctr" rtl="0" fontAlgn="base">
                        <a:lnSpc>
                          <a:spcPts val="1350"/>
                        </a:lnSpc>
                        <a:buNone/>
                      </a:pPr>
                      <a:r>
                        <a:rPr lang="en-US" sz="1800" b="0" i="0" u="none" strike="noStrike">
                          <a:solidFill>
                            <a:srgbClr val="1E8449"/>
                          </a:solidFill>
                          <a:effectLst/>
                          <a:latin typeface="Aptos"/>
                        </a:rPr>
                        <a:t>↑ Growing</a:t>
                      </a:r>
                      <a:r>
                        <a:rPr lang="en-US" sz="1800" b="0" i="0" dirty="0">
                          <a:solidFill>
                            <a:srgbClr val="1E8449"/>
                          </a:solidFill>
                          <a:effectLst/>
                          <a:latin typeface="Aptos"/>
                        </a:rPr>
                        <a:t> </a:t>
                      </a:r>
                      <a:endParaRPr lang="en-US" sz="1800" b="0" i="0" dirty="0">
                        <a:effectLst/>
                        <a:latin typeface="Aptos"/>
                      </a:endParaRPr>
                    </a:p>
                  </a:txBody>
                  <a:tcPr marL="66675" marR="66675">
                    <a:lnL w="9525" cap="flat" cmpd="sng" algn="ctr">
                      <a:solidFill>
                        <a:srgbClr val="45B0E1"/>
                      </a:solidFill>
                      <a:prstDash val="solid"/>
                      <a:round/>
                      <a:headEnd type="none" w="med" len="med"/>
                      <a:tailEnd type="none" w="med" len="med"/>
                    </a:lnL>
                    <a:lnR w="9525" cap="flat" cmpd="sng" algn="ctr">
                      <a:solidFill>
                        <a:srgbClr val="45B0E1"/>
                      </a:solidFill>
                      <a:prstDash val="solid"/>
                      <a:round/>
                      <a:headEnd type="none" w="med" len="med"/>
                      <a:tailEnd type="none" w="med" len="med"/>
                    </a:lnR>
                    <a:lnT w="9525" cap="flat" cmpd="sng" algn="ctr">
                      <a:solidFill>
                        <a:srgbClr val="45B0E1"/>
                      </a:solidFill>
                      <a:prstDash val="solid"/>
                      <a:round/>
                      <a:headEnd type="none" w="med" len="med"/>
                      <a:tailEnd type="none" w="med" len="med"/>
                    </a:lnT>
                    <a:lnB w="9525" cap="flat" cmpd="sng" algn="ctr">
                      <a:solidFill>
                        <a:srgbClr val="45B0E1"/>
                      </a:solidFill>
                      <a:prstDash val="solid"/>
                      <a:round/>
                      <a:headEnd type="none" w="med" len="med"/>
                      <a:tailEnd type="none" w="med" len="med"/>
                    </a:lnB>
                    <a:noFill/>
                  </a:tcPr>
                </a:tc>
                <a:extLst>
                  <a:ext uri="{0D108BD9-81ED-4DB2-BD59-A6C34878D82A}">
                    <a16:rowId xmlns:a16="http://schemas.microsoft.com/office/drawing/2014/main" val="148905899"/>
                  </a:ext>
                </a:extLst>
              </a:tr>
              <a:tr h="284147">
                <a:tc>
                  <a:txBody>
                    <a:bodyPr/>
                    <a:lstStyle/>
                    <a:p>
                      <a:pPr algn="ctr" rtl="0" fontAlgn="base">
                        <a:lnSpc>
                          <a:spcPts val="1350"/>
                        </a:lnSpc>
                        <a:buNone/>
                      </a:pPr>
                      <a:r>
                        <a:rPr lang="en-US" sz="1800" b="0" i="0" u="none" strike="noStrike">
                          <a:solidFill>
                            <a:srgbClr val="000000"/>
                          </a:solidFill>
                          <a:effectLst/>
                          <a:latin typeface="Aptos"/>
                        </a:rPr>
                        <a:t>Peter Pan/Bonanza</a:t>
                      </a:r>
                      <a:r>
                        <a:rPr lang="en-US" sz="1800" b="1" i="0" dirty="0">
                          <a:solidFill>
                            <a:srgbClr val="000000"/>
                          </a:solidFill>
                          <a:effectLst/>
                          <a:latin typeface="Aptos"/>
                        </a:rPr>
                        <a:t> </a:t>
                      </a:r>
                      <a:endParaRPr lang="en-US" sz="1800" b="1" i="0" dirty="0">
                        <a:effectLst/>
                        <a:latin typeface="Aptos"/>
                      </a:endParaRPr>
                    </a:p>
                  </a:txBody>
                  <a:tcPr marL="66675" marR="66675">
                    <a:lnL w="9525" cap="flat" cmpd="sng" algn="ctr">
                      <a:solidFill>
                        <a:srgbClr val="45B0E1"/>
                      </a:solidFill>
                      <a:prstDash val="solid"/>
                      <a:round/>
                      <a:headEnd type="none" w="med" len="med"/>
                      <a:tailEnd type="none" w="med" len="med"/>
                    </a:lnL>
                    <a:lnR w="9525" cap="flat" cmpd="sng" algn="ctr">
                      <a:solidFill>
                        <a:srgbClr val="45B0E1"/>
                      </a:solidFill>
                      <a:prstDash val="solid"/>
                      <a:round/>
                      <a:headEnd type="none" w="med" len="med"/>
                      <a:tailEnd type="none" w="med" len="med"/>
                    </a:lnR>
                    <a:lnT w="9525" cap="flat" cmpd="sng" algn="ctr">
                      <a:solidFill>
                        <a:srgbClr val="45B0E1"/>
                      </a:solidFill>
                      <a:prstDash val="solid"/>
                      <a:round/>
                      <a:headEnd type="none" w="med" len="med"/>
                      <a:tailEnd type="none" w="med" len="med"/>
                    </a:lnT>
                    <a:lnB w="9525" cap="flat" cmpd="sng" algn="ctr">
                      <a:solidFill>
                        <a:srgbClr val="45B0E1"/>
                      </a:solidFill>
                      <a:prstDash val="solid"/>
                      <a:round/>
                      <a:headEnd type="none" w="med" len="med"/>
                      <a:tailEnd type="none" w="med" len="med"/>
                    </a:lnB>
                    <a:noFill/>
                  </a:tcPr>
                </a:tc>
                <a:tc>
                  <a:txBody>
                    <a:bodyPr/>
                    <a:lstStyle/>
                    <a:p>
                      <a:pPr algn="ctr" rtl="0" fontAlgn="base">
                        <a:lnSpc>
                          <a:spcPts val="1350"/>
                        </a:lnSpc>
                        <a:buNone/>
                      </a:pPr>
                      <a:r>
                        <a:rPr lang="en-US" sz="1800" b="0" i="0" u="none" strike="noStrike">
                          <a:solidFill>
                            <a:srgbClr val="000000"/>
                          </a:solidFill>
                          <a:effectLst/>
                          <a:latin typeface="Aptos"/>
                        </a:rPr>
                        <a:t>111 K</a:t>
                      </a:r>
                      <a:r>
                        <a:rPr lang="en-US" sz="1800" b="0" i="0" dirty="0">
                          <a:solidFill>
                            <a:srgbClr val="000000"/>
                          </a:solidFill>
                          <a:effectLst/>
                          <a:latin typeface="Aptos"/>
                        </a:rPr>
                        <a:t> </a:t>
                      </a:r>
                      <a:endParaRPr lang="en-US" sz="1800" b="0" i="0" dirty="0">
                        <a:effectLst/>
                        <a:latin typeface="Aptos"/>
                      </a:endParaRPr>
                    </a:p>
                  </a:txBody>
                  <a:tcPr marL="66675" marR="66675">
                    <a:lnL w="9525" cap="flat" cmpd="sng" algn="ctr">
                      <a:solidFill>
                        <a:srgbClr val="45B0E1"/>
                      </a:solidFill>
                      <a:prstDash val="solid"/>
                      <a:round/>
                      <a:headEnd type="none" w="med" len="med"/>
                      <a:tailEnd type="none" w="med" len="med"/>
                    </a:lnL>
                    <a:lnR w="9525" cap="flat" cmpd="sng" algn="ctr">
                      <a:solidFill>
                        <a:srgbClr val="45B0E1"/>
                      </a:solidFill>
                      <a:prstDash val="solid"/>
                      <a:round/>
                      <a:headEnd type="none" w="med" len="med"/>
                      <a:tailEnd type="none" w="med" len="med"/>
                    </a:lnR>
                    <a:lnT w="9525" cap="flat" cmpd="sng" algn="ctr">
                      <a:solidFill>
                        <a:srgbClr val="45B0E1"/>
                      </a:solidFill>
                      <a:prstDash val="solid"/>
                      <a:round/>
                      <a:headEnd type="none" w="med" len="med"/>
                      <a:tailEnd type="none" w="med" len="med"/>
                    </a:lnT>
                    <a:lnB w="9525" cap="flat" cmpd="sng" algn="ctr">
                      <a:solidFill>
                        <a:srgbClr val="45B0E1"/>
                      </a:solidFill>
                      <a:prstDash val="solid"/>
                      <a:round/>
                      <a:headEnd type="none" w="med" len="med"/>
                      <a:tailEnd type="none" w="med" len="med"/>
                    </a:lnB>
                    <a:noFill/>
                  </a:tcPr>
                </a:tc>
                <a:tc>
                  <a:txBody>
                    <a:bodyPr/>
                    <a:lstStyle/>
                    <a:p>
                      <a:pPr algn="ctr" rtl="0" fontAlgn="base">
                        <a:lnSpc>
                          <a:spcPts val="1350"/>
                        </a:lnSpc>
                        <a:buNone/>
                      </a:pPr>
                      <a:r>
                        <a:rPr lang="en-US" sz="1800" b="0" i="0" u="none" strike="noStrike">
                          <a:solidFill>
                            <a:srgbClr val="000000"/>
                          </a:solidFill>
                          <a:effectLst/>
                          <a:latin typeface="Aptos"/>
                        </a:rPr>
                        <a:t>161 K</a:t>
                      </a:r>
                      <a:r>
                        <a:rPr lang="en-US" sz="1800" b="0" i="0" dirty="0">
                          <a:solidFill>
                            <a:srgbClr val="000000"/>
                          </a:solidFill>
                          <a:effectLst/>
                          <a:latin typeface="Aptos"/>
                        </a:rPr>
                        <a:t> </a:t>
                      </a:r>
                      <a:endParaRPr lang="en-US" sz="1800" b="0" i="0" dirty="0">
                        <a:effectLst/>
                        <a:latin typeface="Aptos"/>
                      </a:endParaRPr>
                    </a:p>
                  </a:txBody>
                  <a:tcPr marL="66675" marR="66675">
                    <a:lnL w="9525" cap="flat" cmpd="sng" algn="ctr">
                      <a:solidFill>
                        <a:srgbClr val="45B0E1"/>
                      </a:solidFill>
                      <a:prstDash val="solid"/>
                      <a:round/>
                      <a:headEnd type="none" w="med" len="med"/>
                      <a:tailEnd type="none" w="med" len="med"/>
                    </a:lnL>
                    <a:lnR w="9525" cap="flat" cmpd="sng" algn="ctr">
                      <a:solidFill>
                        <a:srgbClr val="45B0E1"/>
                      </a:solidFill>
                      <a:prstDash val="solid"/>
                      <a:round/>
                      <a:headEnd type="none" w="med" len="med"/>
                      <a:tailEnd type="none" w="med" len="med"/>
                    </a:lnR>
                    <a:lnT w="9525" cap="flat" cmpd="sng" algn="ctr">
                      <a:solidFill>
                        <a:srgbClr val="45B0E1"/>
                      </a:solidFill>
                      <a:prstDash val="solid"/>
                      <a:round/>
                      <a:headEnd type="none" w="med" len="med"/>
                      <a:tailEnd type="none" w="med" len="med"/>
                    </a:lnT>
                    <a:lnB w="9525" cap="flat" cmpd="sng" algn="ctr">
                      <a:solidFill>
                        <a:srgbClr val="45B0E1"/>
                      </a:solidFill>
                      <a:prstDash val="solid"/>
                      <a:round/>
                      <a:headEnd type="none" w="med" len="med"/>
                      <a:tailEnd type="none" w="med" len="med"/>
                    </a:lnB>
                    <a:noFill/>
                  </a:tcPr>
                </a:tc>
                <a:tc>
                  <a:txBody>
                    <a:bodyPr/>
                    <a:lstStyle/>
                    <a:p>
                      <a:pPr algn="ctr" rtl="0" fontAlgn="base">
                        <a:lnSpc>
                          <a:spcPts val="1350"/>
                        </a:lnSpc>
                        <a:buNone/>
                      </a:pPr>
                      <a:r>
                        <a:rPr lang="en-US" sz="1800" b="0" i="0" u="none" strike="noStrike">
                          <a:solidFill>
                            <a:srgbClr val="000000"/>
                          </a:solidFill>
                          <a:effectLst/>
                          <a:latin typeface="Aptos"/>
                        </a:rPr>
                        <a:t>211 K</a:t>
                      </a:r>
                      <a:r>
                        <a:rPr lang="en-US" sz="1800" b="0" i="0" dirty="0">
                          <a:solidFill>
                            <a:srgbClr val="000000"/>
                          </a:solidFill>
                          <a:effectLst/>
                          <a:latin typeface="Aptos"/>
                        </a:rPr>
                        <a:t> </a:t>
                      </a:r>
                      <a:endParaRPr lang="en-US" sz="1800" b="0" i="0" dirty="0">
                        <a:effectLst/>
                        <a:latin typeface="Aptos"/>
                      </a:endParaRPr>
                    </a:p>
                  </a:txBody>
                  <a:tcPr marL="66675" marR="66675">
                    <a:lnL w="9525" cap="flat" cmpd="sng" algn="ctr">
                      <a:solidFill>
                        <a:srgbClr val="45B0E1"/>
                      </a:solidFill>
                      <a:prstDash val="solid"/>
                      <a:round/>
                      <a:headEnd type="none" w="med" len="med"/>
                      <a:tailEnd type="none" w="med" len="med"/>
                    </a:lnL>
                    <a:lnR w="9525" cap="flat" cmpd="sng" algn="ctr">
                      <a:solidFill>
                        <a:srgbClr val="45B0E1"/>
                      </a:solidFill>
                      <a:prstDash val="solid"/>
                      <a:round/>
                      <a:headEnd type="none" w="med" len="med"/>
                      <a:tailEnd type="none" w="med" len="med"/>
                    </a:lnR>
                    <a:lnT w="9525" cap="flat" cmpd="sng" algn="ctr">
                      <a:solidFill>
                        <a:srgbClr val="45B0E1"/>
                      </a:solidFill>
                      <a:prstDash val="solid"/>
                      <a:round/>
                      <a:headEnd type="none" w="med" len="med"/>
                      <a:tailEnd type="none" w="med" len="med"/>
                    </a:lnT>
                    <a:lnB w="9525" cap="flat" cmpd="sng" algn="ctr">
                      <a:solidFill>
                        <a:srgbClr val="45B0E1"/>
                      </a:solidFill>
                      <a:prstDash val="solid"/>
                      <a:round/>
                      <a:headEnd type="none" w="med" len="med"/>
                      <a:tailEnd type="none" w="med" len="med"/>
                    </a:lnB>
                    <a:noFill/>
                  </a:tcPr>
                </a:tc>
                <a:tc>
                  <a:txBody>
                    <a:bodyPr/>
                    <a:lstStyle/>
                    <a:p>
                      <a:pPr algn="ctr" rtl="0" fontAlgn="base">
                        <a:lnSpc>
                          <a:spcPts val="1350"/>
                        </a:lnSpc>
                        <a:buNone/>
                      </a:pPr>
                      <a:r>
                        <a:rPr lang="en-US" sz="1800" b="0" i="0" u="none" strike="noStrike">
                          <a:solidFill>
                            <a:srgbClr val="1E8449"/>
                          </a:solidFill>
                          <a:effectLst/>
                          <a:latin typeface="Aptos"/>
                        </a:rPr>
                        <a:t>↑ Strong</a:t>
                      </a:r>
                      <a:r>
                        <a:rPr lang="en-US" sz="1800" b="0" i="0" dirty="0">
                          <a:solidFill>
                            <a:srgbClr val="1E8449"/>
                          </a:solidFill>
                          <a:effectLst/>
                          <a:latin typeface="Aptos"/>
                        </a:rPr>
                        <a:t> </a:t>
                      </a:r>
                      <a:endParaRPr lang="en-US" sz="1800" b="0" i="0" dirty="0">
                        <a:effectLst/>
                        <a:latin typeface="Aptos"/>
                      </a:endParaRPr>
                    </a:p>
                  </a:txBody>
                  <a:tcPr marL="66675" marR="66675">
                    <a:lnL w="9525" cap="flat" cmpd="sng" algn="ctr">
                      <a:solidFill>
                        <a:srgbClr val="45B0E1"/>
                      </a:solidFill>
                      <a:prstDash val="solid"/>
                      <a:round/>
                      <a:headEnd type="none" w="med" len="med"/>
                      <a:tailEnd type="none" w="med" len="med"/>
                    </a:lnL>
                    <a:lnR w="9525" cap="flat" cmpd="sng" algn="ctr">
                      <a:solidFill>
                        <a:srgbClr val="45B0E1"/>
                      </a:solidFill>
                      <a:prstDash val="solid"/>
                      <a:round/>
                      <a:headEnd type="none" w="med" len="med"/>
                      <a:tailEnd type="none" w="med" len="med"/>
                    </a:lnR>
                    <a:lnT w="9525" cap="flat" cmpd="sng" algn="ctr">
                      <a:solidFill>
                        <a:srgbClr val="45B0E1"/>
                      </a:solidFill>
                      <a:prstDash val="solid"/>
                      <a:round/>
                      <a:headEnd type="none" w="med" len="med"/>
                      <a:tailEnd type="none" w="med" len="med"/>
                    </a:lnT>
                    <a:lnB w="9525" cap="flat" cmpd="sng" algn="ctr">
                      <a:solidFill>
                        <a:srgbClr val="45B0E1"/>
                      </a:solidFill>
                      <a:prstDash val="solid"/>
                      <a:round/>
                      <a:headEnd type="none" w="med" len="med"/>
                      <a:tailEnd type="none" w="med" len="med"/>
                    </a:lnB>
                    <a:noFill/>
                  </a:tcPr>
                </a:tc>
                <a:extLst>
                  <a:ext uri="{0D108BD9-81ED-4DB2-BD59-A6C34878D82A}">
                    <a16:rowId xmlns:a16="http://schemas.microsoft.com/office/drawing/2014/main" val="2339666150"/>
                  </a:ext>
                </a:extLst>
              </a:tr>
              <a:tr h="284147">
                <a:tc>
                  <a:txBody>
                    <a:bodyPr/>
                    <a:lstStyle/>
                    <a:p>
                      <a:pPr algn="ctr" rtl="0" fontAlgn="base">
                        <a:lnSpc>
                          <a:spcPts val="1350"/>
                        </a:lnSpc>
                        <a:buNone/>
                      </a:pPr>
                      <a:r>
                        <a:rPr lang="en-US" sz="1800" b="0" i="0" u="none" strike="noStrike">
                          <a:solidFill>
                            <a:srgbClr val="000000"/>
                          </a:solidFill>
                          <a:effectLst/>
                          <a:latin typeface="Aptos"/>
                        </a:rPr>
                        <a:t>Academy</a:t>
                      </a:r>
                      <a:r>
                        <a:rPr lang="en-US" sz="1800" b="1" i="0" dirty="0">
                          <a:solidFill>
                            <a:srgbClr val="000000"/>
                          </a:solidFill>
                          <a:effectLst/>
                          <a:latin typeface="Aptos"/>
                        </a:rPr>
                        <a:t> </a:t>
                      </a:r>
                      <a:endParaRPr lang="en-US" sz="1800" b="1" i="0" dirty="0">
                        <a:effectLst/>
                        <a:latin typeface="Aptos"/>
                      </a:endParaRPr>
                    </a:p>
                  </a:txBody>
                  <a:tcPr marL="66675" marR="66675">
                    <a:lnL w="9525" cap="flat" cmpd="sng" algn="ctr">
                      <a:solidFill>
                        <a:srgbClr val="45B0E1"/>
                      </a:solidFill>
                      <a:prstDash val="solid"/>
                      <a:round/>
                      <a:headEnd type="none" w="med" len="med"/>
                      <a:tailEnd type="none" w="med" len="med"/>
                    </a:lnL>
                    <a:lnR w="9525" cap="flat" cmpd="sng" algn="ctr">
                      <a:solidFill>
                        <a:srgbClr val="45B0E1"/>
                      </a:solidFill>
                      <a:prstDash val="solid"/>
                      <a:round/>
                      <a:headEnd type="none" w="med" len="med"/>
                      <a:tailEnd type="none" w="med" len="med"/>
                    </a:lnR>
                    <a:lnT w="9525" cap="flat" cmpd="sng" algn="ctr">
                      <a:solidFill>
                        <a:srgbClr val="45B0E1"/>
                      </a:solidFill>
                      <a:prstDash val="solid"/>
                      <a:round/>
                      <a:headEnd type="none" w="med" len="med"/>
                      <a:tailEnd type="none" w="med" len="med"/>
                    </a:lnT>
                    <a:lnB w="9525" cap="flat" cmpd="sng" algn="ctr">
                      <a:solidFill>
                        <a:srgbClr val="45B0E1"/>
                      </a:solidFill>
                      <a:prstDash val="solid"/>
                      <a:round/>
                      <a:headEnd type="none" w="med" len="med"/>
                      <a:tailEnd type="none" w="med" len="med"/>
                    </a:lnB>
                    <a:noFill/>
                  </a:tcPr>
                </a:tc>
                <a:tc>
                  <a:txBody>
                    <a:bodyPr/>
                    <a:lstStyle/>
                    <a:p>
                      <a:pPr algn="ctr" rtl="0" fontAlgn="base">
                        <a:lnSpc>
                          <a:spcPts val="1350"/>
                        </a:lnSpc>
                        <a:buNone/>
                      </a:pPr>
                      <a:r>
                        <a:rPr lang="en-US" sz="1800" b="0" i="0" u="none" strike="noStrike">
                          <a:solidFill>
                            <a:srgbClr val="000000"/>
                          </a:solidFill>
                          <a:effectLst/>
                          <a:latin typeface="Aptos"/>
                        </a:rPr>
                        <a:t>87K</a:t>
                      </a:r>
                      <a:r>
                        <a:rPr lang="en-US" sz="1800" b="0" i="0" dirty="0">
                          <a:solidFill>
                            <a:srgbClr val="000000"/>
                          </a:solidFill>
                          <a:effectLst/>
                          <a:latin typeface="Aptos"/>
                        </a:rPr>
                        <a:t> </a:t>
                      </a:r>
                      <a:endParaRPr lang="en-US" sz="1800" b="0" i="0" dirty="0">
                        <a:effectLst/>
                        <a:latin typeface="Aptos"/>
                      </a:endParaRPr>
                    </a:p>
                  </a:txBody>
                  <a:tcPr marL="66675" marR="66675">
                    <a:lnL w="9525" cap="flat" cmpd="sng" algn="ctr">
                      <a:solidFill>
                        <a:srgbClr val="45B0E1"/>
                      </a:solidFill>
                      <a:prstDash val="solid"/>
                      <a:round/>
                      <a:headEnd type="none" w="med" len="med"/>
                      <a:tailEnd type="none" w="med" len="med"/>
                    </a:lnL>
                    <a:lnR w="9525" cap="flat" cmpd="sng" algn="ctr">
                      <a:solidFill>
                        <a:srgbClr val="45B0E1"/>
                      </a:solidFill>
                      <a:prstDash val="solid"/>
                      <a:round/>
                      <a:headEnd type="none" w="med" len="med"/>
                      <a:tailEnd type="none" w="med" len="med"/>
                    </a:lnR>
                    <a:lnT w="9525" cap="flat" cmpd="sng" algn="ctr">
                      <a:solidFill>
                        <a:srgbClr val="45B0E1"/>
                      </a:solidFill>
                      <a:prstDash val="solid"/>
                      <a:round/>
                      <a:headEnd type="none" w="med" len="med"/>
                      <a:tailEnd type="none" w="med" len="med"/>
                    </a:lnT>
                    <a:lnB w="9525" cap="flat" cmpd="sng" algn="ctr">
                      <a:solidFill>
                        <a:srgbClr val="45B0E1"/>
                      </a:solidFill>
                      <a:prstDash val="solid"/>
                      <a:round/>
                      <a:headEnd type="none" w="med" len="med"/>
                      <a:tailEnd type="none" w="med" len="med"/>
                    </a:lnB>
                    <a:noFill/>
                  </a:tcPr>
                </a:tc>
                <a:tc>
                  <a:txBody>
                    <a:bodyPr/>
                    <a:lstStyle/>
                    <a:p>
                      <a:pPr algn="ctr" rtl="0" fontAlgn="base">
                        <a:lnSpc>
                          <a:spcPts val="1350"/>
                        </a:lnSpc>
                        <a:buNone/>
                      </a:pPr>
                      <a:r>
                        <a:rPr lang="en-US" sz="1800" b="0" i="0" u="none" strike="noStrike">
                          <a:solidFill>
                            <a:srgbClr val="000000"/>
                          </a:solidFill>
                          <a:effectLst/>
                          <a:latin typeface="Aptos"/>
                        </a:rPr>
                        <a:t>105 K</a:t>
                      </a:r>
                      <a:r>
                        <a:rPr lang="en-US" sz="1800" b="0" i="0" dirty="0">
                          <a:solidFill>
                            <a:srgbClr val="000000"/>
                          </a:solidFill>
                          <a:effectLst/>
                          <a:latin typeface="Aptos"/>
                        </a:rPr>
                        <a:t> </a:t>
                      </a:r>
                      <a:endParaRPr lang="en-US" sz="1800" b="0" i="0" dirty="0">
                        <a:effectLst/>
                        <a:latin typeface="Aptos"/>
                      </a:endParaRPr>
                    </a:p>
                  </a:txBody>
                  <a:tcPr marL="66675" marR="66675">
                    <a:lnL w="9525" cap="flat" cmpd="sng" algn="ctr">
                      <a:solidFill>
                        <a:srgbClr val="45B0E1"/>
                      </a:solidFill>
                      <a:prstDash val="solid"/>
                      <a:round/>
                      <a:headEnd type="none" w="med" len="med"/>
                      <a:tailEnd type="none" w="med" len="med"/>
                    </a:lnL>
                    <a:lnR w="9525" cap="flat" cmpd="sng" algn="ctr">
                      <a:solidFill>
                        <a:srgbClr val="45B0E1"/>
                      </a:solidFill>
                      <a:prstDash val="solid"/>
                      <a:round/>
                      <a:headEnd type="none" w="med" len="med"/>
                      <a:tailEnd type="none" w="med" len="med"/>
                    </a:lnR>
                    <a:lnT w="9525" cap="flat" cmpd="sng" algn="ctr">
                      <a:solidFill>
                        <a:srgbClr val="45B0E1"/>
                      </a:solidFill>
                      <a:prstDash val="solid"/>
                      <a:round/>
                      <a:headEnd type="none" w="med" len="med"/>
                      <a:tailEnd type="none" w="med" len="med"/>
                    </a:lnT>
                    <a:lnB w="9525" cap="flat" cmpd="sng" algn="ctr">
                      <a:solidFill>
                        <a:srgbClr val="45B0E1"/>
                      </a:solidFill>
                      <a:prstDash val="solid"/>
                      <a:round/>
                      <a:headEnd type="none" w="med" len="med"/>
                      <a:tailEnd type="none" w="med" len="med"/>
                    </a:lnB>
                    <a:noFill/>
                  </a:tcPr>
                </a:tc>
                <a:tc>
                  <a:txBody>
                    <a:bodyPr/>
                    <a:lstStyle/>
                    <a:p>
                      <a:pPr algn="ctr" rtl="0" fontAlgn="base">
                        <a:lnSpc>
                          <a:spcPts val="1350"/>
                        </a:lnSpc>
                        <a:buNone/>
                      </a:pPr>
                      <a:r>
                        <a:rPr lang="en-US" sz="1800" b="0" i="0" u="none" strike="noStrike">
                          <a:solidFill>
                            <a:srgbClr val="000000"/>
                          </a:solidFill>
                          <a:effectLst/>
                          <a:latin typeface="Aptos"/>
                        </a:rPr>
                        <a:t>123 K</a:t>
                      </a:r>
                      <a:r>
                        <a:rPr lang="en-US" sz="1800" b="0" i="0" dirty="0">
                          <a:solidFill>
                            <a:srgbClr val="000000"/>
                          </a:solidFill>
                          <a:effectLst/>
                          <a:latin typeface="Aptos"/>
                        </a:rPr>
                        <a:t> </a:t>
                      </a:r>
                      <a:endParaRPr lang="en-US" sz="1800" b="0" i="0" dirty="0">
                        <a:effectLst/>
                        <a:latin typeface="Aptos"/>
                      </a:endParaRPr>
                    </a:p>
                  </a:txBody>
                  <a:tcPr marL="66675" marR="66675">
                    <a:lnL w="9525" cap="flat" cmpd="sng" algn="ctr">
                      <a:solidFill>
                        <a:srgbClr val="45B0E1"/>
                      </a:solidFill>
                      <a:prstDash val="solid"/>
                      <a:round/>
                      <a:headEnd type="none" w="med" len="med"/>
                      <a:tailEnd type="none" w="med" len="med"/>
                    </a:lnL>
                    <a:lnR w="9525" cap="flat" cmpd="sng" algn="ctr">
                      <a:solidFill>
                        <a:srgbClr val="45B0E1"/>
                      </a:solidFill>
                      <a:prstDash val="solid"/>
                      <a:round/>
                      <a:headEnd type="none" w="med" len="med"/>
                      <a:tailEnd type="none" w="med" len="med"/>
                    </a:lnR>
                    <a:lnT w="9525" cap="flat" cmpd="sng" algn="ctr">
                      <a:solidFill>
                        <a:srgbClr val="45B0E1"/>
                      </a:solidFill>
                      <a:prstDash val="solid"/>
                      <a:round/>
                      <a:headEnd type="none" w="med" len="med"/>
                      <a:tailEnd type="none" w="med" len="med"/>
                    </a:lnT>
                    <a:lnB w="9525" cap="flat" cmpd="sng" algn="ctr">
                      <a:solidFill>
                        <a:srgbClr val="45B0E1"/>
                      </a:solidFill>
                      <a:prstDash val="solid"/>
                      <a:round/>
                      <a:headEnd type="none" w="med" len="med"/>
                      <a:tailEnd type="none" w="med" len="med"/>
                    </a:lnB>
                    <a:noFill/>
                  </a:tcPr>
                </a:tc>
                <a:tc>
                  <a:txBody>
                    <a:bodyPr/>
                    <a:lstStyle/>
                    <a:p>
                      <a:pPr algn="ctr" rtl="0" fontAlgn="base">
                        <a:lnSpc>
                          <a:spcPts val="1350"/>
                        </a:lnSpc>
                        <a:buNone/>
                      </a:pPr>
                      <a:r>
                        <a:rPr lang="en-US" sz="1800" b="0" i="0" u="none" strike="noStrike">
                          <a:solidFill>
                            <a:srgbClr val="1E8449"/>
                          </a:solidFill>
                          <a:effectLst/>
                          <a:latin typeface="Aptos"/>
                        </a:rPr>
                        <a:t>↑ Steady</a:t>
                      </a:r>
                      <a:r>
                        <a:rPr lang="en-US" sz="1800" b="0" i="0" dirty="0">
                          <a:solidFill>
                            <a:srgbClr val="1E8449"/>
                          </a:solidFill>
                          <a:effectLst/>
                          <a:latin typeface="Aptos"/>
                        </a:rPr>
                        <a:t> </a:t>
                      </a:r>
                      <a:endParaRPr lang="en-US" sz="1800" b="0" i="0" dirty="0">
                        <a:effectLst/>
                        <a:latin typeface="Aptos"/>
                      </a:endParaRPr>
                    </a:p>
                  </a:txBody>
                  <a:tcPr marL="66675" marR="66675">
                    <a:lnL w="9525" cap="flat" cmpd="sng" algn="ctr">
                      <a:solidFill>
                        <a:srgbClr val="45B0E1"/>
                      </a:solidFill>
                      <a:prstDash val="solid"/>
                      <a:round/>
                      <a:headEnd type="none" w="med" len="med"/>
                      <a:tailEnd type="none" w="med" len="med"/>
                    </a:lnL>
                    <a:lnR w="9525" cap="flat" cmpd="sng" algn="ctr">
                      <a:solidFill>
                        <a:srgbClr val="45B0E1"/>
                      </a:solidFill>
                      <a:prstDash val="solid"/>
                      <a:round/>
                      <a:headEnd type="none" w="med" len="med"/>
                      <a:tailEnd type="none" w="med" len="med"/>
                    </a:lnR>
                    <a:lnT w="9525" cap="flat" cmpd="sng" algn="ctr">
                      <a:solidFill>
                        <a:srgbClr val="45B0E1"/>
                      </a:solidFill>
                      <a:prstDash val="solid"/>
                      <a:round/>
                      <a:headEnd type="none" w="med" len="med"/>
                      <a:tailEnd type="none" w="med" len="med"/>
                    </a:lnT>
                    <a:lnB w="9525" cap="flat" cmpd="sng" algn="ctr">
                      <a:solidFill>
                        <a:srgbClr val="45B0E1"/>
                      </a:solidFill>
                      <a:prstDash val="solid"/>
                      <a:round/>
                      <a:headEnd type="none" w="med" len="med"/>
                      <a:tailEnd type="none" w="med" len="med"/>
                    </a:lnB>
                    <a:noFill/>
                  </a:tcPr>
                </a:tc>
                <a:extLst>
                  <a:ext uri="{0D108BD9-81ED-4DB2-BD59-A6C34878D82A}">
                    <a16:rowId xmlns:a16="http://schemas.microsoft.com/office/drawing/2014/main" val="1634510965"/>
                  </a:ext>
                </a:extLst>
              </a:tr>
              <a:tr h="284147">
                <a:tc>
                  <a:txBody>
                    <a:bodyPr/>
                    <a:lstStyle/>
                    <a:p>
                      <a:pPr algn="ctr" rtl="0" fontAlgn="base">
                        <a:lnSpc>
                          <a:spcPts val="1350"/>
                        </a:lnSpc>
                        <a:buNone/>
                      </a:pPr>
                      <a:r>
                        <a:rPr lang="en-US" sz="1800" b="0" i="0" u="none" strike="noStrike">
                          <a:solidFill>
                            <a:srgbClr val="000000"/>
                          </a:solidFill>
                          <a:effectLst/>
                          <a:latin typeface="Aptos"/>
                        </a:rPr>
                        <a:t>HCEE-Community</a:t>
                      </a:r>
                      <a:r>
                        <a:rPr lang="en-US" sz="1800" b="1" i="0" dirty="0">
                          <a:solidFill>
                            <a:srgbClr val="000000"/>
                          </a:solidFill>
                          <a:effectLst/>
                          <a:latin typeface="Aptos"/>
                        </a:rPr>
                        <a:t> </a:t>
                      </a:r>
                      <a:endParaRPr lang="en-US" sz="1800" b="1" i="0" dirty="0">
                        <a:effectLst/>
                        <a:latin typeface="Aptos"/>
                      </a:endParaRPr>
                    </a:p>
                  </a:txBody>
                  <a:tcPr marL="66675" marR="66675">
                    <a:lnL w="9525" cap="flat" cmpd="sng" algn="ctr">
                      <a:solidFill>
                        <a:srgbClr val="45B0E1"/>
                      </a:solidFill>
                      <a:prstDash val="solid"/>
                      <a:round/>
                      <a:headEnd type="none" w="med" len="med"/>
                      <a:tailEnd type="none" w="med" len="med"/>
                    </a:lnL>
                    <a:lnR w="9525" cap="flat" cmpd="sng" algn="ctr">
                      <a:solidFill>
                        <a:srgbClr val="45B0E1"/>
                      </a:solidFill>
                      <a:prstDash val="solid"/>
                      <a:round/>
                      <a:headEnd type="none" w="med" len="med"/>
                      <a:tailEnd type="none" w="med" len="med"/>
                    </a:lnR>
                    <a:lnT w="9525" cap="flat" cmpd="sng" algn="ctr">
                      <a:solidFill>
                        <a:srgbClr val="45B0E1"/>
                      </a:solidFill>
                      <a:prstDash val="solid"/>
                      <a:round/>
                      <a:headEnd type="none" w="med" len="med"/>
                      <a:tailEnd type="none" w="med" len="med"/>
                    </a:lnT>
                    <a:lnB w="9525" cap="flat" cmpd="sng" algn="ctr">
                      <a:solidFill>
                        <a:srgbClr val="45B0E1"/>
                      </a:solidFill>
                      <a:prstDash val="solid"/>
                      <a:round/>
                      <a:headEnd type="none" w="med" len="med"/>
                      <a:tailEnd type="none" w="med" len="med"/>
                    </a:lnB>
                    <a:noFill/>
                  </a:tcPr>
                </a:tc>
                <a:tc>
                  <a:txBody>
                    <a:bodyPr/>
                    <a:lstStyle/>
                    <a:p>
                      <a:pPr algn="ctr" rtl="0" fontAlgn="base">
                        <a:lnSpc>
                          <a:spcPts val="1350"/>
                        </a:lnSpc>
                        <a:buNone/>
                      </a:pPr>
                      <a:r>
                        <a:rPr lang="en-US" sz="1800" b="0" i="0" u="none" strike="noStrike">
                          <a:solidFill>
                            <a:srgbClr val="000000"/>
                          </a:solidFill>
                          <a:effectLst/>
                          <a:latin typeface="Aptos"/>
                        </a:rPr>
                        <a:t>91 K</a:t>
                      </a:r>
                      <a:r>
                        <a:rPr lang="en-US" sz="1800" b="0" i="0" dirty="0">
                          <a:solidFill>
                            <a:srgbClr val="000000"/>
                          </a:solidFill>
                          <a:effectLst/>
                          <a:latin typeface="Aptos"/>
                        </a:rPr>
                        <a:t> </a:t>
                      </a:r>
                      <a:endParaRPr lang="en-US" sz="1800" b="0" i="0" dirty="0">
                        <a:effectLst/>
                        <a:latin typeface="Aptos"/>
                      </a:endParaRPr>
                    </a:p>
                  </a:txBody>
                  <a:tcPr marL="66675" marR="66675">
                    <a:lnL w="9525" cap="flat" cmpd="sng" algn="ctr">
                      <a:solidFill>
                        <a:srgbClr val="45B0E1"/>
                      </a:solidFill>
                      <a:prstDash val="solid"/>
                      <a:round/>
                      <a:headEnd type="none" w="med" len="med"/>
                      <a:tailEnd type="none" w="med" len="med"/>
                    </a:lnL>
                    <a:lnR w="9525" cap="flat" cmpd="sng" algn="ctr">
                      <a:solidFill>
                        <a:srgbClr val="45B0E1"/>
                      </a:solidFill>
                      <a:prstDash val="solid"/>
                      <a:round/>
                      <a:headEnd type="none" w="med" len="med"/>
                      <a:tailEnd type="none" w="med" len="med"/>
                    </a:lnR>
                    <a:lnT w="9525" cap="flat" cmpd="sng" algn="ctr">
                      <a:solidFill>
                        <a:srgbClr val="45B0E1"/>
                      </a:solidFill>
                      <a:prstDash val="solid"/>
                      <a:round/>
                      <a:headEnd type="none" w="med" len="med"/>
                      <a:tailEnd type="none" w="med" len="med"/>
                    </a:lnT>
                    <a:lnB w="9525" cap="flat" cmpd="sng" algn="ctr">
                      <a:solidFill>
                        <a:srgbClr val="45B0E1"/>
                      </a:solidFill>
                      <a:prstDash val="solid"/>
                      <a:round/>
                      <a:headEnd type="none" w="med" len="med"/>
                      <a:tailEnd type="none" w="med" len="med"/>
                    </a:lnB>
                    <a:noFill/>
                  </a:tcPr>
                </a:tc>
                <a:tc>
                  <a:txBody>
                    <a:bodyPr/>
                    <a:lstStyle/>
                    <a:p>
                      <a:pPr algn="ctr" rtl="0" fontAlgn="base">
                        <a:lnSpc>
                          <a:spcPts val="1350"/>
                        </a:lnSpc>
                        <a:buNone/>
                      </a:pPr>
                      <a:r>
                        <a:rPr lang="en-US" sz="1800" b="0" i="0" u="none" strike="noStrike">
                          <a:solidFill>
                            <a:srgbClr val="000000"/>
                          </a:solidFill>
                          <a:effectLst/>
                          <a:latin typeface="Aptos"/>
                        </a:rPr>
                        <a:t>100 K</a:t>
                      </a:r>
                      <a:r>
                        <a:rPr lang="en-US" sz="1800" b="0" i="0" dirty="0">
                          <a:solidFill>
                            <a:srgbClr val="000000"/>
                          </a:solidFill>
                          <a:effectLst/>
                          <a:latin typeface="Aptos"/>
                        </a:rPr>
                        <a:t> </a:t>
                      </a:r>
                      <a:endParaRPr lang="en-US" sz="1800" b="0" i="0" dirty="0">
                        <a:effectLst/>
                        <a:latin typeface="Aptos"/>
                      </a:endParaRPr>
                    </a:p>
                  </a:txBody>
                  <a:tcPr marL="66675" marR="66675">
                    <a:lnL w="9525" cap="flat" cmpd="sng" algn="ctr">
                      <a:solidFill>
                        <a:srgbClr val="45B0E1"/>
                      </a:solidFill>
                      <a:prstDash val="solid"/>
                      <a:round/>
                      <a:headEnd type="none" w="med" len="med"/>
                      <a:tailEnd type="none" w="med" len="med"/>
                    </a:lnL>
                    <a:lnR w="9525" cap="flat" cmpd="sng" algn="ctr">
                      <a:solidFill>
                        <a:srgbClr val="45B0E1"/>
                      </a:solidFill>
                      <a:prstDash val="solid"/>
                      <a:round/>
                      <a:headEnd type="none" w="med" len="med"/>
                      <a:tailEnd type="none" w="med" len="med"/>
                    </a:lnR>
                    <a:lnT w="9525" cap="flat" cmpd="sng" algn="ctr">
                      <a:solidFill>
                        <a:srgbClr val="45B0E1"/>
                      </a:solidFill>
                      <a:prstDash val="solid"/>
                      <a:round/>
                      <a:headEnd type="none" w="med" len="med"/>
                      <a:tailEnd type="none" w="med" len="med"/>
                    </a:lnT>
                    <a:lnB w="9525" cap="flat" cmpd="sng" algn="ctr">
                      <a:solidFill>
                        <a:srgbClr val="45B0E1"/>
                      </a:solidFill>
                      <a:prstDash val="solid"/>
                      <a:round/>
                      <a:headEnd type="none" w="med" len="med"/>
                      <a:tailEnd type="none" w="med" len="med"/>
                    </a:lnB>
                    <a:noFill/>
                  </a:tcPr>
                </a:tc>
                <a:tc>
                  <a:txBody>
                    <a:bodyPr/>
                    <a:lstStyle/>
                    <a:p>
                      <a:pPr algn="ctr" rtl="0" fontAlgn="base">
                        <a:lnSpc>
                          <a:spcPts val="1350"/>
                        </a:lnSpc>
                        <a:buNone/>
                      </a:pPr>
                      <a:r>
                        <a:rPr lang="en-US" sz="1800" b="0" i="0" u="none" strike="noStrike">
                          <a:solidFill>
                            <a:srgbClr val="000000"/>
                          </a:solidFill>
                          <a:effectLst/>
                          <a:latin typeface="Aptos"/>
                        </a:rPr>
                        <a:t>108 K</a:t>
                      </a:r>
                      <a:r>
                        <a:rPr lang="en-US" sz="1800" b="0" i="0" dirty="0">
                          <a:solidFill>
                            <a:srgbClr val="000000"/>
                          </a:solidFill>
                          <a:effectLst/>
                          <a:latin typeface="Aptos"/>
                        </a:rPr>
                        <a:t> </a:t>
                      </a:r>
                      <a:endParaRPr lang="en-US" sz="1800" b="0" i="0" dirty="0">
                        <a:effectLst/>
                        <a:latin typeface="Aptos"/>
                      </a:endParaRPr>
                    </a:p>
                  </a:txBody>
                  <a:tcPr marL="66675" marR="66675">
                    <a:lnL w="9525" cap="flat" cmpd="sng" algn="ctr">
                      <a:solidFill>
                        <a:srgbClr val="45B0E1"/>
                      </a:solidFill>
                      <a:prstDash val="solid"/>
                      <a:round/>
                      <a:headEnd type="none" w="med" len="med"/>
                      <a:tailEnd type="none" w="med" len="med"/>
                    </a:lnL>
                    <a:lnR w="9525" cap="flat" cmpd="sng" algn="ctr">
                      <a:solidFill>
                        <a:srgbClr val="45B0E1"/>
                      </a:solidFill>
                      <a:prstDash val="solid"/>
                      <a:round/>
                      <a:headEnd type="none" w="med" len="med"/>
                      <a:tailEnd type="none" w="med" len="med"/>
                    </a:lnR>
                    <a:lnT w="9525" cap="flat" cmpd="sng" algn="ctr">
                      <a:solidFill>
                        <a:srgbClr val="45B0E1"/>
                      </a:solidFill>
                      <a:prstDash val="solid"/>
                      <a:round/>
                      <a:headEnd type="none" w="med" len="med"/>
                      <a:tailEnd type="none" w="med" len="med"/>
                    </a:lnT>
                    <a:lnB w="9525" cap="flat" cmpd="sng" algn="ctr">
                      <a:solidFill>
                        <a:srgbClr val="45B0E1"/>
                      </a:solidFill>
                      <a:prstDash val="solid"/>
                      <a:round/>
                      <a:headEnd type="none" w="med" len="med"/>
                      <a:tailEnd type="none" w="med" len="med"/>
                    </a:lnB>
                    <a:noFill/>
                  </a:tcPr>
                </a:tc>
                <a:tc>
                  <a:txBody>
                    <a:bodyPr/>
                    <a:lstStyle/>
                    <a:p>
                      <a:pPr algn="ctr" rtl="0" fontAlgn="base">
                        <a:lnSpc>
                          <a:spcPts val="1350"/>
                        </a:lnSpc>
                        <a:buNone/>
                      </a:pPr>
                      <a:r>
                        <a:rPr lang="en-US" sz="1800" b="0" i="0" u="none" strike="noStrike">
                          <a:solidFill>
                            <a:srgbClr val="1E8449"/>
                          </a:solidFill>
                          <a:effectLst/>
                          <a:latin typeface="Aptos"/>
                        </a:rPr>
                        <a:t>↑ Steady</a:t>
                      </a:r>
                      <a:r>
                        <a:rPr lang="en-US" sz="1800" b="0" i="0" dirty="0">
                          <a:solidFill>
                            <a:srgbClr val="1E8449"/>
                          </a:solidFill>
                          <a:effectLst/>
                          <a:latin typeface="Aptos"/>
                        </a:rPr>
                        <a:t> </a:t>
                      </a:r>
                      <a:endParaRPr lang="en-US" sz="1800" b="0" i="0" dirty="0">
                        <a:effectLst/>
                        <a:latin typeface="Aptos"/>
                      </a:endParaRPr>
                    </a:p>
                  </a:txBody>
                  <a:tcPr marL="66675" marR="66675">
                    <a:lnL w="9525" cap="flat" cmpd="sng" algn="ctr">
                      <a:solidFill>
                        <a:srgbClr val="45B0E1"/>
                      </a:solidFill>
                      <a:prstDash val="solid"/>
                      <a:round/>
                      <a:headEnd type="none" w="med" len="med"/>
                      <a:tailEnd type="none" w="med" len="med"/>
                    </a:lnL>
                    <a:lnR w="9525" cap="flat" cmpd="sng" algn="ctr">
                      <a:solidFill>
                        <a:srgbClr val="45B0E1"/>
                      </a:solidFill>
                      <a:prstDash val="solid"/>
                      <a:round/>
                      <a:headEnd type="none" w="med" len="med"/>
                      <a:tailEnd type="none" w="med" len="med"/>
                    </a:lnR>
                    <a:lnT w="9525" cap="flat" cmpd="sng" algn="ctr">
                      <a:solidFill>
                        <a:srgbClr val="45B0E1"/>
                      </a:solidFill>
                      <a:prstDash val="solid"/>
                      <a:round/>
                      <a:headEnd type="none" w="med" len="med"/>
                      <a:tailEnd type="none" w="med" len="med"/>
                    </a:lnT>
                    <a:lnB w="9525" cap="flat" cmpd="sng" algn="ctr">
                      <a:solidFill>
                        <a:srgbClr val="45B0E1"/>
                      </a:solidFill>
                      <a:prstDash val="solid"/>
                      <a:round/>
                      <a:headEnd type="none" w="med" len="med"/>
                      <a:tailEnd type="none" w="med" len="med"/>
                    </a:lnB>
                    <a:noFill/>
                  </a:tcPr>
                </a:tc>
                <a:extLst>
                  <a:ext uri="{0D108BD9-81ED-4DB2-BD59-A6C34878D82A}">
                    <a16:rowId xmlns:a16="http://schemas.microsoft.com/office/drawing/2014/main" val="169504919"/>
                  </a:ext>
                </a:extLst>
              </a:tr>
              <a:tr h="284147">
                <a:tc>
                  <a:txBody>
                    <a:bodyPr/>
                    <a:lstStyle/>
                    <a:p>
                      <a:pPr algn="ctr" rtl="0" fontAlgn="base">
                        <a:lnSpc>
                          <a:spcPts val="1350"/>
                        </a:lnSpc>
                        <a:buNone/>
                      </a:pPr>
                      <a:r>
                        <a:rPr lang="en-US" sz="1800" b="0" i="0" u="none" strike="noStrike">
                          <a:solidFill>
                            <a:srgbClr val="000000"/>
                          </a:solidFill>
                          <a:effectLst/>
                          <a:latin typeface="Aptos"/>
                        </a:rPr>
                        <a:t>TransBridge</a:t>
                      </a:r>
                      <a:r>
                        <a:rPr lang="en-US" sz="1800" b="1" i="0" dirty="0">
                          <a:solidFill>
                            <a:srgbClr val="000000"/>
                          </a:solidFill>
                          <a:effectLst/>
                          <a:latin typeface="Aptos"/>
                        </a:rPr>
                        <a:t> </a:t>
                      </a:r>
                      <a:endParaRPr lang="en-US" sz="1800" b="1" i="0" dirty="0">
                        <a:effectLst/>
                        <a:latin typeface="Aptos"/>
                      </a:endParaRPr>
                    </a:p>
                  </a:txBody>
                  <a:tcPr marL="66675" marR="66675">
                    <a:lnL w="9525" cap="flat" cmpd="sng" algn="ctr">
                      <a:solidFill>
                        <a:srgbClr val="45B0E1"/>
                      </a:solidFill>
                      <a:prstDash val="solid"/>
                      <a:round/>
                      <a:headEnd type="none" w="med" len="med"/>
                      <a:tailEnd type="none" w="med" len="med"/>
                    </a:lnL>
                    <a:lnR w="9525" cap="flat" cmpd="sng" algn="ctr">
                      <a:solidFill>
                        <a:srgbClr val="45B0E1"/>
                      </a:solidFill>
                      <a:prstDash val="solid"/>
                      <a:round/>
                      <a:headEnd type="none" w="med" len="med"/>
                      <a:tailEnd type="none" w="med" len="med"/>
                    </a:lnR>
                    <a:lnT w="9525" cap="flat" cmpd="sng" algn="ctr">
                      <a:solidFill>
                        <a:srgbClr val="45B0E1"/>
                      </a:solidFill>
                      <a:prstDash val="solid"/>
                      <a:round/>
                      <a:headEnd type="none" w="med" len="med"/>
                      <a:tailEnd type="none" w="med" len="med"/>
                    </a:lnT>
                    <a:lnB w="9525" cap="flat" cmpd="sng" algn="ctr">
                      <a:solidFill>
                        <a:srgbClr val="45B0E1"/>
                      </a:solidFill>
                      <a:prstDash val="solid"/>
                      <a:round/>
                      <a:headEnd type="none" w="med" len="med"/>
                      <a:tailEnd type="none" w="med" len="med"/>
                    </a:lnB>
                    <a:noFill/>
                  </a:tcPr>
                </a:tc>
                <a:tc>
                  <a:txBody>
                    <a:bodyPr/>
                    <a:lstStyle/>
                    <a:p>
                      <a:pPr algn="ctr" rtl="0" fontAlgn="base">
                        <a:lnSpc>
                          <a:spcPts val="1350"/>
                        </a:lnSpc>
                        <a:buNone/>
                      </a:pPr>
                      <a:r>
                        <a:rPr lang="en-US" sz="1800" b="0" i="0" u="none" strike="noStrike">
                          <a:solidFill>
                            <a:srgbClr val="000000"/>
                          </a:solidFill>
                          <a:effectLst/>
                          <a:latin typeface="Aptos"/>
                        </a:rPr>
                        <a:t>34 K</a:t>
                      </a:r>
                      <a:r>
                        <a:rPr lang="en-US" sz="1800" b="0" i="0" dirty="0">
                          <a:solidFill>
                            <a:srgbClr val="000000"/>
                          </a:solidFill>
                          <a:effectLst/>
                          <a:latin typeface="Aptos"/>
                        </a:rPr>
                        <a:t> </a:t>
                      </a:r>
                      <a:endParaRPr lang="en-US" sz="1800" b="0" i="0" dirty="0">
                        <a:effectLst/>
                        <a:latin typeface="Aptos"/>
                      </a:endParaRPr>
                    </a:p>
                  </a:txBody>
                  <a:tcPr marL="66675" marR="66675">
                    <a:lnL w="9525" cap="flat" cmpd="sng" algn="ctr">
                      <a:solidFill>
                        <a:srgbClr val="45B0E1"/>
                      </a:solidFill>
                      <a:prstDash val="solid"/>
                      <a:round/>
                      <a:headEnd type="none" w="med" len="med"/>
                      <a:tailEnd type="none" w="med" len="med"/>
                    </a:lnL>
                    <a:lnR w="9525" cap="flat" cmpd="sng" algn="ctr">
                      <a:solidFill>
                        <a:srgbClr val="45B0E1"/>
                      </a:solidFill>
                      <a:prstDash val="solid"/>
                      <a:round/>
                      <a:headEnd type="none" w="med" len="med"/>
                      <a:tailEnd type="none" w="med" len="med"/>
                    </a:lnR>
                    <a:lnT w="9525" cap="flat" cmpd="sng" algn="ctr">
                      <a:solidFill>
                        <a:srgbClr val="45B0E1"/>
                      </a:solidFill>
                      <a:prstDash val="solid"/>
                      <a:round/>
                      <a:headEnd type="none" w="med" len="med"/>
                      <a:tailEnd type="none" w="med" len="med"/>
                    </a:lnT>
                    <a:lnB w="9525" cap="flat" cmpd="sng" algn="ctr">
                      <a:solidFill>
                        <a:srgbClr val="45B0E1"/>
                      </a:solidFill>
                      <a:prstDash val="solid"/>
                      <a:round/>
                      <a:headEnd type="none" w="med" len="med"/>
                      <a:tailEnd type="none" w="med" len="med"/>
                    </a:lnB>
                    <a:noFill/>
                  </a:tcPr>
                </a:tc>
                <a:tc>
                  <a:txBody>
                    <a:bodyPr/>
                    <a:lstStyle/>
                    <a:p>
                      <a:pPr algn="ctr" rtl="0" fontAlgn="base">
                        <a:lnSpc>
                          <a:spcPts val="1350"/>
                        </a:lnSpc>
                        <a:buNone/>
                      </a:pPr>
                      <a:r>
                        <a:rPr lang="en-US" sz="1800" b="0" i="0" u="none" strike="noStrike">
                          <a:solidFill>
                            <a:srgbClr val="000000"/>
                          </a:solidFill>
                          <a:effectLst/>
                          <a:latin typeface="Aptos"/>
                        </a:rPr>
                        <a:t>34 K</a:t>
                      </a:r>
                      <a:r>
                        <a:rPr lang="en-US" sz="1800" b="0" i="0" dirty="0">
                          <a:solidFill>
                            <a:srgbClr val="000000"/>
                          </a:solidFill>
                          <a:effectLst/>
                          <a:latin typeface="Aptos"/>
                        </a:rPr>
                        <a:t> </a:t>
                      </a:r>
                      <a:endParaRPr lang="en-US" sz="1800" b="0" i="0" dirty="0">
                        <a:effectLst/>
                        <a:latin typeface="Aptos"/>
                      </a:endParaRPr>
                    </a:p>
                  </a:txBody>
                  <a:tcPr marL="66675" marR="66675">
                    <a:lnL w="9525" cap="flat" cmpd="sng" algn="ctr">
                      <a:solidFill>
                        <a:srgbClr val="45B0E1"/>
                      </a:solidFill>
                      <a:prstDash val="solid"/>
                      <a:round/>
                      <a:headEnd type="none" w="med" len="med"/>
                      <a:tailEnd type="none" w="med" len="med"/>
                    </a:lnL>
                    <a:lnR w="9525" cap="flat" cmpd="sng" algn="ctr">
                      <a:solidFill>
                        <a:srgbClr val="45B0E1"/>
                      </a:solidFill>
                      <a:prstDash val="solid"/>
                      <a:round/>
                      <a:headEnd type="none" w="med" len="med"/>
                      <a:tailEnd type="none" w="med" len="med"/>
                    </a:lnR>
                    <a:lnT w="9525" cap="flat" cmpd="sng" algn="ctr">
                      <a:solidFill>
                        <a:srgbClr val="45B0E1"/>
                      </a:solidFill>
                      <a:prstDash val="solid"/>
                      <a:round/>
                      <a:headEnd type="none" w="med" len="med"/>
                      <a:tailEnd type="none" w="med" len="med"/>
                    </a:lnT>
                    <a:lnB w="9525" cap="flat" cmpd="sng" algn="ctr">
                      <a:solidFill>
                        <a:srgbClr val="45B0E1"/>
                      </a:solidFill>
                      <a:prstDash val="solid"/>
                      <a:round/>
                      <a:headEnd type="none" w="med" len="med"/>
                      <a:tailEnd type="none" w="med" len="med"/>
                    </a:lnB>
                    <a:noFill/>
                  </a:tcPr>
                </a:tc>
                <a:tc>
                  <a:txBody>
                    <a:bodyPr/>
                    <a:lstStyle/>
                    <a:p>
                      <a:pPr algn="ctr" rtl="0" fontAlgn="base">
                        <a:lnSpc>
                          <a:spcPts val="1350"/>
                        </a:lnSpc>
                        <a:buNone/>
                      </a:pPr>
                      <a:r>
                        <a:rPr lang="en-US" sz="1800" b="0" i="0" u="none" strike="noStrike">
                          <a:solidFill>
                            <a:srgbClr val="000000"/>
                          </a:solidFill>
                          <a:effectLst/>
                          <a:latin typeface="Aptos"/>
                        </a:rPr>
                        <a:t>34 K</a:t>
                      </a:r>
                      <a:r>
                        <a:rPr lang="en-US" sz="1800" b="0" i="0" dirty="0">
                          <a:solidFill>
                            <a:srgbClr val="000000"/>
                          </a:solidFill>
                          <a:effectLst/>
                          <a:latin typeface="Aptos"/>
                        </a:rPr>
                        <a:t> </a:t>
                      </a:r>
                      <a:endParaRPr lang="en-US" sz="1800" b="0" i="0" dirty="0">
                        <a:effectLst/>
                        <a:latin typeface="Aptos"/>
                      </a:endParaRPr>
                    </a:p>
                  </a:txBody>
                  <a:tcPr marL="66675" marR="66675">
                    <a:lnL w="9525" cap="flat" cmpd="sng" algn="ctr">
                      <a:solidFill>
                        <a:srgbClr val="45B0E1"/>
                      </a:solidFill>
                      <a:prstDash val="solid"/>
                      <a:round/>
                      <a:headEnd type="none" w="med" len="med"/>
                      <a:tailEnd type="none" w="med" len="med"/>
                    </a:lnL>
                    <a:lnR w="9525" cap="flat" cmpd="sng" algn="ctr">
                      <a:solidFill>
                        <a:srgbClr val="45B0E1"/>
                      </a:solidFill>
                      <a:prstDash val="solid"/>
                      <a:round/>
                      <a:headEnd type="none" w="med" len="med"/>
                      <a:tailEnd type="none" w="med" len="med"/>
                    </a:lnR>
                    <a:lnT w="9525" cap="flat" cmpd="sng" algn="ctr">
                      <a:solidFill>
                        <a:srgbClr val="45B0E1"/>
                      </a:solidFill>
                      <a:prstDash val="solid"/>
                      <a:round/>
                      <a:headEnd type="none" w="med" len="med"/>
                      <a:tailEnd type="none" w="med" len="med"/>
                    </a:lnT>
                    <a:lnB w="9525" cap="flat" cmpd="sng" algn="ctr">
                      <a:solidFill>
                        <a:srgbClr val="45B0E1"/>
                      </a:solidFill>
                      <a:prstDash val="solid"/>
                      <a:round/>
                      <a:headEnd type="none" w="med" len="med"/>
                      <a:tailEnd type="none" w="med" len="med"/>
                    </a:lnB>
                    <a:noFill/>
                  </a:tcPr>
                </a:tc>
                <a:tc>
                  <a:txBody>
                    <a:bodyPr/>
                    <a:lstStyle/>
                    <a:p>
                      <a:pPr algn="ctr" rtl="0" fontAlgn="base">
                        <a:lnSpc>
                          <a:spcPts val="1350"/>
                        </a:lnSpc>
                        <a:buNone/>
                      </a:pPr>
                      <a:r>
                        <a:rPr lang="en-US" sz="1800" b="0" i="0" u="none" strike="noStrike">
                          <a:solidFill>
                            <a:srgbClr val="64748B"/>
                          </a:solidFill>
                          <a:effectLst/>
                          <a:latin typeface="Aptos"/>
                        </a:rPr>
                        <a:t>→ Flat</a:t>
                      </a:r>
                      <a:r>
                        <a:rPr lang="en-US" sz="1800" b="0" i="0" dirty="0">
                          <a:solidFill>
                            <a:srgbClr val="64748B"/>
                          </a:solidFill>
                          <a:effectLst/>
                          <a:latin typeface="Aptos"/>
                        </a:rPr>
                        <a:t> </a:t>
                      </a:r>
                      <a:endParaRPr lang="en-US" sz="1800" b="0" i="0" dirty="0">
                        <a:effectLst/>
                        <a:latin typeface="Aptos"/>
                      </a:endParaRPr>
                    </a:p>
                  </a:txBody>
                  <a:tcPr marL="66675" marR="66675">
                    <a:lnL w="9525" cap="flat" cmpd="sng" algn="ctr">
                      <a:solidFill>
                        <a:srgbClr val="45B0E1"/>
                      </a:solidFill>
                      <a:prstDash val="solid"/>
                      <a:round/>
                      <a:headEnd type="none" w="med" len="med"/>
                      <a:tailEnd type="none" w="med" len="med"/>
                    </a:lnL>
                    <a:lnR w="9525" cap="flat" cmpd="sng" algn="ctr">
                      <a:solidFill>
                        <a:srgbClr val="45B0E1"/>
                      </a:solidFill>
                      <a:prstDash val="solid"/>
                      <a:round/>
                      <a:headEnd type="none" w="med" len="med"/>
                      <a:tailEnd type="none" w="med" len="med"/>
                    </a:lnR>
                    <a:lnT w="9525" cap="flat" cmpd="sng" algn="ctr">
                      <a:solidFill>
                        <a:srgbClr val="45B0E1"/>
                      </a:solidFill>
                      <a:prstDash val="solid"/>
                      <a:round/>
                      <a:headEnd type="none" w="med" len="med"/>
                      <a:tailEnd type="none" w="med" len="med"/>
                    </a:lnT>
                    <a:lnB w="9525" cap="flat" cmpd="sng" algn="ctr">
                      <a:solidFill>
                        <a:srgbClr val="45B0E1"/>
                      </a:solidFill>
                      <a:prstDash val="solid"/>
                      <a:round/>
                      <a:headEnd type="none" w="med" len="med"/>
                      <a:tailEnd type="none" w="med" len="med"/>
                    </a:lnB>
                    <a:noFill/>
                  </a:tcPr>
                </a:tc>
                <a:extLst>
                  <a:ext uri="{0D108BD9-81ED-4DB2-BD59-A6C34878D82A}">
                    <a16:rowId xmlns:a16="http://schemas.microsoft.com/office/drawing/2014/main" val="3002621171"/>
                  </a:ext>
                </a:extLst>
              </a:tr>
              <a:tr h="284147">
                <a:tc>
                  <a:txBody>
                    <a:bodyPr/>
                    <a:lstStyle/>
                    <a:p>
                      <a:pPr algn="ctr" rtl="0" fontAlgn="base">
                        <a:lnSpc>
                          <a:spcPts val="1350"/>
                        </a:lnSpc>
                        <a:buNone/>
                      </a:pPr>
                      <a:r>
                        <a:rPr lang="en-US" sz="1800" b="0" i="0" u="none" strike="noStrike">
                          <a:solidFill>
                            <a:srgbClr val="000000"/>
                          </a:solidFill>
                          <a:effectLst/>
                          <a:latin typeface="Aptos"/>
                        </a:rPr>
                        <a:t>Greyhound</a:t>
                      </a:r>
                      <a:r>
                        <a:rPr lang="en-US" sz="1800" b="1" i="0" dirty="0">
                          <a:solidFill>
                            <a:srgbClr val="000000"/>
                          </a:solidFill>
                          <a:effectLst/>
                          <a:latin typeface="Aptos"/>
                        </a:rPr>
                        <a:t> </a:t>
                      </a:r>
                      <a:endParaRPr lang="en-US" sz="1800" b="1" i="0" dirty="0">
                        <a:effectLst/>
                        <a:latin typeface="Aptos"/>
                      </a:endParaRPr>
                    </a:p>
                  </a:txBody>
                  <a:tcPr marL="66675" marR="66675">
                    <a:lnL w="9525" cap="flat" cmpd="sng" algn="ctr">
                      <a:solidFill>
                        <a:srgbClr val="45B0E1"/>
                      </a:solidFill>
                      <a:prstDash val="solid"/>
                      <a:round/>
                      <a:headEnd type="none" w="med" len="med"/>
                      <a:tailEnd type="none" w="med" len="med"/>
                    </a:lnL>
                    <a:lnR w="9525" cap="flat" cmpd="sng" algn="ctr">
                      <a:solidFill>
                        <a:srgbClr val="45B0E1"/>
                      </a:solidFill>
                      <a:prstDash val="solid"/>
                      <a:round/>
                      <a:headEnd type="none" w="med" len="med"/>
                      <a:tailEnd type="none" w="med" len="med"/>
                    </a:lnR>
                    <a:lnT w="9525" cap="flat" cmpd="sng" algn="ctr">
                      <a:solidFill>
                        <a:srgbClr val="45B0E1"/>
                      </a:solidFill>
                      <a:prstDash val="solid"/>
                      <a:round/>
                      <a:headEnd type="none" w="med" len="med"/>
                      <a:tailEnd type="none" w="med" len="med"/>
                    </a:lnT>
                    <a:lnB w="9525" cap="flat" cmpd="sng" algn="ctr">
                      <a:solidFill>
                        <a:srgbClr val="45B0E1"/>
                      </a:solidFill>
                      <a:prstDash val="solid"/>
                      <a:round/>
                      <a:headEnd type="none" w="med" len="med"/>
                      <a:tailEnd type="none" w="med" len="med"/>
                    </a:lnB>
                    <a:noFill/>
                  </a:tcPr>
                </a:tc>
                <a:tc>
                  <a:txBody>
                    <a:bodyPr/>
                    <a:lstStyle/>
                    <a:p>
                      <a:pPr algn="ctr" rtl="0" fontAlgn="base">
                        <a:lnSpc>
                          <a:spcPts val="1350"/>
                        </a:lnSpc>
                        <a:buNone/>
                      </a:pPr>
                      <a:r>
                        <a:rPr lang="en-US" sz="1800" b="0" i="0" u="none" strike="noStrike">
                          <a:solidFill>
                            <a:srgbClr val="000000"/>
                          </a:solidFill>
                          <a:effectLst/>
                          <a:latin typeface="Aptos"/>
                        </a:rPr>
                        <a:t>53K</a:t>
                      </a:r>
                      <a:r>
                        <a:rPr lang="en-US" sz="1800" b="0" i="0" dirty="0">
                          <a:solidFill>
                            <a:srgbClr val="000000"/>
                          </a:solidFill>
                          <a:effectLst/>
                          <a:latin typeface="Aptos"/>
                        </a:rPr>
                        <a:t> </a:t>
                      </a:r>
                      <a:endParaRPr lang="en-US" sz="1800" b="0" i="0" dirty="0">
                        <a:effectLst/>
                        <a:latin typeface="Aptos"/>
                      </a:endParaRPr>
                    </a:p>
                  </a:txBody>
                  <a:tcPr marL="66675" marR="66675">
                    <a:lnL w="9525" cap="flat" cmpd="sng" algn="ctr">
                      <a:solidFill>
                        <a:srgbClr val="45B0E1"/>
                      </a:solidFill>
                      <a:prstDash val="solid"/>
                      <a:round/>
                      <a:headEnd type="none" w="med" len="med"/>
                      <a:tailEnd type="none" w="med" len="med"/>
                    </a:lnL>
                    <a:lnR w="9525" cap="flat" cmpd="sng" algn="ctr">
                      <a:solidFill>
                        <a:srgbClr val="45B0E1"/>
                      </a:solidFill>
                      <a:prstDash val="solid"/>
                      <a:round/>
                      <a:headEnd type="none" w="med" len="med"/>
                      <a:tailEnd type="none" w="med" len="med"/>
                    </a:lnR>
                    <a:lnT w="9525" cap="flat" cmpd="sng" algn="ctr">
                      <a:solidFill>
                        <a:srgbClr val="45B0E1"/>
                      </a:solidFill>
                      <a:prstDash val="solid"/>
                      <a:round/>
                      <a:headEnd type="none" w="med" len="med"/>
                      <a:tailEnd type="none" w="med" len="med"/>
                    </a:lnT>
                    <a:lnB w="9525" cap="flat" cmpd="sng" algn="ctr">
                      <a:solidFill>
                        <a:srgbClr val="45B0E1"/>
                      </a:solidFill>
                      <a:prstDash val="solid"/>
                      <a:round/>
                      <a:headEnd type="none" w="med" len="med"/>
                      <a:tailEnd type="none" w="med" len="med"/>
                    </a:lnB>
                    <a:noFill/>
                  </a:tcPr>
                </a:tc>
                <a:tc>
                  <a:txBody>
                    <a:bodyPr/>
                    <a:lstStyle/>
                    <a:p>
                      <a:pPr algn="ctr" rtl="0" fontAlgn="base">
                        <a:lnSpc>
                          <a:spcPts val="1350"/>
                        </a:lnSpc>
                        <a:buNone/>
                      </a:pPr>
                      <a:r>
                        <a:rPr lang="en-US" sz="1800" b="0" i="0" u="none" strike="noStrike">
                          <a:solidFill>
                            <a:srgbClr val="000000"/>
                          </a:solidFill>
                          <a:effectLst/>
                          <a:latin typeface="Aptos"/>
                        </a:rPr>
                        <a:t>29 K</a:t>
                      </a:r>
                      <a:r>
                        <a:rPr lang="en-US" sz="1800" b="0" i="0" dirty="0">
                          <a:solidFill>
                            <a:srgbClr val="000000"/>
                          </a:solidFill>
                          <a:effectLst/>
                          <a:latin typeface="Aptos"/>
                        </a:rPr>
                        <a:t> </a:t>
                      </a:r>
                      <a:endParaRPr lang="en-US" sz="1800" b="0" i="0" dirty="0">
                        <a:effectLst/>
                        <a:latin typeface="Aptos"/>
                      </a:endParaRPr>
                    </a:p>
                  </a:txBody>
                  <a:tcPr marL="66675" marR="66675">
                    <a:lnL w="9525" cap="flat" cmpd="sng" algn="ctr">
                      <a:solidFill>
                        <a:srgbClr val="45B0E1"/>
                      </a:solidFill>
                      <a:prstDash val="solid"/>
                      <a:round/>
                      <a:headEnd type="none" w="med" len="med"/>
                      <a:tailEnd type="none" w="med" len="med"/>
                    </a:lnL>
                    <a:lnR w="9525" cap="flat" cmpd="sng" algn="ctr">
                      <a:solidFill>
                        <a:srgbClr val="45B0E1"/>
                      </a:solidFill>
                      <a:prstDash val="solid"/>
                      <a:round/>
                      <a:headEnd type="none" w="med" len="med"/>
                      <a:tailEnd type="none" w="med" len="med"/>
                    </a:lnR>
                    <a:lnT w="9525" cap="flat" cmpd="sng" algn="ctr">
                      <a:solidFill>
                        <a:srgbClr val="45B0E1"/>
                      </a:solidFill>
                      <a:prstDash val="solid"/>
                      <a:round/>
                      <a:headEnd type="none" w="med" len="med"/>
                      <a:tailEnd type="none" w="med" len="med"/>
                    </a:lnT>
                    <a:lnB w="9525" cap="flat" cmpd="sng" algn="ctr">
                      <a:solidFill>
                        <a:srgbClr val="45B0E1"/>
                      </a:solidFill>
                      <a:prstDash val="solid"/>
                      <a:round/>
                      <a:headEnd type="none" w="med" len="med"/>
                      <a:tailEnd type="none" w="med" len="med"/>
                    </a:lnB>
                    <a:noFill/>
                  </a:tcPr>
                </a:tc>
                <a:tc>
                  <a:txBody>
                    <a:bodyPr/>
                    <a:lstStyle/>
                    <a:p>
                      <a:pPr algn="ctr" rtl="0" fontAlgn="base">
                        <a:lnSpc>
                          <a:spcPts val="1350"/>
                        </a:lnSpc>
                        <a:buNone/>
                      </a:pPr>
                      <a:r>
                        <a:rPr lang="en-US" sz="1800" b="0" i="0" u="none" strike="noStrike">
                          <a:solidFill>
                            <a:srgbClr val="000000"/>
                          </a:solidFill>
                          <a:effectLst/>
                          <a:latin typeface="Aptos"/>
                        </a:rPr>
                        <a:t>6 K</a:t>
                      </a:r>
                      <a:r>
                        <a:rPr lang="en-US" sz="1800" b="0" i="0" dirty="0">
                          <a:solidFill>
                            <a:srgbClr val="000000"/>
                          </a:solidFill>
                          <a:effectLst/>
                          <a:latin typeface="Aptos"/>
                        </a:rPr>
                        <a:t> </a:t>
                      </a:r>
                      <a:endParaRPr lang="en-US" sz="1800" b="0" i="0" dirty="0">
                        <a:effectLst/>
                        <a:latin typeface="Aptos"/>
                      </a:endParaRPr>
                    </a:p>
                  </a:txBody>
                  <a:tcPr marL="66675" marR="66675">
                    <a:lnL w="9525" cap="flat" cmpd="sng" algn="ctr">
                      <a:solidFill>
                        <a:srgbClr val="45B0E1"/>
                      </a:solidFill>
                      <a:prstDash val="solid"/>
                      <a:round/>
                      <a:headEnd type="none" w="med" len="med"/>
                      <a:tailEnd type="none" w="med" len="med"/>
                    </a:lnL>
                    <a:lnR w="9525" cap="flat" cmpd="sng" algn="ctr">
                      <a:solidFill>
                        <a:srgbClr val="45B0E1"/>
                      </a:solidFill>
                      <a:prstDash val="solid"/>
                      <a:round/>
                      <a:headEnd type="none" w="med" len="med"/>
                      <a:tailEnd type="none" w="med" len="med"/>
                    </a:lnR>
                    <a:lnT w="9525" cap="flat" cmpd="sng" algn="ctr">
                      <a:solidFill>
                        <a:srgbClr val="45B0E1"/>
                      </a:solidFill>
                      <a:prstDash val="solid"/>
                      <a:round/>
                      <a:headEnd type="none" w="med" len="med"/>
                      <a:tailEnd type="none" w="med" len="med"/>
                    </a:lnT>
                    <a:lnB w="9525" cap="flat" cmpd="sng" algn="ctr">
                      <a:solidFill>
                        <a:srgbClr val="45B0E1"/>
                      </a:solidFill>
                      <a:prstDash val="solid"/>
                      <a:round/>
                      <a:headEnd type="none" w="med" len="med"/>
                      <a:tailEnd type="none" w="med" len="med"/>
                    </a:lnB>
                    <a:noFill/>
                  </a:tcPr>
                </a:tc>
                <a:tc>
                  <a:txBody>
                    <a:bodyPr/>
                    <a:lstStyle/>
                    <a:p>
                      <a:pPr algn="ctr" rtl="0" fontAlgn="base">
                        <a:lnSpc>
                          <a:spcPts val="1350"/>
                        </a:lnSpc>
                        <a:buNone/>
                      </a:pPr>
                      <a:r>
                        <a:rPr lang="en-US" sz="1800" b="0" i="0" u="none" strike="noStrike">
                          <a:solidFill>
                            <a:srgbClr val="C0392B"/>
                          </a:solidFill>
                          <a:effectLst/>
                          <a:latin typeface="Aptos"/>
                        </a:rPr>
                        <a:t>↓ Declining</a:t>
                      </a:r>
                      <a:r>
                        <a:rPr lang="en-US" sz="1800" b="0" i="0" dirty="0">
                          <a:solidFill>
                            <a:srgbClr val="C0392B"/>
                          </a:solidFill>
                          <a:effectLst/>
                          <a:latin typeface="Aptos"/>
                        </a:rPr>
                        <a:t> </a:t>
                      </a:r>
                      <a:endParaRPr lang="en-US" sz="1800" b="0" i="0" dirty="0">
                        <a:effectLst/>
                        <a:latin typeface="Aptos"/>
                      </a:endParaRPr>
                    </a:p>
                  </a:txBody>
                  <a:tcPr marL="66675" marR="66675">
                    <a:lnL w="9525" cap="flat" cmpd="sng" algn="ctr">
                      <a:solidFill>
                        <a:srgbClr val="45B0E1"/>
                      </a:solidFill>
                      <a:prstDash val="solid"/>
                      <a:round/>
                      <a:headEnd type="none" w="med" len="med"/>
                      <a:tailEnd type="none" w="med" len="med"/>
                    </a:lnL>
                    <a:lnR w="9525" cap="flat" cmpd="sng" algn="ctr">
                      <a:solidFill>
                        <a:srgbClr val="45B0E1"/>
                      </a:solidFill>
                      <a:prstDash val="solid"/>
                      <a:round/>
                      <a:headEnd type="none" w="med" len="med"/>
                      <a:tailEnd type="none" w="med" len="med"/>
                    </a:lnR>
                    <a:lnT w="9525" cap="flat" cmpd="sng" algn="ctr">
                      <a:solidFill>
                        <a:srgbClr val="45B0E1"/>
                      </a:solidFill>
                      <a:prstDash val="solid"/>
                      <a:round/>
                      <a:headEnd type="none" w="med" len="med"/>
                      <a:tailEnd type="none" w="med" len="med"/>
                    </a:lnT>
                    <a:lnB w="9525" cap="flat" cmpd="sng" algn="ctr">
                      <a:solidFill>
                        <a:srgbClr val="45B0E1"/>
                      </a:solidFill>
                      <a:prstDash val="solid"/>
                      <a:round/>
                      <a:headEnd type="none" w="med" len="med"/>
                      <a:tailEnd type="none" w="med" len="med"/>
                    </a:lnB>
                    <a:noFill/>
                  </a:tcPr>
                </a:tc>
                <a:extLst>
                  <a:ext uri="{0D108BD9-81ED-4DB2-BD59-A6C34878D82A}">
                    <a16:rowId xmlns:a16="http://schemas.microsoft.com/office/drawing/2014/main" val="1141407144"/>
                  </a:ext>
                </a:extLst>
              </a:tr>
              <a:tr h="339396">
                <a:tc>
                  <a:txBody>
                    <a:bodyPr/>
                    <a:lstStyle/>
                    <a:p>
                      <a:pPr algn="ctr" rtl="0" fontAlgn="base">
                        <a:lnSpc>
                          <a:spcPts val="1350"/>
                        </a:lnSpc>
                        <a:buNone/>
                      </a:pPr>
                      <a:r>
                        <a:rPr lang="en-US" sz="1800" b="0" i="0" u="none" strike="noStrike">
                          <a:solidFill>
                            <a:srgbClr val="000000"/>
                          </a:solidFill>
                          <a:effectLst/>
                          <a:latin typeface="Aptos"/>
                        </a:rPr>
                        <a:t>Martz</a:t>
                      </a:r>
                      <a:r>
                        <a:rPr lang="en-US" sz="1800" b="1" i="0" dirty="0">
                          <a:solidFill>
                            <a:srgbClr val="000000"/>
                          </a:solidFill>
                          <a:effectLst/>
                          <a:latin typeface="Aptos"/>
                        </a:rPr>
                        <a:t> </a:t>
                      </a:r>
                      <a:endParaRPr lang="en-US" sz="1800" b="1" i="0" dirty="0">
                        <a:effectLst/>
                        <a:latin typeface="Aptos"/>
                      </a:endParaRPr>
                    </a:p>
                  </a:txBody>
                  <a:tcPr marL="66675" marR="66675">
                    <a:lnL w="9525" cap="flat" cmpd="sng" algn="ctr">
                      <a:solidFill>
                        <a:srgbClr val="45B0E1"/>
                      </a:solidFill>
                      <a:prstDash val="solid"/>
                      <a:round/>
                      <a:headEnd type="none" w="med" len="med"/>
                      <a:tailEnd type="none" w="med" len="med"/>
                    </a:lnL>
                    <a:lnR w="9525" cap="flat" cmpd="sng" algn="ctr">
                      <a:solidFill>
                        <a:srgbClr val="45B0E1"/>
                      </a:solidFill>
                      <a:prstDash val="solid"/>
                      <a:round/>
                      <a:headEnd type="none" w="med" len="med"/>
                      <a:tailEnd type="none" w="med" len="med"/>
                    </a:lnR>
                    <a:lnT w="9525" cap="flat" cmpd="sng" algn="ctr">
                      <a:solidFill>
                        <a:srgbClr val="45B0E1"/>
                      </a:solidFill>
                      <a:prstDash val="solid"/>
                      <a:round/>
                      <a:headEnd type="none" w="med" len="med"/>
                      <a:tailEnd type="none" w="med" len="med"/>
                    </a:lnT>
                    <a:lnB w="9525" cap="flat" cmpd="sng" algn="ctr">
                      <a:solidFill>
                        <a:srgbClr val="45B0E1"/>
                      </a:solidFill>
                      <a:prstDash val="solid"/>
                      <a:round/>
                      <a:headEnd type="none" w="med" len="med"/>
                      <a:tailEnd type="none" w="med" len="med"/>
                    </a:lnB>
                    <a:noFill/>
                  </a:tcPr>
                </a:tc>
                <a:tc>
                  <a:txBody>
                    <a:bodyPr/>
                    <a:lstStyle/>
                    <a:p>
                      <a:pPr algn="ctr" rtl="0" fontAlgn="base">
                        <a:lnSpc>
                          <a:spcPts val="1350"/>
                        </a:lnSpc>
                        <a:buNone/>
                      </a:pPr>
                      <a:r>
                        <a:rPr lang="en-US" sz="1800" b="0" i="0" u="none" strike="noStrike">
                          <a:solidFill>
                            <a:srgbClr val="000000"/>
                          </a:solidFill>
                          <a:effectLst/>
                          <a:latin typeface="Aptos"/>
                        </a:rPr>
                        <a:t>37 K</a:t>
                      </a:r>
                      <a:r>
                        <a:rPr lang="en-US" sz="1800" b="0" i="0" dirty="0">
                          <a:solidFill>
                            <a:srgbClr val="000000"/>
                          </a:solidFill>
                          <a:effectLst/>
                          <a:latin typeface="Aptos"/>
                        </a:rPr>
                        <a:t> </a:t>
                      </a:r>
                      <a:endParaRPr lang="en-US" sz="1800" b="0" i="0" dirty="0">
                        <a:effectLst/>
                        <a:latin typeface="Aptos"/>
                      </a:endParaRPr>
                    </a:p>
                  </a:txBody>
                  <a:tcPr marL="66675" marR="66675">
                    <a:lnL w="9525" cap="flat" cmpd="sng" algn="ctr">
                      <a:solidFill>
                        <a:srgbClr val="45B0E1"/>
                      </a:solidFill>
                      <a:prstDash val="solid"/>
                      <a:round/>
                      <a:headEnd type="none" w="med" len="med"/>
                      <a:tailEnd type="none" w="med" len="med"/>
                    </a:lnL>
                    <a:lnR w="9525" cap="flat" cmpd="sng" algn="ctr">
                      <a:solidFill>
                        <a:srgbClr val="45B0E1"/>
                      </a:solidFill>
                      <a:prstDash val="solid"/>
                      <a:round/>
                      <a:headEnd type="none" w="med" len="med"/>
                      <a:tailEnd type="none" w="med" len="med"/>
                    </a:lnR>
                    <a:lnT w="9525" cap="flat" cmpd="sng" algn="ctr">
                      <a:solidFill>
                        <a:srgbClr val="45B0E1"/>
                      </a:solidFill>
                      <a:prstDash val="solid"/>
                      <a:round/>
                      <a:headEnd type="none" w="med" len="med"/>
                      <a:tailEnd type="none" w="med" len="med"/>
                    </a:lnT>
                    <a:lnB w="9525" cap="flat" cmpd="sng" algn="ctr">
                      <a:solidFill>
                        <a:srgbClr val="45B0E1"/>
                      </a:solidFill>
                      <a:prstDash val="solid"/>
                      <a:round/>
                      <a:headEnd type="none" w="med" len="med"/>
                      <a:tailEnd type="none" w="med" len="med"/>
                    </a:lnB>
                    <a:noFill/>
                  </a:tcPr>
                </a:tc>
                <a:tc>
                  <a:txBody>
                    <a:bodyPr/>
                    <a:lstStyle/>
                    <a:p>
                      <a:pPr algn="ctr" rtl="0" fontAlgn="base">
                        <a:lnSpc>
                          <a:spcPts val="1350"/>
                        </a:lnSpc>
                        <a:buNone/>
                      </a:pPr>
                      <a:r>
                        <a:rPr lang="en-US" sz="1800" b="0" i="0" u="none" strike="noStrike">
                          <a:solidFill>
                            <a:srgbClr val="000000"/>
                          </a:solidFill>
                          <a:effectLst/>
                          <a:latin typeface="Aptos"/>
                        </a:rPr>
                        <a:t>36 K</a:t>
                      </a:r>
                      <a:r>
                        <a:rPr lang="en-US" sz="1800" b="0" i="0" dirty="0">
                          <a:solidFill>
                            <a:srgbClr val="000000"/>
                          </a:solidFill>
                          <a:effectLst/>
                          <a:latin typeface="Aptos"/>
                        </a:rPr>
                        <a:t> </a:t>
                      </a:r>
                      <a:endParaRPr lang="en-US" sz="1800" b="0" i="0" dirty="0">
                        <a:effectLst/>
                        <a:latin typeface="Aptos"/>
                      </a:endParaRPr>
                    </a:p>
                  </a:txBody>
                  <a:tcPr marL="66675" marR="66675">
                    <a:lnL w="9525" cap="flat" cmpd="sng" algn="ctr">
                      <a:solidFill>
                        <a:srgbClr val="45B0E1"/>
                      </a:solidFill>
                      <a:prstDash val="solid"/>
                      <a:round/>
                      <a:headEnd type="none" w="med" len="med"/>
                      <a:tailEnd type="none" w="med" len="med"/>
                    </a:lnL>
                    <a:lnR w="9525" cap="flat" cmpd="sng" algn="ctr">
                      <a:solidFill>
                        <a:srgbClr val="45B0E1"/>
                      </a:solidFill>
                      <a:prstDash val="solid"/>
                      <a:round/>
                      <a:headEnd type="none" w="med" len="med"/>
                      <a:tailEnd type="none" w="med" len="med"/>
                    </a:lnR>
                    <a:lnT w="9525" cap="flat" cmpd="sng" algn="ctr">
                      <a:solidFill>
                        <a:srgbClr val="45B0E1"/>
                      </a:solidFill>
                      <a:prstDash val="solid"/>
                      <a:round/>
                      <a:headEnd type="none" w="med" len="med"/>
                      <a:tailEnd type="none" w="med" len="med"/>
                    </a:lnT>
                    <a:lnB w="9525" cap="flat" cmpd="sng" algn="ctr">
                      <a:solidFill>
                        <a:srgbClr val="45B0E1"/>
                      </a:solidFill>
                      <a:prstDash val="solid"/>
                      <a:round/>
                      <a:headEnd type="none" w="med" len="med"/>
                      <a:tailEnd type="none" w="med" len="med"/>
                    </a:lnB>
                    <a:noFill/>
                  </a:tcPr>
                </a:tc>
                <a:tc>
                  <a:txBody>
                    <a:bodyPr/>
                    <a:lstStyle/>
                    <a:p>
                      <a:pPr algn="ctr" rtl="0" fontAlgn="base">
                        <a:lnSpc>
                          <a:spcPts val="1350"/>
                        </a:lnSpc>
                        <a:buNone/>
                      </a:pPr>
                      <a:r>
                        <a:rPr lang="en-US" sz="1800" b="0" i="0" u="none" strike="noStrike">
                          <a:solidFill>
                            <a:srgbClr val="000000"/>
                          </a:solidFill>
                          <a:effectLst/>
                          <a:latin typeface="Aptos"/>
                        </a:rPr>
                        <a:t>36 K</a:t>
                      </a:r>
                      <a:r>
                        <a:rPr lang="en-US" sz="1800" b="0" i="0" dirty="0">
                          <a:solidFill>
                            <a:srgbClr val="000000"/>
                          </a:solidFill>
                          <a:effectLst/>
                          <a:latin typeface="Aptos"/>
                        </a:rPr>
                        <a:t> </a:t>
                      </a:r>
                      <a:endParaRPr lang="en-US" sz="1800" b="0" i="0" dirty="0">
                        <a:effectLst/>
                        <a:latin typeface="Aptos"/>
                      </a:endParaRPr>
                    </a:p>
                  </a:txBody>
                  <a:tcPr marL="66675" marR="66675">
                    <a:lnL w="9525" cap="flat" cmpd="sng" algn="ctr">
                      <a:solidFill>
                        <a:srgbClr val="45B0E1"/>
                      </a:solidFill>
                      <a:prstDash val="solid"/>
                      <a:round/>
                      <a:headEnd type="none" w="med" len="med"/>
                      <a:tailEnd type="none" w="med" len="med"/>
                    </a:lnL>
                    <a:lnR w="9525" cap="flat" cmpd="sng" algn="ctr">
                      <a:solidFill>
                        <a:srgbClr val="45B0E1"/>
                      </a:solidFill>
                      <a:prstDash val="solid"/>
                      <a:round/>
                      <a:headEnd type="none" w="med" len="med"/>
                      <a:tailEnd type="none" w="med" len="med"/>
                    </a:lnR>
                    <a:lnT w="9525" cap="flat" cmpd="sng" algn="ctr">
                      <a:solidFill>
                        <a:srgbClr val="45B0E1"/>
                      </a:solidFill>
                      <a:prstDash val="solid"/>
                      <a:round/>
                      <a:headEnd type="none" w="med" len="med"/>
                      <a:tailEnd type="none" w="med" len="med"/>
                    </a:lnT>
                    <a:lnB w="9525" cap="flat" cmpd="sng" algn="ctr">
                      <a:solidFill>
                        <a:srgbClr val="45B0E1"/>
                      </a:solidFill>
                      <a:prstDash val="solid"/>
                      <a:round/>
                      <a:headEnd type="none" w="med" len="med"/>
                      <a:tailEnd type="none" w="med" len="med"/>
                    </a:lnB>
                    <a:noFill/>
                  </a:tcPr>
                </a:tc>
                <a:tc>
                  <a:txBody>
                    <a:bodyPr/>
                    <a:lstStyle/>
                    <a:p>
                      <a:pPr algn="ctr" rtl="0" fontAlgn="base">
                        <a:lnSpc>
                          <a:spcPts val="1350"/>
                        </a:lnSpc>
                        <a:buNone/>
                      </a:pPr>
                      <a:r>
                        <a:rPr lang="en-US" sz="1800" b="0" i="0" u="none" strike="noStrike">
                          <a:solidFill>
                            <a:srgbClr val="64748B"/>
                          </a:solidFill>
                          <a:effectLst/>
                          <a:latin typeface="Aptos"/>
                        </a:rPr>
                        <a:t>→ Flat</a:t>
                      </a:r>
                      <a:r>
                        <a:rPr lang="en-US" sz="1800" b="0" i="0" dirty="0">
                          <a:solidFill>
                            <a:srgbClr val="64748B"/>
                          </a:solidFill>
                          <a:effectLst/>
                          <a:latin typeface="Aptos"/>
                        </a:rPr>
                        <a:t> </a:t>
                      </a:r>
                      <a:endParaRPr lang="en-US" sz="1800" b="0" i="0" dirty="0">
                        <a:effectLst/>
                        <a:latin typeface="Aptos"/>
                      </a:endParaRPr>
                    </a:p>
                  </a:txBody>
                  <a:tcPr marL="66675" marR="66675">
                    <a:lnL w="9525" cap="flat" cmpd="sng" algn="ctr">
                      <a:solidFill>
                        <a:srgbClr val="45B0E1"/>
                      </a:solidFill>
                      <a:prstDash val="solid"/>
                      <a:round/>
                      <a:headEnd type="none" w="med" len="med"/>
                      <a:tailEnd type="none" w="med" len="med"/>
                    </a:lnL>
                    <a:lnR w="9525" cap="flat" cmpd="sng" algn="ctr">
                      <a:solidFill>
                        <a:srgbClr val="45B0E1"/>
                      </a:solidFill>
                      <a:prstDash val="solid"/>
                      <a:round/>
                      <a:headEnd type="none" w="med" len="med"/>
                      <a:tailEnd type="none" w="med" len="med"/>
                    </a:lnR>
                    <a:lnT w="9525" cap="flat" cmpd="sng" algn="ctr">
                      <a:solidFill>
                        <a:srgbClr val="45B0E1"/>
                      </a:solidFill>
                      <a:prstDash val="solid"/>
                      <a:round/>
                      <a:headEnd type="none" w="med" len="med"/>
                      <a:tailEnd type="none" w="med" len="med"/>
                    </a:lnT>
                    <a:lnB w="9525" cap="flat" cmpd="sng" algn="ctr">
                      <a:solidFill>
                        <a:srgbClr val="45B0E1"/>
                      </a:solidFill>
                      <a:prstDash val="solid"/>
                      <a:round/>
                      <a:headEnd type="none" w="med" len="med"/>
                      <a:tailEnd type="none" w="med" len="med"/>
                    </a:lnB>
                    <a:noFill/>
                  </a:tcPr>
                </a:tc>
                <a:extLst>
                  <a:ext uri="{0D108BD9-81ED-4DB2-BD59-A6C34878D82A}">
                    <a16:rowId xmlns:a16="http://schemas.microsoft.com/office/drawing/2014/main" val="2685598936"/>
                  </a:ext>
                </a:extLst>
              </a:tr>
              <a:tr h="410434">
                <a:tc>
                  <a:txBody>
                    <a:bodyPr/>
                    <a:lstStyle/>
                    <a:p>
                      <a:pPr algn="ctr" rtl="0" fontAlgn="base">
                        <a:lnSpc>
                          <a:spcPts val="1350"/>
                        </a:lnSpc>
                        <a:buNone/>
                      </a:pPr>
                      <a:r>
                        <a:rPr lang="en-US" sz="1800" b="0" i="0" u="none" strike="noStrike">
                          <a:solidFill>
                            <a:srgbClr val="000000"/>
                          </a:solidFill>
                          <a:effectLst/>
                          <a:latin typeface="Aptos"/>
                        </a:rPr>
                        <a:t>Lakeland</a:t>
                      </a:r>
                      <a:r>
                        <a:rPr lang="en-US" sz="1800" b="1" i="0" dirty="0">
                          <a:solidFill>
                            <a:srgbClr val="000000"/>
                          </a:solidFill>
                          <a:effectLst/>
                          <a:latin typeface="Aptos"/>
                        </a:rPr>
                        <a:t> </a:t>
                      </a:r>
                      <a:endParaRPr lang="en-US" sz="1800" b="1" i="0" dirty="0">
                        <a:effectLst/>
                        <a:latin typeface="Aptos"/>
                      </a:endParaRPr>
                    </a:p>
                  </a:txBody>
                  <a:tcPr marL="66675" marR="66675">
                    <a:lnL w="9525" cap="flat" cmpd="sng" algn="ctr">
                      <a:solidFill>
                        <a:srgbClr val="45B0E1"/>
                      </a:solidFill>
                      <a:prstDash val="solid"/>
                      <a:round/>
                      <a:headEnd type="none" w="med" len="med"/>
                      <a:tailEnd type="none" w="med" len="med"/>
                    </a:lnL>
                    <a:lnR w="9525" cap="flat" cmpd="sng" algn="ctr">
                      <a:solidFill>
                        <a:srgbClr val="45B0E1"/>
                      </a:solidFill>
                      <a:prstDash val="solid"/>
                      <a:round/>
                      <a:headEnd type="none" w="med" len="med"/>
                      <a:tailEnd type="none" w="med" len="med"/>
                    </a:lnR>
                    <a:lnT w="9525" cap="flat" cmpd="sng" algn="ctr">
                      <a:solidFill>
                        <a:srgbClr val="45B0E1"/>
                      </a:solidFill>
                      <a:prstDash val="solid"/>
                      <a:round/>
                      <a:headEnd type="none" w="med" len="med"/>
                      <a:tailEnd type="none" w="med" len="med"/>
                    </a:lnT>
                    <a:lnB w="9525" cap="flat" cmpd="sng" algn="ctr">
                      <a:solidFill>
                        <a:srgbClr val="45B0E1"/>
                      </a:solidFill>
                      <a:prstDash val="solid"/>
                      <a:round/>
                      <a:headEnd type="none" w="med" len="med"/>
                      <a:tailEnd type="none" w="med" len="med"/>
                    </a:lnB>
                    <a:noFill/>
                  </a:tcPr>
                </a:tc>
                <a:tc>
                  <a:txBody>
                    <a:bodyPr/>
                    <a:lstStyle/>
                    <a:p>
                      <a:pPr algn="ctr" rtl="0" fontAlgn="base">
                        <a:lnSpc>
                          <a:spcPts val="1350"/>
                        </a:lnSpc>
                        <a:buNone/>
                      </a:pPr>
                      <a:r>
                        <a:rPr lang="en-US" sz="1800" b="0" i="0" u="none" strike="noStrike">
                          <a:solidFill>
                            <a:srgbClr val="000000"/>
                          </a:solidFill>
                          <a:effectLst/>
                          <a:latin typeface="Aptos"/>
                        </a:rPr>
                        <a:t>74 K</a:t>
                      </a:r>
                      <a:r>
                        <a:rPr lang="en-US" sz="1800" b="0" i="0" dirty="0">
                          <a:solidFill>
                            <a:srgbClr val="000000"/>
                          </a:solidFill>
                          <a:effectLst/>
                          <a:latin typeface="Aptos"/>
                        </a:rPr>
                        <a:t> </a:t>
                      </a:r>
                      <a:endParaRPr lang="en-US" sz="1800" b="0" i="0" dirty="0">
                        <a:effectLst/>
                        <a:latin typeface="Aptos"/>
                      </a:endParaRPr>
                    </a:p>
                  </a:txBody>
                  <a:tcPr marL="66675" marR="66675">
                    <a:lnL w="9525" cap="flat" cmpd="sng" algn="ctr">
                      <a:solidFill>
                        <a:srgbClr val="45B0E1"/>
                      </a:solidFill>
                      <a:prstDash val="solid"/>
                      <a:round/>
                      <a:headEnd type="none" w="med" len="med"/>
                      <a:tailEnd type="none" w="med" len="med"/>
                    </a:lnL>
                    <a:lnR w="9525" cap="flat" cmpd="sng" algn="ctr">
                      <a:solidFill>
                        <a:srgbClr val="45B0E1"/>
                      </a:solidFill>
                      <a:prstDash val="solid"/>
                      <a:round/>
                      <a:headEnd type="none" w="med" len="med"/>
                      <a:tailEnd type="none" w="med" len="med"/>
                    </a:lnR>
                    <a:lnT w="9525" cap="flat" cmpd="sng" algn="ctr">
                      <a:solidFill>
                        <a:srgbClr val="45B0E1"/>
                      </a:solidFill>
                      <a:prstDash val="solid"/>
                      <a:round/>
                      <a:headEnd type="none" w="med" len="med"/>
                      <a:tailEnd type="none" w="med" len="med"/>
                    </a:lnT>
                    <a:lnB w="9525" cap="flat" cmpd="sng" algn="ctr">
                      <a:solidFill>
                        <a:srgbClr val="45B0E1"/>
                      </a:solidFill>
                      <a:prstDash val="solid"/>
                      <a:round/>
                      <a:headEnd type="none" w="med" len="med"/>
                      <a:tailEnd type="none" w="med" len="med"/>
                    </a:lnB>
                    <a:noFill/>
                  </a:tcPr>
                </a:tc>
                <a:tc>
                  <a:txBody>
                    <a:bodyPr/>
                    <a:lstStyle/>
                    <a:p>
                      <a:pPr algn="ctr" rtl="0" fontAlgn="base">
                        <a:lnSpc>
                          <a:spcPts val="1350"/>
                        </a:lnSpc>
                        <a:buNone/>
                      </a:pPr>
                      <a:r>
                        <a:rPr lang="en-US" sz="1800" b="0" i="0" u="none" strike="noStrike">
                          <a:solidFill>
                            <a:srgbClr val="000000"/>
                          </a:solidFill>
                          <a:effectLst/>
                          <a:latin typeface="Aptos"/>
                        </a:rPr>
                        <a:t>75 K</a:t>
                      </a:r>
                      <a:r>
                        <a:rPr lang="en-US" sz="1800" b="0" i="0" dirty="0">
                          <a:solidFill>
                            <a:srgbClr val="000000"/>
                          </a:solidFill>
                          <a:effectLst/>
                          <a:latin typeface="Aptos"/>
                        </a:rPr>
                        <a:t> </a:t>
                      </a:r>
                      <a:endParaRPr lang="en-US" sz="1800" b="0" i="0" dirty="0">
                        <a:effectLst/>
                        <a:latin typeface="Aptos"/>
                      </a:endParaRPr>
                    </a:p>
                  </a:txBody>
                  <a:tcPr marL="66675" marR="66675">
                    <a:lnL w="9525" cap="flat" cmpd="sng" algn="ctr">
                      <a:solidFill>
                        <a:srgbClr val="45B0E1"/>
                      </a:solidFill>
                      <a:prstDash val="solid"/>
                      <a:round/>
                      <a:headEnd type="none" w="med" len="med"/>
                      <a:tailEnd type="none" w="med" len="med"/>
                    </a:lnL>
                    <a:lnR w="9525" cap="flat" cmpd="sng" algn="ctr">
                      <a:solidFill>
                        <a:srgbClr val="45B0E1"/>
                      </a:solidFill>
                      <a:prstDash val="solid"/>
                      <a:round/>
                      <a:headEnd type="none" w="med" len="med"/>
                      <a:tailEnd type="none" w="med" len="med"/>
                    </a:lnR>
                    <a:lnT w="9525" cap="flat" cmpd="sng" algn="ctr">
                      <a:solidFill>
                        <a:srgbClr val="45B0E1"/>
                      </a:solidFill>
                      <a:prstDash val="solid"/>
                      <a:round/>
                      <a:headEnd type="none" w="med" len="med"/>
                      <a:tailEnd type="none" w="med" len="med"/>
                    </a:lnT>
                    <a:lnB w="9525" cap="flat" cmpd="sng" algn="ctr">
                      <a:solidFill>
                        <a:srgbClr val="45B0E1"/>
                      </a:solidFill>
                      <a:prstDash val="solid"/>
                      <a:round/>
                      <a:headEnd type="none" w="med" len="med"/>
                      <a:tailEnd type="none" w="med" len="med"/>
                    </a:lnB>
                    <a:noFill/>
                  </a:tcPr>
                </a:tc>
                <a:tc>
                  <a:txBody>
                    <a:bodyPr/>
                    <a:lstStyle/>
                    <a:p>
                      <a:pPr algn="ctr" rtl="0" fontAlgn="base">
                        <a:lnSpc>
                          <a:spcPts val="1350"/>
                        </a:lnSpc>
                        <a:buNone/>
                      </a:pPr>
                      <a:r>
                        <a:rPr lang="en-US" sz="1800" b="0" i="0" u="none" strike="noStrike">
                          <a:solidFill>
                            <a:srgbClr val="000000"/>
                          </a:solidFill>
                          <a:effectLst/>
                          <a:latin typeface="Aptos"/>
                        </a:rPr>
                        <a:t>76 K</a:t>
                      </a:r>
                      <a:r>
                        <a:rPr lang="en-US" sz="1800" b="0" i="0" dirty="0">
                          <a:solidFill>
                            <a:srgbClr val="000000"/>
                          </a:solidFill>
                          <a:effectLst/>
                          <a:latin typeface="Aptos"/>
                        </a:rPr>
                        <a:t> </a:t>
                      </a:r>
                      <a:endParaRPr lang="en-US" sz="1800" b="0" i="0" dirty="0">
                        <a:effectLst/>
                        <a:latin typeface="Aptos"/>
                      </a:endParaRPr>
                    </a:p>
                  </a:txBody>
                  <a:tcPr marL="66675" marR="66675">
                    <a:lnL w="9525" cap="flat" cmpd="sng" algn="ctr">
                      <a:solidFill>
                        <a:srgbClr val="45B0E1"/>
                      </a:solidFill>
                      <a:prstDash val="solid"/>
                      <a:round/>
                      <a:headEnd type="none" w="med" len="med"/>
                      <a:tailEnd type="none" w="med" len="med"/>
                    </a:lnL>
                    <a:lnR w="9525" cap="flat" cmpd="sng" algn="ctr">
                      <a:solidFill>
                        <a:srgbClr val="45B0E1"/>
                      </a:solidFill>
                      <a:prstDash val="solid"/>
                      <a:round/>
                      <a:headEnd type="none" w="med" len="med"/>
                      <a:tailEnd type="none" w="med" len="med"/>
                    </a:lnR>
                    <a:lnT w="9525" cap="flat" cmpd="sng" algn="ctr">
                      <a:solidFill>
                        <a:srgbClr val="45B0E1"/>
                      </a:solidFill>
                      <a:prstDash val="solid"/>
                      <a:round/>
                      <a:headEnd type="none" w="med" len="med"/>
                      <a:tailEnd type="none" w="med" len="med"/>
                    </a:lnT>
                    <a:lnB w="9525" cap="flat" cmpd="sng" algn="ctr">
                      <a:solidFill>
                        <a:srgbClr val="45B0E1"/>
                      </a:solidFill>
                      <a:prstDash val="solid"/>
                      <a:round/>
                      <a:headEnd type="none" w="med" len="med"/>
                      <a:tailEnd type="none" w="med" len="med"/>
                    </a:lnB>
                    <a:noFill/>
                  </a:tcPr>
                </a:tc>
                <a:tc>
                  <a:txBody>
                    <a:bodyPr/>
                    <a:lstStyle/>
                    <a:p>
                      <a:pPr algn="ctr" rtl="0" fontAlgn="base">
                        <a:lnSpc>
                          <a:spcPts val="1350"/>
                        </a:lnSpc>
                        <a:buNone/>
                      </a:pPr>
                      <a:r>
                        <a:rPr lang="en-US" sz="1800" b="0" i="0" u="none" strike="noStrike">
                          <a:solidFill>
                            <a:srgbClr val="1E8449"/>
                          </a:solidFill>
                          <a:effectLst/>
                          <a:latin typeface="Aptos"/>
                        </a:rPr>
                        <a:t>↑ Steady</a:t>
                      </a:r>
                      <a:r>
                        <a:rPr lang="en-US" sz="1800" b="0" i="0" dirty="0">
                          <a:solidFill>
                            <a:srgbClr val="1E8449"/>
                          </a:solidFill>
                          <a:effectLst/>
                          <a:latin typeface="Aptos"/>
                        </a:rPr>
                        <a:t> </a:t>
                      </a:r>
                      <a:endParaRPr lang="en-US" sz="1800" b="0" i="0" dirty="0">
                        <a:effectLst/>
                        <a:latin typeface="Aptos"/>
                      </a:endParaRPr>
                    </a:p>
                  </a:txBody>
                  <a:tcPr marL="66675" marR="66675">
                    <a:lnL w="9525" cap="flat" cmpd="sng" algn="ctr">
                      <a:solidFill>
                        <a:srgbClr val="45B0E1"/>
                      </a:solidFill>
                      <a:prstDash val="solid"/>
                      <a:round/>
                      <a:headEnd type="none" w="med" len="med"/>
                      <a:tailEnd type="none" w="med" len="med"/>
                    </a:lnL>
                    <a:lnR w="9525" cap="flat" cmpd="sng" algn="ctr">
                      <a:solidFill>
                        <a:srgbClr val="45B0E1"/>
                      </a:solidFill>
                      <a:prstDash val="solid"/>
                      <a:round/>
                      <a:headEnd type="none" w="med" len="med"/>
                      <a:tailEnd type="none" w="med" len="med"/>
                    </a:lnR>
                    <a:lnT w="9525" cap="flat" cmpd="sng" algn="ctr">
                      <a:solidFill>
                        <a:srgbClr val="45B0E1"/>
                      </a:solidFill>
                      <a:prstDash val="solid"/>
                      <a:round/>
                      <a:headEnd type="none" w="med" len="med"/>
                      <a:tailEnd type="none" w="med" len="med"/>
                    </a:lnT>
                    <a:lnB w="9525" cap="flat" cmpd="sng" algn="ctr">
                      <a:solidFill>
                        <a:srgbClr val="45B0E1"/>
                      </a:solidFill>
                      <a:prstDash val="solid"/>
                      <a:round/>
                      <a:headEnd type="none" w="med" len="med"/>
                      <a:tailEnd type="none" w="med" len="med"/>
                    </a:lnB>
                    <a:noFill/>
                  </a:tcPr>
                </a:tc>
                <a:extLst>
                  <a:ext uri="{0D108BD9-81ED-4DB2-BD59-A6C34878D82A}">
                    <a16:rowId xmlns:a16="http://schemas.microsoft.com/office/drawing/2014/main" val="145638499"/>
                  </a:ext>
                </a:extLst>
              </a:tr>
            </a:tbl>
          </a:graphicData>
        </a:graphic>
      </p:graphicFrame>
    </p:spTree>
    <p:extLst>
      <p:ext uri="{BB962C8B-B14F-4D97-AF65-F5344CB8AC3E}">
        <p14:creationId xmlns:p14="http://schemas.microsoft.com/office/powerpoint/2010/main" val="32919247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29ACB-E664-AB86-CE55-F0A9472E43BD}"/>
              </a:ext>
            </a:extLst>
          </p:cNvPr>
          <p:cNvSpPr>
            <a:spLocks noGrp="1"/>
          </p:cNvSpPr>
          <p:nvPr>
            <p:ph type="title"/>
          </p:nvPr>
        </p:nvSpPr>
        <p:spPr>
          <a:xfrm>
            <a:off x="521208" y="745797"/>
            <a:ext cx="11155680" cy="885525"/>
          </a:xfrm>
        </p:spPr>
        <p:txBody>
          <a:bodyPr>
            <a:normAutofit/>
          </a:bodyPr>
          <a:lstStyle/>
          <a:p>
            <a:r>
              <a:rPr lang="en-US" sz="3200"/>
              <a:t>Peak Periods : When Staging Capacity is Most Critical</a:t>
            </a:r>
          </a:p>
        </p:txBody>
      </p:sp>
      <p:sp>
        <p:nvSpPr>
          <p:cNvPr id="4" name="TextBox 3">
            <a:extLst>
              <a:ext uri="{FF2B5EF4-FFF2-40B4-BE49-F238E27FC236}">
                <a16:creationId xmlns:a16="http://schemas.microsoft.com/office/drawing/2014/main" id="{0DE97AE3-39C8-DA38-C5FA-19D88AD86D8D}"/>
              </a:ext>
            </a:extLst>
          </p:cNvPr>
          <p:cNvSpPr txBox="1"/>
          <p:nvPr/>
        </p:nvSpPr>
        <p:spPr>
          <a:xfrm>
            <a:off x="744781" y="1628815"/>
            <a:ext cx="2301998" cy="1015663"/>
          </a:xfrm>
          <a:prstGeom prst="rect">
            <a:avLst/>
          </a:prstGeom>
          <a:ln w="28575"/>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endParaRPr lang="en-US"/>
          </a:p>
          <a:p>
            <a:pPr algn="ctr"/>
            <a:r>
              <a:rPr lang="en-US" sz="2200" b="1">
                <a:solidFill>
                  <a:schemeClr val="accent4"/>
                </a:solidFill>
              </a:rPr>
              <a:t>2030</a:t>
            </a:r>
          </a:p>
          <a:p>
            <a:pPr algn="ctr"/>
            <a:r>
              <a:rPr lang="en-US" sz="2000"/>
              <a:t>Peak Year</a:t>
            </a:r>
          </a:p>
        </p:txBody>
      </p:sp>
      <p:sp>
        <p:nvSpPr>
          <p:cNvPr id="6" name="TextBox 5">
            <a:extLst>
              <a:ext uri="{FF2B5EF4-FFF2-40B4-BE49-F238E27FC236}">
                <a16:creationId xmlns:a16="http://schemas.microsoft.com/office/drawing/2014/main" id="{E164125D-AE49-6B7B-D6B2-ADE88D7BF1A1}"/>
              </a:ext>
            </a:extLst>
          </p:cNvPr>
          <p:cNvSpPr txBox="1"/>
          <p:nvPr/>
        </p:nvSpPr>
        <p:spPr>
          <a:xfrm>
            <a:off x="4360987" y="1628815"/>
            <a:ext cx="2853790" cy="1015663"/>
          </a:xfrm>
          <a:prstGeom prst="rect">
            <a:avLst/>
          </a:prstGeom>
          <a:ln w="28575"/>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endParaRPr lang="en-US"/>
          </a:p>
          <a:p>
            <a:pPr algn="ctr"/>
            <a:r>
              <a:rPr lang="en-US" sz="2200" b="1">
                <a:solidFill>
                  <a:schemeClr val="accent4"/>
                </a:solidFill>
              </a:rPr>
              <a:t>July, Sep, Oct, Nov</a:t>
            </a:r>
          </a:p>
          <a:p>
            <a:pPr algn="ctr"/>
            <a:r>
              <a:rPr lang="en-US" sz="2000"/>
              <a:t>Peak Months</a:t>
            </a:r>
          </a:p>
        </p:txBody>
      </p:sp>
      <p:sp>
        <p:nvSpPr>
          <p:cNvPr id="8" name="TextBox 7">
            <a:extLst>
              <a:ext uri="{FF2B5EF4-FFF2-40B4-BE49-F238E27FC236}">
                <a16:creationId xmlns:a16="http://schemas.microsoft.com/office/drawing/2014/main" id="{A2326849-7CDF-1FD0-307F-B4084E2210BE}"/>
              </a:ext>
            </a:extLst>
          </p:cNvPr>
          <p:cNvSpPr txBox="1"/>
          <p:nvPr/>
        </p:nvSpPr>
        <p:spPr>
          <a:xfrm>
            <a:off x="8395206" y="1628815"/>
            <a:ext cx="2550650" cy="1015663"/>
          </a:xfrm>
          <a:prstGeom prst="rect">
            <a:avLst/>
          </a:prstGeom>
          <a:ln w="28575"/>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endParaRPr lang="en-US" b="1"/>
          </a:p>
          <a:p>
            <a:pPr algn="ctr"/>
            <a:r>
              <a:rPr lang="en-US" sz="2200" b="1">
                <a:solidFill>
                  <a:schemeClr val="accent4"/>
                </a:solidFill>
                <a:ea typeface="+mn-lt"/>
                <a:cs typeface="+mn-lt"/>
              </a:rPr>
              <a:t>38, 39, 43, 44</a:t>
            </a:r>
          </a:p>
          <a:p>
            <a:pPr algn="ctr"/>
            <a:r>
              <a:rPr lang="en-US" sz="2000"/>
              <a:t>Peak Weeks</a:t>
            </a:r>
          </a:p>
        </p:txBody>
      </p:sp>
      <p:pic>
        <p:nvPicPr>
          <p:cNvPr id="3" name="Picture 2" descr="A screenshot of a graph&#10;&#10;AI-generated content may be incorrect.">
            <a:extLst>
              <a:ext uri="{FF2B5EF4-FFF2-40B4-BE49-F238E27FC236}">
                <a16:creationId xmlns:a16="http://schemas.microsoft.com/office/drawing/2014/main" id="{FF252010-627B-CE30-2805-CD25BA23EDA8}"/>
              </a:ext>
            </a:extLst>
          </p:cNvPr>
          <p:cNvPicPr>
            <a:picLocks noChangeAspect="1"/>
          </p:cNvPicPr>
          <p:nvPr/>
        </p:nvPicPr>
        <p:blipFill>
          <a:blip r:embed="rId2"/>
          <a:stretch>
            <a:fillRect/>
          </a:stretch>
        </p:blipFill>
        <p:spPr>
          <a:xfrm>
            <a:off x="517853" y="3036723"/>
            <a:ext cx="6558018" cy="3140622"/>
          </a:xfrm>
          <a:prstGeom prst="rect">
            <a:avLst/>
          </a:prstGeom>
        </p:spPr>
      </p:pic>
      <p:sp>
        <p:nvSpPr>
          <p:cNvPr id="5" name="TextBox 4">
            <a:extLst>
              <a:ext uri="{FF2B5EF4-FFF2-40B4-BE49-F238E27FC236}">
                <a16:creationId xmlns:a16="http://schemas.microsoft.com/office/drawing/2014/main" id="{4FCCDC8E-A0BC-E848-C57A-71421090E235}"/>
              </a:ext>
            </a:extLst>
          </p:cNvPr>
          <p:cNvSpPr txBox="1"/>
          <p:nvPr/>
        </p:nvSpPr>
        <p:spPr>
          <a:xfrm>
            <a:off x="7515551" y="3822321"/>
            <a:ext cx="4301882"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2030 is the peak year (6.85M passengers). By month, July, Sep, Oct and Nov are consistently the busiest across all five forecast years. Weeks 38, 39, 43, 44  carry the highest single-week loads (average of over 129K)— critical for staffing and gate planning.</a:t>
            </a:r>
          </a:p>
        </p:txBody>
      </p:sp>
    </p:spTree>
    <p:extLst>
      <p:ext uri="{BB962C8B-B14F-4D97-AF65-F5344CB8AC3E}">
        <p14:creationId xmlns:p14="http://schemas.microsoft.com/office/powerpoint/2010/main" val="6813692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3F409-719C-79C2-AAAF-24D01458AF39}"/>
              </a:ext>
            </a:extLst>
          </p:cNvPr>
          <p:cNvSpPr>
            <a:spLocks noGrp="1"/>
          </p:cNvSpPr>
          <p:nvPr>
            <p:ph type="title"/>
          </p:nvPr>
        </p:nvSpPr>
        <p:spPr>
          <a:xfrm>
            <a:off x="521208" y="801945"/>
            <a:ext cx="11155680" cy="524578"/>
          </a:xfrm>
        </p:spPr>
        <p:txBody>
          <a:bodyPr>
            <a:normAutofit fontScale="90000"/>
          </a:bodyPr>
          <a:lstStyle/>
          <a:p>
            <a:r>
              <a:rPr lang="en-US" sz="3200"/>
              <a:t>Fall 2019 Comparison</a:t>
            </a:r>
          </a:p>
        </p:txBody>
      </p:sp>
      <p:pic>
        <p:nvPicPr>
          <p:cNvPr id="5" name="Picture 4" descr="A graph of recovery rate&#10;&#10;AI-generated content may be incorrect.">
            <a:extLst>
              <a:ext uri="{FF2B5EF4-FFF2-40B4-BE49-F238E27FC236}">
                <a16:creationId xmlns:a16="http://schemas.microsoft.com/office/drawing/2014/main" id="{FDA52CC2-5BA3-AB6C-F416-22EC00E4F9D2}"/>
              </a:ext>
            </a:extLst>
          </p:cNvPr>
          <p:cNvPicPr>
            <a:picLocks noChangeAspect="1"/>
          </p:cNvPicPr>
          <p:nvPr/>
        </p:nvPicPr>
        <p:blipFill>
          <a:blip r:embed="rId2"/>
          <a:stretch>
            <a:fillRect/>
          </a:stretch>
        </p:blipFill>
        <p:spPr>
          <a:xfrm>
            <a:off x="703489" y="1567543"/>
            <a:ext cx="10785021" cy="4572000"/>
          </a:xfrm>
          <a:prstGeom prst="rect">
            <a:avLst/>
          </a:prstGeom>
        </p:spPr>
      </p:pic>
    </p:spTree>
    <p:extLst>
      <p:ext uri="{BB962C8B-B14F-4D97-AF65-F5344CB8AC3E}">
        <p14:creationId xmlns:p14="http://schemas.microsoft.com/office/powerpoint/2010/main" val="32005137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420BC5C-C418-4843-B04B-6918968D09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D2AAD5-6A81-60EE-7443-9C7D7EE74C7E}"/>
              </a:ext>
            </a:extLst>
          </p:cNvPr>
          <p:cNvSpPr>
            <a:spLocks noGrp="1"/>
          </p:cNvSpPr>
          <p:nvPr>
            <p:ph type="title"/>
          </p:nvPr>
        </p:nvSpPr>
        <p:spPr>
          <a:xfrm>
            <a:off x="513187" y="745797"/>
            <a:ext cx="4825946" cy="645856"/>
          </a:xfrm>
        </p:spPr>
        <p:txBody>
          <a:bodyPr vert="horz" lIns="91440" tIns="45720" rIns="91440" bIns="45720" rtlCol="0" anchor="t">
            <a:normAutofit/>
          </a:bodyPr>
          <a:lstStyle/>
          <a:p>
            <a:r>
              <a:rPr lang="en-US" sz="3400"/>
              <a:t>Recommendations</a:t>
            </a:r>
            <a:r>
              <a:rPr lang="en-US" sz="3400" b="1" kern="1200">
                <a:latin typeface="+mj-lt"/>
                <a:ea typeface="+mj-ea"/>
                <a:cs typeface="+mj-cs"/>
              </a:rPr>
              <a:t>:</a:t>
            </a:r>
          </a:p>
        </p:txBody>
      </p:sp>
      <p:sp>
        <p:nvSpPr>
          <p:cNvPr id="11" name="Rectangle 10">
            <a:extLst>
              <a:ext uri="{FF2B5EF4-FFF2-40B4-BE49-F238E27FC236}">
                <a16:creationId xmlns:a16="http://schemas.microsoft.com/office/drawing/2014/main" id="{92BE0106-0C20-465B-A1BE-0BAC2737B1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4288536"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TextBox 6">
            <a:extLst>
              <a:ext uri="{FF2B5EF4-FFF2-40B4-BE49-F238E27FC236}">
                <a16:creationId xmlns:a16="http://schemas.microsoft.com/office/drawing/2014/main" id="{D92DC8F0-0FCA-7597-6127-51432FFD0E7B}"/>
              </a:ext>
            </a:extLst>
          </p:cNvPr>
          <p:cNvGraphicFramePr/>
          <p:nvPr>
            <p:extLst>
              <p:ext uri="{D42A27DB-BD31-4B8C-83A1-F6EECF244321}">
                <p14:modId xmlns:p14="http://schemas.microsoft.com/office/powerpoint/2010/main" val="4001497774"/>
              </p:ext>
            </p:extLst>
          </p:nvPr>
        </p:nvGraphicFramePr>
        <p:xfrm>
          <a:off x="509848" y="1717317"/>
          <a:ext cx="11222366" cy="490571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826053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E20BB609-EF92-42DB-836C-0699A590B5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DBDD8D-EE67-0CB7-1819-A087EE975E25}"/>
              </a:ext>
            </a:extLst>
          </p:cNvPr>
          <p:cNvSpPr>
            <a:spLocks noGrp="1"/>
          </p:cNvSpPr>
          <p:nvPr>
            <p:ph type="ctrTitle"/>
          </p:nvPr>
        </p:nvSpPr>
        <p:spPr>
          <a:xfrm>
            <a:off x="517870" y="2110522"/>
            <a:ext cx="8107790" cy="2299466"/>
          </a:xfrm>
        </p:spPr>
        <p:txBody>
          <a:bodyPr anchor="t">
            <a:normAutofit/>
          </a:bodyPr>
          <a:lstStyle/>
          <a:p>
            <a:r>
              <a:rPr lang="en-US"/>
              <a:t>Thank You</a:t>
            </a:r>
          </a:p>
        </p:txBody>
      </p:sp>
      <p:sp>
        <p:nvSpPr>
          <p:cNvPr id="15" name="Rectangle 14">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810779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0011C4F-7FF0-7357-C559-B7679DC276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810195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84352461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ANNOTATIONSNOTESHOWED" val="true"/>
</p:tagLst>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14</Slides>
  <Notes>0</Notes>
  <HiddenSlides>0</HiddenSlide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GestaltVTI</vt:lpstr>
      <vt:lpstr>Port Authority Bus Terminal: Demand Forecasting &amp; Capacity Planning for 2026–2030</vt:lpstr>
      <vt:lpstr>Agenda</vt:lpstr>
      <vt:lpstr>Forecasting Dataset</vt:lpstr>
      <vt:lpstr>Terminal Passenger Forecast: 2026 - 2030 </vt:lpstr>
      <vt:lpstr>Terminal Passenger Forecast Takeaways</vt:lpstr>
      <vt:lpstr>Forecasting Methodology: Why Prophet was Selected?</vt:lpstr>
      <vt:lpstr>Key Drivers of Ridership    </vt:lpstr>
      <vt:lpstr>Key Drivers of Ridership  </vt:lpstr>
      <vt:lpstr>Passengers Per Bus</vt:lpstr>
      <vt:lpstr>Carrier Level Projections</vt:lpstr>
      <vt:lpstr>Peak Periods : When Staging Capacity is Most Critical</vt:lpstr>
      <vt:lpstr>Fall 2019 Comparison</vt:lpstr>
      <vt:lpstr>Recommendations: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Portfolio Analytics Project</dc:creator>
  <cp:revision>18</cp:revision>
  <dcterms:created xsi:type="dcterms:W3CDTF">2026-04-26T23:53:39Z</dcterms:created>
  <dcterms:modified xsi:type="dcterms:W3CDTF">2026-05-07T01:29:14Z</dcterms:modified>
  <cp:lastModifiedBy>Portfolio Analytics Project</cp:lastModifiedBy>
  <dc:description>Portfolio version with personal names removed.</dc:descript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8c3cc9c-d660-41a9-8502-9ce659b5a1a4_Enabled">
    <vt:lpwstr>true</vt:lpwstr>
  </property>
  <property fmtid="{D5CDD505-2E9C-101B-9397-08002B2CF9AE}" pid="3" name="MSIP_Label_88c3cc9c-d660-41a9-8502-9ce659b5a1a4_SetDate">
    <vt:lpwstr>2026-04-26T23:53:44Z</vt:lpwstr>
  </property>
  <property fmtid="{D5CDD505-2E9C-101B-9397-08002B2CF9AE}" pid="4" name="MSIP_Label_88c3cc9c-d660-41a9-8502-9ce659b5a1a4_Method">
    <vt:lpwstr>Standard</vt:lpwstr>
  </property>
  <property fmtid="{D5CDD505-2E9C-101B-9397-08002B2CF9AE}" pid="5" name="MSIP_Label_88c3cc9c-d660-41a9-8502-9ce659b5a1a4_Name">
    <vt:lpwstr>defa4170-0d19-0005-0004-bc88714345d2</vt:lpwstr>
  </property>
  <property fmtid="{D5CDD505-2E9C-101B-9397-08002B2CF9AE}" pid="6" name="MSIP_Label_88c3cc9c-d660-41a9-8502-9ce659b5a1a4_SiteId">
    <vt:lpwstr>3c71cbab-b5ed-4f3b-ac0d-95509d6c0e93</vt:lpwstr>
  </property>
  <property fmtid="{D5CDD505-2E9C-101B-9397-08002B2CF9AE}" pid="7" name="MSIP_Label_88c3cc9c-d660-41a9-8502-9ce659b5a1a4_ActionId">
    <vt:lpwstr>098318e6-7d7b-4bbd-b186-b3d51c3b5099</vt:lpwstr>
  </property>
  <property fmtid="{D5CDD505-2E9C-101B-9397-08002B2CF9AE}" pid="8" name="MSIP_Label_88c3cc9c-d660-41a9-8502-9ce659b5a1a4_ContentBits">
    <vt:lpwstr>0</vt:lpwstr>
  </property>
  <property fmtid="{D5CDD505-2E9C-101B-9397-08002B2CF9AE}" pid="9" name="MSIP_Label_88c3cc9c-d660-41a9-8502-9ce659b5a1a4_Tag">
    <vt:lpwstr>10, 3, 0, 2</vt:lpwstr>
  </property>
</Properties>
</file>